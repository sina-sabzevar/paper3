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طرح اعتبار روی قبض. دوره یک‌ماهه، سقف بین ۱۰۰ تا ۴۰۰ هزار تومان، بر پایه مدل امتیازدهی بازآموزی‌شده در مهر ۱۴۰۵.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تفاوت مانده و اعطای سالانه دوازده برابر است. هدف ۱۵٬۰۰۰ میلیاردی باید روشن شود که کدام‌یک را می‌گوید.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حد درآمدی یک غربال ظرفیت است، نه ریسک. پایین‌آوردنش حجم را زیاد می‌کند بدون اینکه نرخ زیان را بالا ببرد.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ریسک هر مشترک با ریسک پرتفو یکی نیست. ستون سقف اعتبار جایی است که این تعیین می‌شود.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تیزترین اثر اندازه‌گیری‌شده در کل پروژه است و دقیقاً روی نقطه «وام برابر قبض» می‌افتد.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ریسک این محصول در سمت زیان نیست، در سمت حجم است.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دو مورد تصمیم را عوض می‌کنند، نه حساب‌وکتاب را.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327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6857F"/>
                </a:solidFill>
              </a:rPr>
              <a:t>اعتبار روی قبض · ۱۴۰۵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5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5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783080"/>
            <a:ext cx="11027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اعتبار روی قبض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834640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C3C2B7"/>
                </a:solidFill>
              </a:rPr>
              <a:t>وام‌دادن به مشترک روی قبض ماه بعدش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C3C2B7"/>
                </a:solidFill>
              </a:rPr>
              <a:t>مشترک روی قبض تلفن همراهش اعتبار می‌گیرد و در قبض ماه بعد بازپرداخت می‌کند. هر مشترک امتیازدهی می‌شود، سقف اعتبارش متناسب با امتیازش تعیین می‌شود، و پرریسک‌ترین‌ها رد می‌شوند.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8920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دوره بازپرداخت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1480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یک ماه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242816" y="48920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سقف اعتبار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242816" y="51480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۱۰۰ تا ۴۰۰ هزار تومان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18704" y="489204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مشترکین تأییدشده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918704" y="514807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۸٬۸۰۱٬۷۷۲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0B0B"/>
                </a:solidFill>
              </a:rPr>
              <a:t>اعداد کلیدی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91640"/>
            <a:ext cx="2578608" cy="2148840"/>
          </a:xfrm>
          <a:prstGeom prst="roundRect">
            <a:avLst>
              <a:gd name="adj" fmla="val 2979"/>
            </a:avLst>
          </a:prstGeom>
          <a:solidFill>
            <a:srgbClr val="F6F6F3"/>
          </a:solidFill>
          <a:ln w="9525">
            <a:solidFill>
              <a:srgbClr val="DEDED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68096" y="18470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مشترکین تأییدشده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68096" y="2359152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2A78D6"/>
                </a:solidFill>
              </a:rPr>
              <a:t>۸٬۸۰۱٬۷۷۲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303580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۹۴ درصد از کل امتیازدهی‌شده‌ها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578608" cy="2148840"/>
          </a:xfrm>
          <a:prstGeom prst="roundRect">
            <a:avLst>
              <a:gd name="adj" fmla="val 2979"/>
            </a:avLst>
          </a:prstGeom>
          <a:solidFill>
            <a:srgbClr val="F6F6F3"/>
          </a:solidFill>
          <a:ln w="9525">
            <a:solidFill>
              <a:srgbClr val="DEDED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84448" y="18470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میانگین سقف اعتبار (تومان)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359152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2A78D6"/>
                </a:solidFill>
              </a:rPr>
              <a:t>۳۰۲٬۳۰۰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303580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بر اساس امتیاز خود مشترک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9632" y="1691640"/>
            <a:ext cx="2578608" cy="2148840"/>
          </a:xfrm>
          <a:prstGeom prst="roundRect">
            <a:avLst>
              <a:gd name="adj" fmla="val 2979"/>
            </a:avLst>
          </a:prstGeom>
          <a:solidFill>
            <a:srgbClr val="F6F6F3"/>
          </a:solidFill>
          <a:ln w="9525">
            <a:solidFill>
              <a:srgbClr val="DEDED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8470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اعطایی در یک سال (میلیارد تومان)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59152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0CA30C"/>
                </a:solidFill>
              </a:rPr>
              <a:t>۳۱٬۹۲۹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03580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۲۱۳ درصد از هدف ۱۵٬۰۰۰ میلیاردی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15984" y="1691640"/>
            <a:ext cx="2578608" cy="2148840"/>
          </a:xfrm>
          <a:prstGeom prst="roundRect">
            <a:avLst>
              <a:gd name="adj" fmla="val 2979"/>
            </a:avLst>
          </a:prstGeom>
          <a:solidFill>
            <a:srgbClr val="F6F6F3"/>
          </a:solidFill>
          <a:ln w="9525">
            <a:solidFill>
              <a:srgbClr val="DEDEDA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217152" y="1847088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زیان مورد انتظار (میلیارد تومان)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2359152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D03B3B"/>
                </a:solidFill>
              </a:rPr>
              <a:t>۲۸٫۷ تا ۴۴٫۷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17152" y="3035808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6857F"/>
                </a:solidFill>
              </a:rPr>
              <a:t>در سال، با فرض هیچ وصولی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1605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4E4D4A"/>
                </a:solidFill>
              </a:rPr>
              <a:t>در هر لحظه فقط </a:t>
            </a:r>
            <a:pPr algn="r" indent="0" marL="0">
              <a:buNone/>
            </a:pPr>
            <a:r>
              <a:rPr lang="en-US" sz="1500" b="1" dirty="0">
                <a:solidFill>
                  <a:srgbClr val="0B0B0B"/>
                </a:solidFill>
              </a:rPr>
              <a:t>۲٬۶۶۰٫۸ میلیارد تومان</a:t>
            </a:r>
            <a:pPr algn="r" indent="0" marL="0">
              <a:buNone/>
            </a:pPr>
            <a:r>
              <a:rPr lang="en-US" sz="1500" dirty="0">
                <a:solidFill>
                  <a:srgbClr val="4E4D4A"/>
                </a:solidFill>
              </a:rPr>
              <a:t> نزد مشترکین است؛ همان پول دوازده بار در سال برمی‌گردد و دوباره اعطا می‌شود.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5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0B0B"/>
                </a:solidFill>
              </a:rPr>
              <a:t>چه کسانی واجد شرایط‌اند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4D4A"/>
                </a:solidFill>
              </a:rPr>
              <a:t>چهار بررسی روی سابقه شش ماه گذشته، و بعد امتیاز مدل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16752" y="1627632"/>
            <a:ext cx="5577840" cy="713232"/>
          </a:xfrm>
          <a:prstGeom prst="roundRect">
            <a:avLst>
              <a:gd name="adj" fmla="val 6410"/>
            </a:avLst>
          </a:prstGeom>
          <a:solidFill>
            <a:srgbClr val="86857F">
              <a:alpha val="30000"/>
            </a:srgbClr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6824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0B0B"/>
                </a:solidFill>
              </a:rPr>
              <a:t>همه مشترکین دائمی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99339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نقطه شروع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98464" y="1792224"/>
            <a:ext cx="5413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۴۱٬۲۷۰٬۰۹۲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0231156" y="2496312"/>
            <a:ext cx="1363436" cy="713232"/>
          </a:xfrm>
          <a:prstGeom prst="roundRect">
            <a:avLst>
              <a:gd name="adj" fmla="val 6410"/>
            </a:avLst>
          </a:prstGeom>
          <a:solidFill>
            <a:srgbClr val="2A78D6">
              <a:alpha val="18000"/>
            </a:srgbClr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55117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0B0B"/>
                </a:solidFill>
              </a:rPr>
              <a:t>قبض کافی دارند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6207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۱۷۰٬۰۰۰ تومان در ۲ ماه از ۶ ماه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212868" y="2660904"/>
            <a:ext cx="11988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۱۰٬۰۸۷٬۹۷۵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319106" y="3364992"/>
            <a:ext cx="1275486" cy="713232"/>
          </a:xfrm>
          <a:prstGeom prst="roundRect">
            <a:avLst>
              <a:gd name="adj" fmla="val 6410"/>
            </a:avLst>
          </a:prstGeom>
          <a:solidFill>
            <a:srgbClr val="2A78D6">
              <a:alpha val="18000"/>
            </a:srgbClr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341985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0B0B"/>
                </a:solidFill>
              </a:rPr>
              <a:t>قطع یک‌طرفه نشده‌اند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73075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در تمام شش ماه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300818" y="3529584"/>
            <a:ext cx="11108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۹٬۴۳۷٬۲۴۰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331610" y="4233672"/>
            <a:ext cx="1262982" cy="713232"/>
          </a:xfrm>
          <a:prstGeom prst="roundRect">
            <a:avLst>
              <a:gd name="adj" fmla="val 6410"/>
            </a:avLst>
          </a:prstGeom>
          <a:solidFill>
            <a:srgbClr val="2A78D6">
              <a:alpha val="18000"/>
            </a:srgbClr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9808" y="428853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0B0B"/>
                </a:solidFill>
              </a:rPr>
              <a:t>قطع دوطرفه نشده‌اند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59943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در تمام شش ماه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313322" y="4398264"/>
            <a:ext cx="109839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۹٬۳۴۴٬۷۲۳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0404993" y="5102352"/>
            <a:ext cx="1189599" cy="713232"/>
          </a:xfrm>
          <a:prstGeom prst="roundRect">
            <a:avLst>
              <a:gd name="adj" fmla="val 6410"/>
            </a:avLst>
          </a:prstGeom>
          <a:solidFill>
            <a:srgbClr val="0CA30C"/>
          </a:solidFill>
          <a:ln w="9525">
            <a:solidFill>
              <a:srgbClr val="0CA30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9808" y="515721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B0B0B"/>
                </a:solidFill>
              </a:rPr>
              <a:t>امتیازشان کافی است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468112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6857F"/>
                </a:solidFill>
              </a:rPr>
              <a:t>مدل پرریسک‌ترین رتبه را رد می‌کند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386705" y="5266944"/>
            <a:ext cx="102500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۸٬۸۰۱٬۷۷۲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870448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6857F"/>
                </a:solidFill>
              </a:rPr>
              <a:t>بررسی اول تقریباً تمام کار را انجام می‌دهد و ۳۱٬۱۸۲٬۱۱۷ مشترک را کنار می‌گذارد. امتیاز مدل فقط ۵۴۲٬۹۵۱ نفر دیگر را حذف می‌کند.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5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0B0B"/>
                </a:solidFill>
              </a:rPr>
              <a:t>سقف اعتبار هر مشترک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4D4A"/>
                </a:solidFill>
              </a:rPr>
              <a:t>رتبه، سقف را تعیین می‌کند. کم‌ریسک‌ترین‌ها بیشترین سقف را می‌گیرند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11027664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737360"/>
                <a:gridCol w="1600200"/>
                <a:gridCol w="1600200"/>
                <a:gridCol w="1371600"/>
                <a:gridCol w="3337560"/>
              </a:tblGrid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سهم از زیان (درصد)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مانده در هر لحظه (میلیارد تومان)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احتمال نکول ۴ ماهه (درصد)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سقف اعتبار (تومان)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مشترکین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رتبه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۲۲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۱۲۱۱٫۸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۰٫۱۴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۴۰۰٬۰۰۰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۳٬۰۲۹٬۳۹۷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 — کم‌ریسک‌ترین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۵۲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۱۲۲۶٫۲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۰٫۳۳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۳۰۰٬۰۰۰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۴٬۰۸۷٬۴۴۸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۱۵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۱۶۲٫۹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۰٫۷۴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۱۵۰٬۰۰۰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۱٬۰۸۵٬۷۸۷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۵۹٫۹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۱٫۳۵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۱۰۰٬۰۰۰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۵۹۹٬۱۴۰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—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۴٫۰۰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رد می‌شود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۵۴۲٬۹۵۱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 — رد می‌شود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۲۶۶۰٫۸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میانگین ۳۰۲٬۳۰۰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۸٬۸۰۱٬۷۷۲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مجموع تأییدشده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502920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0B0B"/>
                </a:solidFill>
              </a:rPr>
              <a:t>رتبه B نیمی از کل زیان را به دوش می‌کشد</a:t>
            </a:r>
            <a:pPr algn="r" indent="0" marL="0">
              <a:buNone/>
            </a:pPr>
            <a:r>
              <a:rPr lang="en-US" sz="1300" dirty="0">
                <a:solidFill>
                  <a:srgbClr val="86857F"/>
                </a:solidFill>
              </a:rPr>
              <a:t>، در حالی که دومین گروه کم‌ریسک است: بزرگ‌ترین گروه است و سقف ۳۰۰٬۰۰۰ تومانی می‌گیرد.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5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0B0B"/>
                </a:solidFill>
              </a:rPr>
              <a:t>یک قاعده که سقف‌ها باید رعایتش کنند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463040"/>
            <a:ext cx="11027664" cy="1234440"/>
          </a:xfrm>
          <a:prstGeom prst="roundRect">
            <a:avLst>
              <a:gd name="adj" fmla="val 5185"/>
            </a:avLst>
          </a:prstGeom>
          <a:solidFill>
            <a:srgbClr val="0CA30C">
              <a:alpha val="10000"/>
            </a:srgbClr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691640"/>
            <a:ext cx="1038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0B0B0B"/>
                </a:solidFill>
              </a:rPr>
              <a:t>هرگز بیشتر از قبض یک ماه مشترک به او وام ندهید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85292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4D4A"/>
                </a:solidFill>
              </a:rPr>
              <a:t>زیر این خط قبض کمتر از دو برابر بالا می‌رود و مشترک با نرخ عادی پرداخت می‌کند. روی این خط یا بالاتر، قبض دو برابر می‌شود و احتمال نکول ۱٫۷ برابر است.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20440"/>
          <a:ext cx="11027664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4754880"/>
              </a:tblGrid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احتمال نکول (برابر نرخ عادی)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قبض چند برابر می‌شود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چه بر سر قبض می‌آید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کمتر از ۱٫۲۵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قبض تقریباً تکان نمی‌خورد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FAB219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۱٫۱۳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۱٫۲۵ تا ۲٫۰۰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بالا می‌رود، زیر دو برابر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۱٫۹۱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۲٫۰۰ و بالاتر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دو برابر یا بیشتر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566928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6857F"/>
                </a:solidFill>
              </a:rPr>
              <a:t>اندازه‌گیری‌شده روی ۴٫۰ میلیون مشترک‑ماه. جدول سقف‌ها این قاعده را از قبل رعایت می‌کند.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5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27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0B0B0B"/>
                </a:solidFill>
              </a:rPr>
              <a:t>هزینه محتمل طرح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87552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4E4D4A"/>
                </a:solidFill>
              </a:rPr>
              <a:t>مرحله به مرحله، تا بشود روی هر قدمش بحث کرد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10544" y="1609344"/>
            <a:ext cx="384048" cy="384048"/>
          </a:xfrm>
          <a:prstGeom prst="ellipse">
            <a:avLst/>
          </a:prstGeom>
          <a:solidFill>
            <a:srgbClr val="2A78D6">
              <a:alpha val="15000"/>
            </a:srgbClr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210544" y="16367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A78D6"/>
                </a:solidFill>
              </a:rPr>
              <a:t>۱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72768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۸٬۸۰۱٬۷۷۲ مشترک، میانگین ۳۰۲٬۳۰۰ تومان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956816"/>
            <a:ext cx="10479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E4D4A"/>
                </a:solidFill>
              </a:rPr>
              <a:t>در هر لحظه ۲۶۶۰٫۸ میلیارد تومان نزد مشترکین، و ۳۱٬۹۲۹ میلیارد تومان در طول یک سال.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210544" y="2523744"/>
            <a:ext cx="384048" cy="384048"/>
          </a:xfrm>
          <a:prstGeom prst="ellipse">
            <a:avLst/>
          </a:prstGeom>
          <a:solidFill>
            <a:srgbClr val="2A78D6">
              <a:alpha val="15000"/>
            </a:srgbClr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10544" y="2551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A78D6"/>
                </a:solidFill>
              </a:rPr>
              <a:t>۲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487168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نرخ نکول یک‌ماهه ۰٫۰۹ تا ۰٫۱۴ درصد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71216"/>
            <a:ext cx="10479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E4D4A"/>
                </a:solidFill>
              </a:rPr>
              <a:t>این بازه یک انتخاب است، نه عدم‌قطعیت: کف بازه یعنی وام فقط به کم‌ریسک‌ترین‌ها.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210544" y="3438144"/>
            <a:ext cx="384048" cy="384048"/>
          </a:xfrm>
          <a:prstGeom prst="ellipse">
            <a:avLst/>
          </a:prstGeom>
          <a:solidFill>
            <a:srgbClr val="2A78D6">
              <a:alpha val="15000"/>
            </a:srgbClr>
          </a:solidFill>
          <a:ln w="9525">
            <a:solidFill>
              <a:srgbClr val="2A78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210544" y="34655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2A78D6"/>
                </a:solidFill>
              </a:rPr>
              <a:t>۳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401568"/>
            <a:ext cx="10479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B0B0B"/>
                </a:solidFill>
              </a:rPr>
              <a:t>زیان سالانه ۲۸٫۷ تا ۴۴٫۷ میلیارد تومان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785616"/>
            <a:ext cx="10479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4E4D4A"/>
                </a:solidFill>
              </a:rPr>
              <a:t>با فرض هیچ وصولی از مشترک نکول‌کرده، که عمداً بدبینانه است.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370832"/>
          <a:ext cx="11027664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نسبت به اعطایی (درصد)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زیان سالانه (میلیارد تومان)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ضریب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6857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سناریو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۰٫۱۱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۳۶٫۷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۱٫۰۰×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مطابق مدل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۰٫۱۳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۴۲٫۵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۱٫۱۶×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با رانش جمعیت فعلی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۰٫۱۹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۶۱٫۷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۱٫۶۸×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وام‌دهی در آستانه نوروز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۰٫۲۳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D03B3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۷۳٫۴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۲٫۰۰×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4E4D4A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دو برابر نرخ مدل</a:t>
                      </a:r>
                      <a:endParaRPr lang="en-US" sz="12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6857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58368"/>
            <a:ext cx="11027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آنچه هنوز باز است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1783080"/>
            <a:ext cx="11027664" cy="1572768"/>
          </a:xfrm>
          <a:prstGeom prst="roundRect">
            <a:avLst>
              <a:gd name="adj" fmla="val 348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6968" y="1984248"/>
            <a:ext cx="1038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هیچ مشترکی در این داده‌ها اعتبار نگرفته است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2441448"/>
            <a:ext cx="1038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3C2B7"/>
                </a:solidFill>
              </a:rPr>
              <a:t>امتیاز مدل رفتار مشترک را وقتی وام نگرفته توصیف می‌کند. تنها راه پاسخ، یک اجرای آزمایشی محدود است؛ با دوره یک‌ماهه جواب ظرف چند هفته می‌رسد.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3703320"/>
            <a:ext cx="11027664" cy="1572768"/>
          </a:xfrm>
          <a:prstGeom prst="roundRect">
            <a:avLst>
              <a:gd name="adj" fmla="val 348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3904488"/>
            <a:ext cx="1038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هدف ۱۵٬۰۰۰ میلیاردی، اعطای سالانه است یا مانده؟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4361688"/>
            <a:ext cx="1038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350" dirty="0">
                <a:solidFill>
                  <a:srgbClr val="C3C2B7"/>
                </a:solidFill>
              </a:rPr>
              <a:t>با گردش ماهانه این دو عدد دوازده برابر فرق دارند. اعطای سالانه: ۳۱٬۹۲۹ میلیارد، بیش از دو برابر هدف. مانده در هر لحظه: ۲۶۶۰٫۸ میلیارد، با فاصله زیاد تا هدف.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598932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6857F"/>
                </a:solidFill>
              </a:rPr>
              <a:t>تعداد مشترکین از سوابق صورتحساب ۱۴۰۵۰۱ تا ۱۴۰۵۰۶. رتبه‌ها، سقف‌ها و احتمال نکول از مدل امتیازدهی ۱۴۰۵/۰۷/۱۴. همه مبالغ به تومان.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hom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hom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اعتبار روی قبض</dc:title>
  <dc:subject>PptxGenJS Presentation</dc:subject>
  <dc:creator>Sina Sabzevar</dc:creator>
  <cp:lastModifiedBy>Sina Sabzevar</cp:lastModifiedBy>
  <cp:revision>1</cp:revision>
  <dcterms:created xsi:type="dcterms:W3CDTF">2026-10-11T09:30:32Z</dcterms:created>
  <dcterms:modified xsi:type="dcterms:W3CDTF">2026-10-11T09:30:32Z</dcterms:modified>
</cp:coreProperties>
</file>