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A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 rot="10800000">
            <a:off x="11861800" y="101600"/>
            <a:ext cx="228600" cy="330200"/>
          </a:xfrm>
          <a:prstGeom prst="chevron">
            <a:avLst/>
          </a:prstGeom>
          <a:solidFill>
            <a:srgbClr val="0D67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46400" y="177800"/>
            <a:ext cx="88900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1900" b="1" lang="fa-IR">
                <a:solidFill>
                  <a:srgbClr val="0F2F66"/>
                </a:solidFill>
                <a:latin typeface="IRANSansXFaNum"/>
                <a:cs typeface="IRANSansXFaNum"/>
                <a:ea typeface="IRANSansXFaNum"/>
              </a:rPr>
              <a:t>اعطای اعتبار روی قبض مشترکین دائمی: از امتیازدهی تا سه گزینه اعطا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46400" y="482600"/>
            <a:ext cx="889000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900" b="0" lang="fa-IR">
                <a:solidFill>
                  <a:srgbClr val="6E88B4"/>
                </a:solidFill>
                <a:latin typeface="IRANSansXFaNum"/>
                <a:cs typeface="IRANSansXFaNum"/>
                <a:ea typeface="IRANSansXFaNum"/>
              </a:rPr>
              <a:t>مدل اعتبارسنجی اختصاصی   |   اعتبار یک‌ماهه روی قبض   |   افق مهر تا اسفند ۱۴۰۵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11067" y="736600"/>
            <a:ext cx="3725333" cy="1498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CFE1F7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38067" y="863600"/>
            <a:ext cx="330200" cy="330200"/>
          </a:xfrm>
          <a:prstGeom prst="ellipse">
            <a:avLst/>
          </a:prstGeom>
          <a:solidFill>
            <a:srgbClr val="12356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38067" y="863600"/>
            <a:ext cx="330200" cy="330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1100" b="1" lang="fa-IR">
                <a:solidFill>
                  <a:srgbClr val="FFFFFF"/>
                </a:solidFill>
                <a:latin typeface="IRANSansXFaNum"/>
                <a:cs typeface="IRANSansXFaNum"/>
                <a:ea typeface="IRANSansXFaNum"/>
              </a:rPr>
              <a:t>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4467" y="889000"/>
            <a:ext cx="30395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1150" b="1" lang="fa-IR">
                <a:solidFill>
                  <a:srgbClr val="0F2F66"/>
                </a:solidFill>
                <a:latin typeface="IRANSansXFaNum"/>
                <a:cs typeface="IRANSansXFaNum"/>
                <a:ea typeface="IRANSansXFaNum"/>
              </a:rPr>
              <a:t>غربال و واجد شرایط</a:t>
            </a:r>
          </a:p>
        </p:txBody>
      </p:sp>
      <p:sp>
        <p:nvSpPr>
          <p:cNvPr id="10" name="Oval 9"/>
          <p:cNvSpPr/>
          <p:nvPr/>
        </p:nvSpPr>
        <p:spPr>
          <a:xfrm>
            <a:off x="8263467" y="1320800"/>
            <a:ext cx="457200" cy="457200"/>
          </a:xfrm>
          <a:prstGeom prst="ellipse">
            <a:avLst/>
          </a:prstGeom>
          <a:solidFill>
            <a:srgbClr val="E7F0FC"/>
          </a:solidFill>
          <a:ln w="9525">
            <a:solidFill>
              <a:srgbClr val="CFE1F7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3467" y="1320800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1500" b="0" lang="fa-IR">
                <a:solidFill>
                  <a:srgbClr val="0D67C1"/>
                </a:solidFill>
                <a:latin typeface="Segoe UI Emoji"/>
                <a:cs typeface="Segoe UI Emoji"/>
                <a:ea typeface="Segoe UI Emoji"/>
              </a:rPr>
              <a:t>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2267" y="1143000"/>
            <a:ext cx="2861733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rtl="1" algn="r">
              <a:lnSpc>
                <a:spcPct val="145000"/>
              </a:lnSpc>
            </a:pPr>
            <a:r>
              <a:rPr sz="800" b="0" lang="fa-IR">
                <a:solidFill>
                  <a:srgbClr val="2B4C7E"/>
                </a:solidFill>
                <a:latin typeface="IRANSansXFaNum"/>
                <a:cs typeface="IRANSansXFaNum"/>
                <a:ea typeface="IRANSansXFaNum"/>
              </a:rPr>
              <a:t>از ۲۶٫۵ میلیون مشترک دائمی، ۹٫۳ میلیون پس از غربال درآمد و سابقه قطعی وارد امتیازدهی می‌شوند.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868660" y="1905000"/>
            <a:ext cx="840740" cy="2159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68660" y="1905000"/>
            <a:ext cx="840740" cy="215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75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درآمد ماهانه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68560" y="1905000"/>
            <a:ext cx="723900" cy="2159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68560" y="1905000"/>
            <a:ext cx="723900" cy="215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75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سابقه قطعی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43720" y="1905000"/>
            <a:ext cx="548640" cy="2159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43720" y="1905000"/>
            <a:ext cx="548640" cy="215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75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قدمت خط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33333" y="736600"/>
            <a:ext cx="3725333" cy="1498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CFE1F7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60333" y="863600"/>
            <a:ext cx="330200" cy="330200"/>
          </a:xfrm>
          <a:prstGeom prst="ellipse">
            <a:avLst/>
          </a:prstGeom>
          <a:solidFill>
            <a:srgbClr val="12356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60333" y="863600"/>
            <a:ext cx="330200" cy="330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1100" b="1" lang="fa-IR">
                <a:solidFill>
                  <a:srgbClr val="FFFFFF"/>
                </a:solidFill>
                <a:latin typeface="IRANSansXFaNum"/>
                <a:cs typeface="IRANSansXFaNum"/>
                <a:ea typeface="IRANSansXFaNum"/>
              </a:rPr>
              <a:t>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6733" y="889000"/>
            <a:ext cx="30395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1150" b="1" lang="fa-IR">
                <a:solidFill>
                  <a:srgbClr val="0F2F66"/>
                </a:solidFill>
                <a:latin typeface="IRANSansXFaNum"/>
                <a:cs typeface="IRANSansXFaNum"/>
                <a:ea typeface="IRANSansXFaNum"/>
              </a:rPr>
              <a:t>مدل‌سازی رفتار اعتباری</a:t>
            </a:r>
          </a:p>
        </p:txBody>
      </p:sp>
      <p:sp>
        <p:nvSpPr>
          <p:cNvPr id="23" name="Oval 22"/>
          <p:cNvSpPr/>
          <p:nvPr/>
        </p:nvSpPr>
        <p:spPr>
          <a:xfrm>
            <a:off x="4385733" y="1320800"/>
            <a:ext cx="457200" cy="457200"/>
          </a:xfrm>
          <a:prstGeom prst="ellipse">
            <a:avLst/>
          </a:prstGeom>
          <a:solidFill>
            <a:srgbClr val="E7F0FC"/>
          </a:solidFill>
          <a:ln w="9525">
            <a:solidFill>
              <a:srgbClr val="CFE1F7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5733" y="1320800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1500" b="0" lang="fa-IR">
                <a:solidFill>
                  <a:srgbClr val="0D67C1"/>
                </a:solidFill>
                <a:latin typeface="Segoe UI Emoji"/>
                <a:cs typeface="Segoe UI Emoji"/>
                <a:ea typeface="Segoe UI Emoji"/>
              </a:rPr>
              <a:t>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44533" y="1143000"/>
            <a:ext cx="2861733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rtl="1" algn="r">
              <a:lnSpc>
                <a:spcPct val="145000"/>
              </a:lnSpc>
            </a:pPr>
            <a:r>
              <a:rPr sz="800" b="0" lang="fa-IR">
                <a:solidFill>
                  <a:srgbClr val="2B4C7E"/>
                </a:solidFill>
                <a:latin typeface="IRANSansXFaNum"/>
                <a:cs typeface="IRANSansXFaNum"/>
                <a:ea typeface="IRANSansXFaNum"/>
              </a:rPr>
              <a:t>آموزش روی رفتار حساب خود مشترک با ۳۹ ویژگی در ۵ خانواده. دقت مدل روی دادهٔ کنارگذاشته ۰٫۸۳ است.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41447" y="1905000"/>
            <a:ext cx="490220" cy="2159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41447" y="1905000"/>
            <a:ext cx="490220" cy="215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75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HistGB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24507" y="1905000"/>
            <a:ext cx="840740" cy="2159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4507" y="1905000"/>
            <a:ext cx="840740" cy="215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75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WOE Logistic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41247" y="1905000"/>
            <a:ext cx="607060" cy="2159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1247" y="1905000"/>
            <a:ext cx="607060" cy="215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75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Isotonic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5600" y="736600"/>
            <a:ext cx="3725333" cy="1498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CFE1F7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82600" y="863600"/>
            <a:ext cx="330200" cy="330200"/>
          </a:xfrm>
          <a:prstGeom prst="ellipse">
            <a:avLst/>
          </a:prstGeom>
          <a:solidFill>
            <a:srgbClr val="12356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2600" y="863600"/>
            <a:ext cx="330200" cy="330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1100" b="1" lang="fa-IR">
                <a:solidFill>
                  <a:srgbClr val="FFFFFF"/>
                </a:solidFill>
                <a:latin typeface="IRANSansXFaNum"/>
                <a:cs typeface="IRANSansXFaNum"/>
                <a:ea typeface="IRANSansXFaNum"/>
              </a:rPr>
              <a:t>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9000" y="889000"/>
            <a:ext cx="30395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1150" b="1" lang="fa-IR">
                <a:solidFill>
                  <a:srgbClr val="0F2F66"/>
                </a:solidFill>
                <a:latin typeface="IRANSansXFaNum"/>
                <a:cs typeface="IRANSansXFaNum"/>
                <a:ea typeface="IRANSansXFaNum"/>
              </a:rPr>
              <a:t>تعیین سقف و اعطا</a:t>
            </a:r>
          </a:p>
        </p:txBody>
      </p:sp>
      <p:sp>
        <p:nvSpPr>
          <p:cNvPr id="36" name="Oval 35"/>
          <p:cNvSpPr/>
          <p:nvPr/>
        </p:nvSpPr>
        <p:spPr>
          <a:xfrm>
            <a:off x="508000" y="1320800"/>
            <a:ext cx="457200" cy="457200"/>
          </a:xfrm>
          <a:prstGeom prst="ellipse">
            <a:avLst/>
          </a:prstGeom>
          <a:solidFill>
            <a:srgbClr val="E7F0FC"/>
          </a:solidFill>
          <a:ln w="9525">
            <a:solidFill>
              <a:srgbClr val="CFE1F7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8000" y="1320800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1500" b="0" lang="fa-IR">
                <a:solidFill>
                  <a:srgbClr val="0D67C1"/>
                </a:solidFill>
                <a:latin typeface="Segoe UI Emoji"/>
                <a:cs typeface="Segoe UI Emoji"/>
                <a:ea typeface="Segoe UI Emoji"/>
              </a:rPr>
              <a:t>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6800" y="1143000"/>
            <a:ext cx="2861733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rtl="1" algn="r">
              <a:lnSpc>
                <a:spcPct val="145000"/>
              </a:lnSpc>
            </a:pPr>
            <a:r>
              <a:rPr sz="800" b="0" lang="fa-IR">
                <a:solidFill>
                  <a:srgbClr val="2B4C7E"/>
                </a:solidFill>
                <a:latin typeface="IRANSansXFaNum"/>
                <a:cs typeface="IRANSansXFaNum"/>
                <a:ea typeface="IRANSansXFaNum"/>
              </a:rPr>
              <a:t>رتبه‌بندی ۱۰ دهکی و قاعدهٔ سقف: وام هر نفر کمتر از قبض یک ماهش بماند، وگرنه احتمال نکول نزدیک دو برابر می‌شود.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30033" y="1905000"/>
            <a:ext cx="723900" cy="2159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30033" y="1905000"/>
            <a:ext cx="723900" cy="215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75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۱۰۰ تا ۳۰۰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29933" y="1905000"/>
            <a:ext cx="723900" cy="2159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29933" y="1905000"/>
            <a:ext cx="723900" cy="215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75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۳۰۰ تا ۵۰۰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20893" y="1905000"/>
            <a:ext cx="1132840" cy="2159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20893" y="1905000"/>
            <a:ext cx="1132840" cy="215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75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۵۰۰ تا ۱٬۰۰۰ هزار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11500" y="2362200"/>
            <a:ext cx="5969000" cy="482600"/>
          </a:xfrm>
          <a:prstGeom prst="roundRect">
            <a:avLst>
              <a:gd name="adj" fmla="val 30000"/>
            </a:avLst>
          </a:prstGeom>
          <a:solidFill>
            <a:srgbClr val="123A74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21700" y="2362200"/>
            <a:ext cx="431800" cy="482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1500" b="0" lang="fa-IR">
                <a:solidFill>
                  <a:srgbClr val="FFFFFF"/>
                </a:solidFill>
                <a:latin typeface="Segoe UI Emoji"/>
                <a:cs typeface="Segoe UI Emoji"/>
                <a:ea typeface="Segoe UI Emoji"/>
              </a:rPr>
              <a:t>🏦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420100" y="2463800"/>
            <a:ext cx="0" cy="279400"/>
          </a:xfrm>
          <a:prstGeom prst="line">
            <a:avLst/>
          </a:prstGeom>
          <a:ln w="12700">
            <a:solidFill>
              <a:srgbClr val="3E63A0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3263900" y="2425700"/>
            <a:ext cx="50546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1300" b="1" lang="fa-IR">
                <a:solidFill>
                  <a:srgbClr val="FFFFFF"/>
                </a:solidFill>
                <a:latin typeface="IRANSansXFaNum"/>
                <a:cs typeface="IRANSansXFaNum"/>
                <a:ea typeface="IRANSansXFaNum"/>
              </a:rPr>
              <a:t>۸٬۸۰۱٬۷۷۲  مشترک تأییدشده برای اعطای اعتبار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63900" y="2628900"/>
            <a:ext cx="5054600" cy="1651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800" b="0" lang="fa-IR">
                <a:solidFill>
                  <a:srgbClr val="B9CFEE"/>
                </a:solidFill>
                <a:latin typeface="IRANSansXFaNum"/>
                <a:cs typeface="IRANSansXFaNum"/>
                <a:ea typeface="IRANSansXFaNum"/>
              </a:rPr>
              <a:t>۶۱۰ تا ۷۳۵ میلیارد تومان اعطایی تا پایان سال، بسته به گزینه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600" y="2946400"/>
            <a:ext cx="11480800" cy="317500"/>
          </a:xfrm>
          <a:prstGeom prst="roundRect">
            <a:avLst>
              <a:gd name="adj" fmla="val 34000"/>
            </a:avLst>
          </a:prstGeom>
          <a:solidFill>
            <a:srgbClr val="12356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439400" y="3009900"/>
            <a:ext cx="0" cy="190500"/>
          </a:xfrm>
          <a:prstGeom prst="line">
            <a:avLst/>
          </a:prstGeom>
          <a:ln w="9525">
            <a:solidFill>
              <a:srgbClr val="456AA5"/>
            </a:solidFill>
          </a:ln>
          <a:effectLst/>
        </p:spPr>
      </p:cxnSp>
      <p:sp>
        <p:nvSpPr>
          <p:cNvPr id="52" name="TextBox 51"/>
          <p:cNvSpPr txBox="1"/>
          <p:nvPr/>
        </p:nvSpPr>
        <p:spPr>
          <a:xfrm>
            <a:off x="7137400" y="2946400"/>
            <a:ext cx="3302000" cy="317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850" b="0" lang="fa-IR">
                <a:solidFill>
                  <a:srgbClr val="FFFFFF"/>
                </a:solidFill>
                <a:latin typeface="Segoe UI Emoji"/>
                <a:cs typeface="Segoe UI Emoji"/>
                <a:ea typeface="Segoe UI Emoji"/>
              </a:rPr>
              <a:t>👥  </a:t>
            </a:r>
            <a:r>
              <a:rPr sz="850" b="1" lang="fa-IR">
                <a:solidFill>
                  <a:srgbClr val="FFFFFF"/>
                </a:solidFill>
                <a:latin typeface="IRANSansXFaNum"/>
                <a:cs typeface="IRANSansXFaNum"/>
                <a:ea typeface="IRANSansXFaNum"/>
              </a:rPr>
              <a:t>مشترکین تأییدشده به تفکیک باند سقف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137400" y="3009900"/>
            <a:ext cx="0" cy="190500"/>
          </a:xfrm>
          <a:prstGeom prst="line">
            <a:avLst/>
          </a:prstGeom>
          <a:ln w="9525">
            <a:solidFill>
              <a:srgbClr val="456AA5"/>
            </a:solidFill>
          </a:ln>
          <a:effectLst/>
        </p:spPr>
      </p:cxnSp>
      <p:sp>
        <p:nvSpPr>
          <p:cNvPr id="54" name="TextBox 53"/>
          <p:cNvSpPr txBox="1"/>
          <p:nvPr/>
        </p:nvSpPr>
        <p:spPr>
          <a:xfrm>
            <a:off x="4343400" y="2946400"/>
            <a:ext cx="2794000" cy="317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850" b="0" lang="fa-IR">
                <a:solidFill>
                  <a:srgbClr val="FFFFFF"/>
                </a:solidFill>
                <a:latin typeface="Segoe UI Emoji"/>
                <a:cs typeface="Segoe UI Emoji"/>
                <a:ea typeface="Segoe UI Emoji"/>
              </a:rPr>
              <a:t>💳  </a:t>
            </a:r>
            <a:r>
              <a:rPr sz="850" b="1" lang="fa-IR">
                <a:solidFill>
                  <a:srgbClr val="FFFFFF"/>
                </a:solidFill>
                <a:latin typeface="IRANSansXFaNum"/>
                <a:cs typeface="IRANSansXFaNum"/>
                <a:ea typeface="IRANSansXFaNum"/>
              </a:rPr>
              <a:t>در هر بار اعطا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343400" y="3009900"/>
            <a:ext cx="0" cy="190500"/>
          </a:xfrm>
          <a:prstGeom prst="line">
            <a:avLst/>
          </a:prstGeom>
          <a:ln w="9525">
            <a:solidFill>
              <a:srgbClr val="456AA5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355600" y="2946400"/>
            <a:ext cx="3987800" cy="317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850" b="0" lang="fa-IR">
                <a:solidFill>
                  <a:srgbClr val="FFFFFF"/>
                </a:solidFill>
                <a:latin typeface="Segoe UI Emoji"/>
                <a:cs typeface="Segoe UI Emoji"/>
                <a:ea typeface="Segoe UI Emoji"/>
              </a:rPr>
              <a:t>📅  </a:t>
            </a:r>
            <a:r>
              <a:rPr sz="850" b="1" lang="fa-IR">
                <a:solidFill>
                  <a:srgbClr val="FFFFFF"/>
                </a:solidFill>
                <a:latin typeface="IRANSansXFaNum"/>
                <a:cs typeface="IRANSansXFaNum"/>
                <a:ea typeface="IRANSansXFaNum"/>
              </a:rPr>
              <a:t>تا پایان سال — مهر تا اسفند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55600" y="3302000"/>
          <a:ext cx="11480800" cy="2286000"/>
        </p:xfrm>
        <a:graphic>
          <a:graphicData uri="http://schemas.openxmlformats.org/drawingml/2006/table">
            <a:tbl>
              <a:tblPr/>
              <a:tblGrid>
                <a:gridCol w="838200"/>
                <a:gridCol w="1041400"/>
                <a:gridCol w="1041400"/>
                <a:gridCol w="1066800"/>
                <a:gridCol w="965200"/>
                <a:gridCol w="1041400"/>
                <a:gridCol w="787400"/>
                <a:gridCol w="1168400"/>
                <a:gridCol w="1041400"/>
                <a:gridCol w="1092200"/>
                <a:gridCol w="1397000"/>
              </a:tblGrid>
              <a:tr h="609600"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FFFFFF"/>
                          </a:solidFill>
                          <a:latin typeface="Segoe UI Emoji"/>
                          <a:cs typeface="Segoe UI Emoji"/>
                          <a:ea typeface="Segoe UI Emoji"/>
                        </a:rPr>
                        <a:t>🧮</a:t>
                      </a:r>
                    </a:p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زیان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میلیارد</a:t>
                      </a:r>
                    </a:p>
                  </a:txBody>
                  <a:tcPr marT="38100" marR="38100" marB="381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FFFFFF"/>
                          </a:solidFill>
                          <a:latin typeface="Segoe UI Emoji"/>
                          <a:cs typeface="Segoe UI Emoji"/>
                          <a:ea typeface="Segoe UI Emoji"/>
                        </a:rPr>
                        <a:t>📉</a:t>
                      </a:r>
                    </a:p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نرخ نکول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وزن‌دار بر مبلغ</a:t>
                      </a:r>
                    </a:p>
                  </a:txBody>
                  <a:tcPr marT="38100" marR="38100" marB="381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FFFFFF"/>
                          </a:solidFill>
                          <a:latin typeface="Segoe UI Emoji"/>
                          <a:cs typeface="Segoe UI Emoji"/>
                          <a:ea typeface="Segoe UI Emoji"/>
                        </a:rPr>
                        <a:t>💰</a:t>
                      </a:r>
                    </a:p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اعطایی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میلیارد تومان</a:t>
                      </a:r>
                    </a:p>
                  </a:txBody>
                  <a:tcPr marT="38100" marR="38100" marB="381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FFFFFF"/>
                          </a:solidFill>
                          <a:latin typeface="Segoe UI Emoji"/>
                          <a:cs typeface="Segoe UI Emoji"/>
                          <a:ea typeface="Segoe UI Emoji"/>
                        </a:rPr>
                        <a:t>🧾</a:t>
                      </a:r>
                    </a:p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تعداد کل وام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فقره</a:t>
                      </a:r>
                    </a:p>
                  </a:txBody>
                  <a:tcPr marT="38100" marR="38100" marB="381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FFFFFF"/>
                          </a:solidFill>
                          <a:latin typeface="Segoe UI Emoji"/>
                          <a:cs typeface="Segoe UI Emoji"/>
                          <a:ea typeface="Segoe UI Emoji"/>
                        </a:rPr>
                        <a:t>🪙</a:t>
                      </a:r>
                    </a:p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میانگین وام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تومان</a:t>
                      </a:r>
                    </a:p>
                  </a:txBody>
                  <a:tcPr marT="38100" marR="38100" marB="381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FFFFFF"/>
                          </a:solidFill>
                          <a:latin typeface="Segoe UI Emoji"/>
                          <a:cs typeface="Segoe UI Emoji"/>
                          <a:ea typeface="Segoe UI Emoji"/>
                        </a:rPr>
                        <a:t>👥</a:t>
                      </a:r>
                    </a:p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وام‌گیرنده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نفر</a:t>
                      </a:r>
                    </a:p>
                  </a:txBody>
                  <a:tcPr marT="38100" marR="38100" marB="381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FFFFFF"/>
                          </a:solidFill>
                          <a:latin typeface="Segoe UI Emoji"/>
                          <a:cs typeface="Segoe UI Emoji"/>
                          <a:ea typeface="Segoe UI Emoji"/>
                        </a:rPr>
                        <a:t>📈</a:t>
                      </a:r>
                    </a:p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ضریب نفوذ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از تأییدشده‌ها</a:t>
                      </a:r>
                    </a:p>
                  </a:txBody>
                  <a:tcPr marT="38100" marR="38100" marB="381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FFFFFF"/>
                          </a:solidFill>
                          <a:latin typeface="Segoe UI Emoji"/>
                          <a:cs typeface="Segoe UI Emoji"/>
                          <a:ea typeface="Segoe UI Emoji"/>
                        </a:rPr>
                        <a:t>👤</a:t>
                      </a:r>
                    </a:p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۵۰۰ هزار تا ۱ میلیون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نفر</a:t>
                      </a:r>
                    </a:p>
                  </a:txBody>
                  <a:tcPr marT="38100" marR="38100" marB="381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FFFFFF"/>
                          </a:solidFill>
                          <a:latin typeface="Segoe UI Emoji"/>
                          <a:cs typeface="Segoe UI Emoji"/>
                          <a:ea typeface="Segoe UI Emoji"/>
                        </a:rPr>
                        <a:t>👤</a:t>
                      </a:r>
                    </a:p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۳۰۰ تا ۵۰۰ هزار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نفر</a:t>
                      </a:r>
                    </a:p>
                  </a:txBody>
                  <a:tcPr marT="38100" marR="38100" marB="381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FFFFFF"/>
                          </a:solidFill>
                          <a:latin typeface="Segoe UI Emoji"/>
                          <a:cs typeface="Segoe UI Emoji"/>
                          <a:ea typeface="Segoe UI Emoji"/>
                        </a:rPr>
                        <a:t>👤</a:t>
                      </a:r>
                    </a:p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۱۰۰ تا ۳۰۰ هزار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نفر</a:t>
                      </a:r>
                    </a:p>
                  </a:txBody>
                  <a:tcPr marT="38100" marR="38100" marB="381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FFFFFF"/>
                          </a:solidFill>
                          <a:latin typeface="Segoe UI Emoji"/>
                          <a:cs typeface="Segoe UI Emoji"/>
                          <a:ea typeface="Segoe UI Emoji"/>
                        </a:rPr>
                        <a:t>🎯</a:t>
                      </a:r>
                    </a:p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گزینه</a:t>
                      </a:r>
                    </a:p>
                  </a:txBody>
                  <a:tcPr marT="38100" marR="38100" marB="381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</a:tr>
              <a:tr h="5588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۰٫۷۱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۰٫۱۱۷ درصد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1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۶۱۰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DDECFC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۲٬۵۶۵٬۷۷۴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۲۳۷٬۸۷۷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۱٬۲۸۲٬۸۸۷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۱۴٫۶ درصد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—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۱٬۸۶۸٬۹۴۴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۶٬۹۳۲٬۸۲۸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r"/>
                      <a:r>
                        <a:rPr sz="11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کم‌ریسک</a:t>
                      </a:r>
                    </a:p>
                    <a:p>
                      <a:pPr rtl="1" algn="r"/>
                      <a:r>
                        <a:rPr sz="72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سقف‌ها پایین، تمرکز روی باند اول</a:t>
                      </a:r>
                    </a:p>
                  </a:txBody>
                  <a:tcPr marT="38100" marR="127000" marB="38100" marL="76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12356E"/>
                    </a:solidFill>
                  </a:tcPr>
                </a:tc>
              </a:tr>
              <a:tr h="5588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۰٫۷۶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۰٫۱۱۳ درصد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1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۶۶۵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DDECFC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۲٬۳۴۱٬۵۰۱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۲۸۴٬۲۰۸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۱٬۲۱۷٬۴۷۴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۱۳٫۸ درصد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۹۳۴٬۴۷۲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۲٬۸۰۳٬۴۱۷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۵٬۰۶۳٬۸۸۳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r"/>
                      <a:r>
                        <a:rPr sz="11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محتاطانه</a:t>
                      </a:r>
                    </a:p>
                    <a:p>
                      <a:pPr rtl="1" algn="r"/>
                      <a:r>
                        <a:rPr sz="72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یک دهک در باند بالا</a:t>
                      </a:r>
                    </a:p>
                  </a:txBody>
                  <a:tcPr marT="38100" marR="127000" marB="38100" marL="76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12356E"/>
                    </a:solidFill>
                  </a:tcPr>
                </a:tc>
              </a:tr>
              <a:tr h="5588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۰٫۸۶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۰٫۱۱۷ درصد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1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۷۳۵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DECFC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۱٬۹۳۰٬۳۳۳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۳۸۰٬۵۶۹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۱٬۱۰۵٬۳۳۷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۱۲٫۶ درصد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۲٬۸۰۳٬۴۱۶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۳٬۷۳۷٬۸۹۰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0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۲٬۲۶۰٬۴۶۶</a:t>
                      </a:r>
                    </a:p>
                  </a:txBody>
                  <a:tcPr marT="25400" marR="38100" marB="254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r"/>
                      <a:r>
                        <a:rPr sz="11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پر ریسک</a:t>
                      </a:r>
                    </a:p>
                    <a:p>
                      <a:pPr rtl="1" algn="r"/>
                      <a:r>
                        <a:rPr sz="72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سه دهک در باند بالا</a:t>
                      </a:r>
                    </a:p>
                  </a:txBody>
                  <a:tcPr marT="38100" marR="127000" marB="38100" marL="76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</a:tr>
            </a:tbl>
          </a:graphicData>
        </a:graphic>
      </p:graphicFrame>
      <p:sp>
        <p:nvSpPr>
          <p:cNvPr id="58" name="Rounded Rectangle 57"/>
          <p:cNvSpPr/>
          <p:nvPr/>
        </p:nvSpPr>
        <p:spPr>
          <a:xfrm>
            <a:off x="355600" y="5715000"/>
            <a:ext cx="11480800" cy="381000"/>
          </a:xfrm>
          <a:prstGeom prst="roundRect">
            <a:avLst>
              <a:gd name="adj" fmla="val 30000"/>
            </a:avLst>
          </a:prstGeom>
          <a:solidFill>
            <a:srgbClr val="E7F0FC"/>
          </a:solidFill>
          <a:ln w="9525">
            <a:solidFill>
              <a:srgbClr val="CFE1F7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04600" y="5715000"/>
            <a:ext cx="3302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1200" b="0" lang="fa-IR">
                <a:solidFill>
                  <a:srgbClr val="0D67C1"/>
                </a:solidFill>
                <a:latin typeface="Segoe UI Emoji"/>
                <a:cs typeface="Segoe UI Emoji"/>
                <a:ea typeface="Segoe UI Emoji"/>
              </a:rPr>
              <a:t>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8000" y="5715000"/>
            <a:ext cx="107696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85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تکرار وام تا پایان سال: سقف‌های ۳۰۰ و ۵۰۰ هزار دو بار، سقف ۱ میلیون یک بار   |   ضریب نفوذ به تفکیک باند ۱۵، ۱۳ و ۱۰ درصد   |   سقف میانی هر باند ۲۰۰، ۴۰۰ و ۷۵۰ هزار تومان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5600" y="6172200"/>
            <a:ext cx="11480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rtl="1" algn="r">
              <a:lnSpc>
                <a:spcPct val="140000"/>
              </a:lnSpc>
            </a:pPr>
            <a:r>
              <a:rPr sz="750" b="0" lang="fa-IR">
                <a:solidFill>
                  <a:srgbClr val="6E88B4"/>
                </a:solidFill>
                <a:latin typeface="Segoe UI Emoji"/>
                <a:cs typeface="Segoe UI Emoji"/>
                <a:ea typeface="Segoe UI Emoji"/>
              </a:rPr>
              <a:t>⚠️  </a:t>
            </a:r>
            <a:r>
              <a:rPr sz="750" b="0" lang="fa-IR">
                <a:solidFill>
                  <a:srgbClr val="6E88B4"/>
                </a:solidFill>
                <a:latin typeface="IRANSansXFaNum"/>
                <a:cs typeface="IRANSansXFaNum"/>
                <a:ea typeface="IRANSansXFaNum"/>
              </a:rPr>
              <a:t>قاعدهٔ سقف می‌گوید وام باید از قبض یک ماه مشترک کمتر بماند، ولی فقط ۳۶۹٬۶۷۷ مشترک قبض بالای ۵۰۰ هزار تومان دارند؛ ضریب نفوذ و دفعات وام فرض است و اندازه‌گیری نشده؛ نرخ نکول وزن‌دار بر حسب مبلغ است، نه تعداد نفرات؛ برای مقایسه، با ۳ بار وام در سال اعطایی ۹۱۶، ۱٬۱۰۳ و ۱٬۴۱۷ میلیارد می‌شود.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