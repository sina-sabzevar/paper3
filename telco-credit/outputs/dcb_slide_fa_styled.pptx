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AFF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Chevron 2"/>
          <p:cNvSpPr/>
          <p:nvPr/>
        </p:nvSpPr>
        <p:spPr>
          <a:xfrm rot="10800000">
            <a:off x="11861800" y="101600"/>
            <a:ext cx="228600" cy="330200"/>
          </a:xfrm>
          <a:prstGeom prst="chevron">
            <a:avLst/>
          </a:prstGeom>
          <a:solidFill>
            <a:srgbClr val="0D67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55600" y="203200"/>
            <a:ext cx="2667000" cy="355600"/>
          </a:xfrm>
          <a:prstGeom prst="roundRect">
            <a:avLst>
              <a:gd name="adj" fmla="val 34000"/>
            </a:avLst>
          </a:prstGeom>
          <a:solidFill>
            <a:srgbClr val="123A74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203200"/>
            <a:ext cx="2413000" cy="355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rtl="1" algn="r"/>
            <a:r>
              <a:rPr sz="1000" b="0" lang="fa-IR">
                <a:solidFill>
                  <a:srgbClr val="FFFFFF"/>
                </a:solidFill>
                <a:latin typeface="Segoe UI Emoji"/>
                <a:cs typeface="Segoe UI Emoji"/>
                <a:ea typeface="Segoe UI Emoji"/>
              </a:rPr>
              <a:t>🏦  </a:t>
            </a:r>
            <a:r>
              <a:rPr sz="1200" b="1" lang="fa-IR">
                <a:solidFill>
                  <a:srgbClr val="FFFFFF"/>
                </a:solidFill>
                <a:latin typeface="IRANSansXFaNum"/>
                <a:cs typeface="IRANSansXFaNum"/>
                <a:ea typeface="IRANSansXFaNum"/>
              </a:rPr>
              <a:t>۸٬۸۰۱٬۷۷۲</a:t>
            </a:r>
            <a:r>
              <a:rPr sz="800" b="0" lang="fa-IR">
                <a:solidFill>
                  <a:srgbClr val="B9CFEE"/>
                </a:solidFill>
                <a:latin typeface="IRANSansXFaNum"/>
                <a:cs typeface="IRANSansXFaNum"/>
                <a:ea typeface="IRANSansXFaNum"/>
              </a:rPr>
              <a:t>  تأییدشده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4400" y="177800"/>
            <a:ext cx="83820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rtl="1" algn="r"/>
            <a:r>
              <a:rPr sz="1900" b="1" lang="fa-IR">
                <a:solidFill>
                  <a:srgbClr val="0F2F66"/>
                </a:solidFill>
                <a:latin typeface="IRANSansXFaNum"/>
                <a:cs typeface="IRANSansXFaNum"/>
                <a:ea typeface="IRANSansXFaNum"/>
              </a:rPr>
              <a:t>اعطای اعتبار روی قبض مشترکین دائمی: از امتیازدهی تا سه گزینه اعطا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54400" y="482600"/>
            <a:ext cx="83820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rtl="1" algn="r"/>
            <a:r>
              <a:rPr sz="900" b="0" lang="fa-IR">
                <a:solidFill>
                  <a:srgbClr val="6E88B4"/>
                </a:solidFill>
                <a:latin typeface="IRANSansXFaNum"/>
                <a:cs typeface="IRANSansXFaNum"/>
                <a:ea typeface="IRANSansXFaNum"/>
              </a:rPr>
              <a:t>مدل اعتبارسنجی اختصاصی   |   اعتبار یک‌ماهه روی قبض   |   افق مهر تا اسفند ۱۴۰۵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1067" y="660400"/>
            <a:ext cx="3725333" cy="863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FE1F7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5367" y="762000"/>
            <a:ext cx="254000" cy="254000"/>
          </a:xfrm>
          <a:prstGeom prst="ellipse">
            <a:avLst/>
          </a:prstGeom>
          <a:solidFill>
            <a:srgbClr val="12356E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5367" y="762000"/>
            <a:ext cx="254000" cy="254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rtl="1" algn="ctr"/>
            <a:r>
              <a:rPr sz="900" b="1" lang="fa-IR">
                <a:solidFill>
                  <a:srgbClr val="FFFFFF"/>
                </a:solidFill>
                <a:latin typeface="IRANSansXFaNum"/>
                <a:cs typeface="IRANSansXFaNum"/>
                <a:ea typeface="IRANSansXFaNum"/>
              </a:rPr>
              <a:t>۱</a:t>
            </a:r>
          </a:p>
        </p:txBody>
      </p:sp>
      <p:sp>
        <p:nvSpPr>
          <p:cNvPr id="11" name="Oval 10"/>
          <p:cNvSpPr/>
          <p:nvPr/>
        </p:nvSpPr>
        <p:spPr>
          <a:xfrm>
            <a:off x="8225367" y="1092200"/>
            <a:ext cx="330200" cy="330200"/>
          </a:xfrm>
          <a:prstGeom prst="ellipse">
            <a:avLst/>
          </a:prstGeom>
          <a:solidFill>
            <a:srgbClr val="E7F0FC"/>
          </a:solidFill>
          <a:ln w="9525">
            <a:solidFill>
              <a:srgbClr val="CFE1F7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5367" y="1092200"/>
            <a:ext cx="330200" cy="330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rtl="1" algn="ctr"/>
            <a:r>
              <a:rPr sz="1100" b="0" lang="fa-IR">
                <a:solidFill>
                  <a:srgbClr val="0D67C1"/>
                </a:solidFill>
                <a:latin typeface="Segoe UI Emoji"/>
                <a:cs typeface="Segoe UI Emoji"/>
                <a:ea typeface="Segoe UI Emoji"/>
              </a:rPr>
              <a:t>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2867" y="749300"/>
            <a:ext cx="3141133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rtl="1" algn="r"/>
            <a:r>
              <a:rPr sz="1000" b="1" lang="fa-IR">
                <a:solidFill>
                  <a:srgbClr val="0F2F66"/>
                </a:solidFill>
                <a:latin typeface="IRANSansXFaNum"/>
                <a:cs typeface="IRANSansXFaNum"/>
                <a:ea typeface="IRANSansXFaNum"/>
              </a:rPr>
              <a:t>غربال و واجد شرایط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4467" y="939800"/>
            <a:ext cx="3039533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rtl="1" algn="r">
              <a:lnSpc>
                <a:spcPct val="135000"/>
              </a:lnSpc>
            </a:pPr>
            <a:r>
              <a:rPr sz="720" b="0" lang="fa-IR">
                <a:solidFill>
                  <a:srgbClr val="2B4C7E"/>
                </a:solidFill>
                <a:latin typeface="IRANSansXFaNum"/>
                <a:cs typeface="IRANSansXFaNum"/>
                <a:ea typeface="IRANSansXFaNum"/>
              </a:rPr>
              <a:t>از ۲۶٫۵ میلیون مشترک دائمی، ۹٫۳ میلیون پس از غربال درآمد و سابقه قطعی وارد امتیازدهی می‌شوند.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67720" y="1295400"/>
            <a:ext cx="754380" cy="177800"/>
          </a:xfrm>
          <a:prstGeom prst="roundRect">
            <a:avLst>
              <a:gd name="adj" fmla="val 42000"/>
            </a:avLst>
          </a:prstGeom>
          <a:solidFill>
            <a:srgbClr val="E7F0F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67720" y="1295400"/>
            <a:ext cx="75438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rtl="1" algn="ctr"/>
            <a:r>
              <a:rPr sz="680" b="1" lang="fa-IR">
                <a:solidFill>
                  <a:srgbClr val="12356E"/>
                </a:solidFill>
                <a:latin typeface="IRANSansXFaNum"/>
                <a:cs typeface="IRANSansXFaNum"/>
                <a:ea typeface="IRANSansXFaNum"/>
              </a:rPr>
              <a:t>درآمد ماهانه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56520" y="1295400"/>
            <a:ext cx="647700" cy="177800"/>
          </a:xfrm>
          <a:prstGeom prst="roundRect">
            <a:avLst>
              <a:gd name="adj" fmla="val 42000"/>
            </a:avLst>
          </a:prstGeom>
          <a:solidFill>
            <a:srgbClr val="E7F0F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56520" y="1295400"/>
            <a:ext cx="6477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rtl="1" algn="ctr"/>
            <a:r>
              <a:rPr sz="680" b="1" lang="fa-IR">
                <a:solidFill>
                  <a:srgbClr val="12356E"/>
                </a:solidFill>
                <a:latin typeface="IRANSansXFaNum"/>
                <a:cs typeface="IRANSansXFaNum"/>
                <a:ea typeface="IRANSansXFaNum"/>
              </a:rPr>
              <a:t>سابقه قطعی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05340" y="1295400"/>
            <a:ext cx="487680" cy="177800"/>
          </a:xfrm>
          <a:prstGeom prst="roundRect">
            <a:avLst>
              <a:gd name="adj" fmla="val 42000"/>
            </a:avLst>
          </a:prstGeom>
          <a:solidFill>
            <a:srgbClr val="E7F0F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05340" y="1295400"/>
            <a:ext cx="48768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rtl="1" algn="ctr"/>
            <a:r>
              <a:rPr sz="680" b="1" lang="fa-IR">
                <a:solidFill>
                  <a:srgbClr val="12356E"/>
                </a:solidFill>
                <a:latin typeface="IRANSansXFaNum"/>
                <a:cs typeface="IRANSansXFaNum"/>
                <a:ea typeface="IRANSansXFaNum"/>
              </a:rPr>
              <a:t>قدمت خط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33333" y="660400"/>
            <a:ext cx="3725333" cy="863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FE1F7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47633" y="762000"/>
            <a:ext cx="254000" cy="254000"/>
          </a:xfrm>
          <a:prstGeom prst="ellipse">
            <a:avLst/>
          </a:prstGeom>
          <a:solidFill>
            <a:srgbClr val="12356E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7633" y="762000"/>
            <a:ext cx="254000" cy="254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rtl="1" algn="ctr"/>
            <a:r>
              <a:rPr sz="900" b="1" lang="fa-IR">
                <a:solidFill>
                  <a:srgbClr val="FFFFFF"/>
                </a:solidFill>
                <a:latin typeface="IRANSansXFaNum"/>
                <a:cs typeface="IRANSansXFaNum"/>
                <a:ea typeface="IRANSansXFaNum"/>
              </a:rPr>
              <a:t>۲</a:t>
            </a:r>
          </a:p>
        </p:txBody>
      </p:sp>
      <p:sp>
        <p:nvSpPr>
          <p:cNvPr id="24" name="Oval 23"/>
          <p:cNvSpPr/>
          <p:nvPr/>
        </p:nvSpPr>
        <p:spPr>
          <a:xfrm>
            <a:off x="4347633" y="1092200"/>
            <a:ext cx="330200" cy="330200"/>
          </a:xfrm>
          <a:prstGeom prst="ellipse">
            <a:avLst/>
          </a:prstGeom>
          <a:solidFill>
            <a:srgbClr val="E7F0FC"/>
          </a:solidFill>
          <a:ln w="9525">
            <a:solidFill>
              <a:srgbClr val="CFE1F7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7633" y="1092200"/>
            <a:ext cx="330200" cy="330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rtl="1" algn="ctr"/>
            <a:r>
              <a:rPr sz="1100" b="0" lang="fa-IR">
                <a:solidFill>
                  <a:srgbClr val="0D67C1"/>
                </a:solidFill>
                <a:latin typeface="Segoe UI Emoji"/>
                <a:cs typeface="Segoe UI Emoji"/>
                <a:ea typeface="Segoe UI Emoji"/>
              </a:rPr>
              <a:t>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5133" y="749300"/>
            <a:ext cx="3141133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rtl="1" algn="r"/>
            <a:r>
              <a:rPr sz="1000" b="1" lang="fa-IR">
                <a:solidFill>
                  <a:srgbClr val="0F2F66"/>
                </a:solidFill>
                <a:latin typeface="IRANSansXFaNum"/>
                <a:cs typeface="IRANSansXFaNum"/>
                <a:ea typeface="IRANSansXFaNum"/>
              </a:rPr>
              <a:t>مدل‌سازی رفتار اعتباری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66733" y="939800"/>
            <a:ext cx="3039533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rtl="1" algn="r">
              <a:lnSpc>
                <a:spcPct val="135000"/>
              </a:lnSpc>
            </a:pPr>
            <a:r>
              <a:rPr sz="720" b="0" lang="fa-IR">
                <a:solidFill>
                  <a:srgbClr val="2B4C7E"/>
                </a:solidFill>
                <a:latin typeface="IRANSansXFaNum"/>
                <a:cs typeface="IRANSansXFaNum"/>
                <a:ea typeface="IRANSansXFaNum"/>
              </a:rPr>
              <a:t>آموزش روی رفتار حساب خود مشترک با ۳۹ ویژگی در ۵ خانواده. دقت مدل روی دادهٔ کنارگذاشته ۰٫۸۳ است.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10027" y="1295400"/>
            <a:ext cx="434340" cy="177800"/>
          </a:xfrm>
          <a:prstGeom prst="roundRect">
            <a:avLst>
              <a:gd name="adj" fmla="val 42000"/>
            </a:avLst>
          </a:prstGeom>
          <a:solidFill>
            <a:srgbClr val="E7F0F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10027" y="1295400"/>
            <a:ext cx="43434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rtl="1" algn="ctr"/>
            <a:r>
              <a:rPr sz="680" b="1" lang="fa-IR">
                <a:solidFill>
                  <a:srgbClr val="12356E"/>
                </a:solidFill>
                <a:latin typeface="IRANSansXFaNum"/>
                <a:cs typeface="IRANSansXFaNum"/>
                <a:ea typeface="IRANSansXFaNum"/>
              </a:rPr>
              <a:t>HistGB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92147" y="1295400"/>
            <a:ext cx="754380" cy="177800"/>
          </a:xfrm>
          <a:prstGeom prst="roundRect">
            <a:avLst>
              <a:gd name="adj" fmla="val 42000"/>
            </a:avLst>
          </a:prstGeom>
          <a:solidFill>
            <a:srgbClr val="E7F0F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92147" y="1295400"/>
            <a:ext cx="75438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rtl="1" algn="ctr"/>
            <a:r>
              <a:rPr sz="680" b="1" lang="fa-IR">
                <a:solidFill>
                  <a:srgbClr val="12356E"/>
                </a:solidFill>
                <a:latin typeface="IRANSansXFaNum"/>
                <a:cs typeface="IRANSansXFaNum"/>
                <a:ea typeface="IRANSansXFaNum"/>
              </a:rPr>
              <a:t>WOE Logistic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87627" y="1295400"/>
            <a:ext cx="541020" cy="177800"/>
          </a:xfrm>
          <a:prstGeom prst="roundRect">
            <a:avLst>
              <a:gd name="adj" fmla="val 42000"/>
            </a:avLst>
          </a:prstGeom>
          <a:solidFill>
            <a:srgbClr val="E7F0F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87627" y="1295400"/>
            <a:ext cx="54102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rtl="1" algn="ctr"/>
            <a:r>
              <a:rPr sz="680" b="1" lang="fa-IR">
                <a:solidFill>
                  <a:srgbClr val="12356E"/>
                </a:solidFill>
                <a:latin typeface="IRANSansXFaNum"/>
                <a:cs typeface="IRANSansXFaNum"/>
                <a:ea typeface="IRANSansXFaNum"/>
              </a:rPr>
              <a:t>Isotonic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5600" y="660400"/>
            <a:ext cx="3725333" cy="863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FE1F7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69900" y="762000"/>
            <a:ext cx="254000" cy="254000"/>
          </a:xfrm>
          <a:prstGeom prst="ellipse">
            <a:avLst/>
          </a:prstGeom>
          <a:solidFill>
            <a:srgbClr val="12356E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9900" y="762000"/>
            <a:ext cx="254000" cy="254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rtl="1" algn="ctr"/>
            <a:r>
              <a:rPr sz="900" b="1" lang="fa-IR">
                <a:solidFill>
                  <a:srgbClr val="FFFFFF"/>
                </a:solidFill>
                <a:latin typeface="IRANSansXFaNum"/>
                <a:cs typeface="IRANSansXFaNum"/>
                <a:ea typeface="IRANSansXFaNum"/>
              </a:rPr>
              <a:t>۳</a:t>
            </a:r>
          </a:p>
        </p:txBody>
      </p:sp>
      <p:sp>
        <p:nvSpPr>
          <p:cNvPr id="37" name="Oval 36"/>
          <p:cNvSpPr/>
          <p:nvPr/>
        </p:nvSpPr>
        <p:spPr>
          <a:xfrm>
            <a:off x="469900" y="1092200"/>
            <a:ext cx="330200" cy="330200"/>
          </a:xfrm>
          <a:prstGeom prst="ellipse">
            <a:avLst/>
          </a:prstGeom>
          <a:solidFill>
            <a:srgbClr val="E7F0FC"/>
          </a:solidFill>
          <a:ln w="9525">
            <a:solidFill>
              <a:srgbClr val="CFE1F7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9900" y="1092200"/>
            <a:ext cx="330200" cy="330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rtl="1" algn="ctr"/>
            <a:r>
              <a:rPr sz="1100" b="0" lang="fa-IR">
                <a:solidFill>
                  <a:srgbClr val="0D67C1"/>
                </a:solidFill>
                <a:latin typeface="Segoe UI Emoji"/>
                <a:cs typeface="Segoe UI Emoji"/>
                <a:ea typeface="Segoe UI Emoji"/>
              </a:rPr>
              <a:t>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7400" y="749300"/>
            <a:ext cx="3141133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rtl="1" algn="r"/>
            <a:r>
              <a:rPr sz="1000" b="1" lang="fa-IR">
                <a:solidFill>
                  <a:srgbClr val="0F2F66"/>
                </a:solidFill>
                <a:latin typeface="IRANSansXFaNum"/>
                <a:cs typeface="IRANSansXFaNum"/>
                <a:ea typeface="IRANSansXFaNum"/>
              </a:rPr>
              <a:t>تعیین سقف و اعطا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9000" y="939800"/>
            <a:ext cx="3039533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rtl="1" algn="r">
              <a:lnSpc>
                <a:spcPct val="135000"/>
              </a:lnSpc>
            </a:pPr>
            <a:r>
              <a:rPr sz="720" b="0" lang="fa-IR">
                <a:solidFill>
                  <a:srgbClr val="2B4C7E"/>
                </a:solidFill>
                <a:latin typeface="IRANSansXFaNum"/>
                <a:cs typeface="IRANSansXFaNum"/>
                <a:ea typeface="IRANSansXFaNum"/>
              </a:rPr>
              <a:t>رتبه‌بندی ۱۰ دهکی و قاعدهٔ سقف: وام هر نفر کمتر از قبض یک ماهش بماند، وگرنه احتمال نکول نزدیک دو برابر می‌شود.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18933" y="1295400"/>
            <a:ext cx="647700" cy="177800"/>
          </a:xfrm>
          <a:prstGeom prst="roundRect">
            <a:avLst>
              <a:gd name="adj" fmla="val 42000"/>
            </a:avLst>
          </a:prstGeom>
          <a:solidFill>
            <a:srgbClr val="E7F0F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18933" y="1295400"/>
            <a:ext cx="6477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rtl="1" algn="ctr"/>
            <a:r>
              <a:rPr sz="680" b="1" lang="fa-IR">
                <a:solidFill>
                  <a:srgbClr val="12356E"/>
                </a:solidFill>
                <a:latin typeface="IRANSansXFaNum"/>
                <a:cs typeface="IRANSansXFaNum"/>
                <a:ea typeface="IRANSansXFaNum"/>
              </a:rPr>
              <a:t>۱۰۰ تا ۳۰۰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607733" y="1295400"/>
            <a:ext cx="647700" cy="177800"/>
          </a:xfrm>
          <a:prstGeom prst="roundRect">
            <a:avLst>
              <a:gd name="adj" fmla="val 42000"/>
            </a:avLst>
          </a:prstGeom>
          <a:solidFill>
            <a:srgbClr val="E7F0F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07733" y="1295400"/>
            <a:ext cx="6477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rtl="1" algn="ctr"/>
            <a:r>
              <a:rPr sz="680" b="1" lang="fa-IR">
                <a:solidFill>
                  <a:srgbClr val="12356E"/>
                </a:solidFill>
                <a:latin typeface="IRANSansXFaNum"/>
                <a:cs typeface="IRANSansXFaNum"/>
                <a:ea typeface="IRANSansXFaNum"/>
              </a:rPr>
              <a:t>۳۰۰ تا ۵۰۰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523153" y="1295400"/>
            <a:ext cx="1021080" cy="177800"/>
          </a:xfrm>
          <a:prstGeom prst="roundRect">
            <a:avLst>
              <a:gd name="adj" fmla="val 42000"/>
            </a:avLst>
          </a:prstGeom>
          <a:solidFill>
            <a:srgbClr val="E7F0F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23153" y="1295400"/>
            <a:ext cx="102108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rtl="1" algn="ctr"/>
            <a:r>
              <a:rPr sz="680" b="1" lang="fa-IR">
                <a:solidFill>
                  <a:srgbClr val="12356E"/>
                </a:solidFill>
                <a:latin typeface="IRANSansXFaNum"/>
                <a:cs typeface="IRANSansXFaNum"/>
                <a:ea typeface="IRANSansXFaNum"/>
              </a:rPr>
              <a:t>۵۰۰ تا ۱٬۰۰۰ هزار</a:t>
            </a:r>
          </a:p>
        </p:txBody>
      </p:sp>
      <p:graphicFrame>
        <p:nvGraphicFramePr>
          <p:cNvPr id="47" name="Table 46"/>
          <p:cNvGraphicFramePr>
            <a:graphicFrameLocks noGrp="1"/>
          </p:cNvGraphicFramePr>
          <p:nvPr/>
        </p:nvGraphicFramePr>
        <p:xfrm>
          <a:off x="355600" y="1600200"/>
          <a:ext cx="11480800" cy="4178300"/>
        </p:xfrm>
        <a:graphic>
          <a:graphicData uri="http://schemas.openxmlformats.org/drawingml/2006/table">
            <a:tbl>
              <a:tblPr/>
              <a:tblGrid>
                <a:gridCol w="965200"/>
                <a:gridCol w="1168400"/>
                <a:gridCol w="1397000"/>
                <a:gridCol w="863600"/>
                <a:gridCol w="1320800"/>
                <a:gridCol w="1397000"/>
                <a:gridCol w="965200"/>
                <a:gridCol w="1498600"/>
                <a:gridCol w="1905000"/>
              </a:tblGrid>
              <a:tr h="444500">
                <a:tc>
                  <a:txBody>
                    <a:bodyPr wrap="square">
                      <a:noAutofit/>
                    </a:bodyPr>
                    <a:lstStyle/>
                    <a:p>
                      <a:pPr rtl="1" algn="ctr"/>
                      <a:r>
                        <a:rPr sz="900" b="0" lang="fa-IR">
                          <a:solidFill>
                            <a:srgbClr val="FFFFFF"/>
                          </a:solidFill>
                          <a:latin typeface="Segoe UI Emoji"/>
                          <a:cs typeface="Segoe UI Emoji"/>
                          <a:ea typeface="Segoe UI Emoji"/>
                        </a:rPr>
                        <a:t>🧮</a:t>
                      </a:r>
                    </a:p>
                    <a:p>
                      <a:pPr rtl="1" algn="ctr"/>
                      <a:r>
                        <a:rPr sz="850" b="1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زیان</a:t>
                      </a:r>
                    </a:p>
                    <a:p>
                      <a:pPr rtl="1" algn="ctr"/>
                      <a:r>
                        <a:rPr sz="680" b="0" lang="fa-IR">
                          <a:solidFill>
                            <a:srgbClr val="A9C6EA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میلیارد تومان</a:t>
                      </a:r>
                    </a:p>
                  </a:txBody>
                  <a:tcPr marT="38100" marR="38100" marB="381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14A89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rtl="1" algn="ctr"/>
                      <a:r>
                        <a:rPr sz="900" b="0" lang="fa-IR">
                          <a:solidFill>
                            <a:srgbClr val="FFFFFF"/>
                          </a:solidFill>
                          <a:latin typeface="Segoe UI Emoji"/>
                          <a:cs typeface="Segoe UI Emoji"/>
                          <a:ea typeface="Segoe UI Emoji"/>
                        </a:rPr>
                        <a:t>📉</a:t>
                      </a:r>
                    </a:p>
                    <a:p>
                      <a:pPr rtl="1" algn="ctr"/>
                      <a:r>
                        <a:rPr sz="850" b="1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نرخ نکول</a:t>
                      </a:r>
                    </a:p>
                    <a:p>
                      <a:pPr rtl="1" algn="ctr"/>
                      <a:r>
                        <a:rPr sz="680" b="0" lang="fa-IR">
                          <a:solidFill>
                            <a:srgbClr val="A9C6EA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وزن‌دار بر مبلغ</a:t>
                      </a:r>
                    </a:p>
                  </a:txBody>
                  <a:tcPr marT="38100" marR="38100" marB="381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14A89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rtl="1" algn="ctr"/>
                      <a:r>
                        <a:rPr sz="900" b="0" lang="fa-IR">
                          <a:solidFill>
                            <a:srgbClr val="FFFFFF"/>
                          </a:solidFill>
                          <a:latin typeface="Segoe UI Emoji"/>
                          <a:cs typeface="Segoe UI Emoji"/>
                          <a:ea typeface="Segoe UI Emoji"/>
                        </a:rPr>
                        <a:t>💰</a:t>
                      </a:r>
                    </a:p>
                    <a:p>
                      <a:pPr rtl="1" algn="ctr"/>
                      <a:r>
                        <a:rPr sz="850" b="1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مبلغ تا پایان سال</a:t>
                      </a:r>
                    </a:p>
                    <a:p>
                      <a:pPr rtl="1" algn="ctr"/>
                      <a:r>
                        <a:rPr sz="680" b="0" lang="fa-IR">
                          <a:solidFill>
                            <a:srgbClr val="A9C6EA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میلیارد تومان</a:t>
                      </a:r>
                    </a:p>
                  </a:txBody>
                  <a:tcPr marT="38100" marR="38100" marB="381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14A89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rtl="1" algn="ctr"/>
                      <a:r>
                        <a:rPr sz="900" b="0" lang="fa-IR">
                          <a:solidFill>
                            <a:srgbClr val="FFFFFF"/>
                          </a:solidFill>
                          <a:latin typeface="Segoe UI Emoji"/>
                          <a:cs typeface="Segoe UI Emoji"/>
                          <a:ea typeface="Segoe UI Emoji"/>
                        </a:rPr>
                        <a:t>🔁</a:t>
                      </a:r>
                    </a:p>
                    <a:p>
                      <a:pPr rtl="1" algn="ctr"/>
                      <a:r>
                        <a:rPr sz="850" b="1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ضریب تکرار</a:t>
                      </a:r>
                    </a:p>
                    <a:p>
                      <a:pPr rtl="1" algn="ctr"/>
                      <a:r>
                        <a:rPr sz="680" b="0" lang="fa-IR">
                          <a:solidFill>
                            <a:srgbClr val="A9C6EA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تا اسفند</a:t>
                      </a:r>
                    </a:p>
                  </a:txBody>
                  <a:tcPr marT="38100" marR="38100" marB="381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14A89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rtl="1" algn="ctr"/>
                      <a:r>
                        <a:rPr sz="900" b="0" lang="fa-IR">
                          <a:solidFill>
                            <a:srgbClr val="FFFFFF"/>
                          </a:solidFill>
                          <a:latin typeface="Segoe UI Emoji"/>
                          <a:cs typeface="Segoe UI Emoji"/>
                          <a:ea typeface="Segoe UI Emoji"/>
                        </a:rPr>
                        <a:t>🪙</a:t>
                      </a:r>
                    </a:p>
                    <a:p>
                      <a:pPr rtl="1" algn="ctr"/>
                      <a:r>
                        <a:rPr sz="850" b="1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مبلغ هر بار اعطا</a:t>
                      </a:r>
                    </a:p>
                    <a:p>
                      <a:pPr rtl="1" algn="ctr"/>
                      <a:r>
                        <a:rPr sz="680" b="0" lang="fa-IR">
                          <a:solidFill>
                            <a:srgbClr val="A9C6EA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میلیارد تومان</a:t>
                      </a:r>
                    </a:p>
                  </a:txBody>
                  <a:tcPr marT="38100" marR="38100" marB="381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14A89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rtl="1" algn="ctr"/>
                      <a:r>
                        <a:rPr sz="900" b="0" lang="fa-IR">
                          <a:solidFill>
                            <a:srgbClr val="FFFFFF"/>
                          </a:solidFill>
                          <a:latin typeface="Segoe UI Emoji"/>
                          <a:cs typeface="Segoe UI Emoji"/>
                          <a:ea typeface="Segoe UI Emoji"/>
                        </a:rPr>
                        <a:t>🧑</a:t>
                      </a:r>
                    </a:p>
                    <a:p>
                      <a:pPr rtl="1" algn="ctr"/>
                      <a:r>
                        <a:rPr sz="850" b="1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وام‌گیرنده</a:t>
                      </a:r>
                    </a:p>
                    <a:p>
                      <a:pPr rtl="1" algn="ctr"/>
                      <a:r>
                        <a:rPr sz="680" b="0" lang="fa-IR">
                          <a:solidFill>
                            <a:srgbClr val="A9C6EA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نفر</a:t>
                      </a:r>
                    </a:p>
                  </a:txBody>
                  <a:tcPr marT="38100" marR="38100" marB="381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14A89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rtl="1" algn="ctr"/>
                      <a:r>
                        <a:rPr sz="900" b="0" lang="fa-IR">
                          <a:solidFill>
                            <a:srgbClr val="FFFFFF"/>
                          </a:solidFill>
                          <a:latin typeface="Segoe UI Emoji"/>
                          <a:cs typeface="Segoe UI Emoji"/>
                          <a:ea typeface="Segoe UI Emoji"/>
                        </a:rPr>
                        <a:t>📈</a:t>
                      </a:r>
                    </a:p>
                    <a:p>
                      <a:pPr rtl="1" algn="ctr"/>
                      <a:r>
                        <a:rPr sz="850" b="1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ضریب نفوذ</a:t>
                      </a:r>
                    </a:p>
                    <a:p>
                      <a:pPr rtl="1" algn="ctr"/>
                      <a:r>
                        <a:rPr sz="680" b="0" lang="fa-IR">
                          <a:solidFill>
                            <a:srgbClr val="A9C6EA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از باند</a:t>
                      </a:r>
                    </a:p>
                  </a:txBody>
                  <a:tcPr marT="38100" marR="38100" marB="381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14A89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rtl="1" algn="ctr"/>
                      <a:r>
                        <a:rPr sz="900" b="0" lang="fa-IR">
                          <a:solidFill>
                            <a:srgbClr val="FFFFFF"/>
                          </a:solidFill>
                          <a:latin typeface="Segoe UI Emoji"/>
                          <a:cs typeface="Segoe UI Emoji"/>
                          <a:ea typeface="Segoe UI Emoji"/>
                        </a:rPr>
                        <a:t>👥</a:t>
                      </a:r>
                    </a:p>
                    <a:p>
                      <a:pPr rtl="1" algn="ctr"/>
                      <a:r>
                        <a:rPr sz="850" b="1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مشترکین تأییدشده</a:t>
                      </a:r>
                    </a:p>
                    <a:p>
                      <a:pPr rtl="1" algn="ctr"/>
                      <a:r>
                        <a:rPr sz="680" b="0" lang="fa-IR">
                          <a:solidFill>
                            <a:srgbClr val="A9C6EA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نفر</a:t>
                      </a:r>
                    </a:p>
                  </a:txBody>
                  <a:tcPr marT="38100" marR="38100" marB="381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14A89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rtl="1" algn="ctr"/>
                      <a:r>
                        <a:rPr sz="900" b="0" lang="fa-IR">
                          <a:solidFill>
                            <a:srgbClr val="FFFFFF"/>
                          </a:solidFill>
                          <a:latin typeface="Segoe UI Emoji"/>
                          <a:cs typeface="Segoe UI Emoji"/>
                          <a:ea typeface="Segoe UI Emoji"/>
                        </a:rPr>
                        <a:t>💳</a:t>
                      </a:r>
                    </a:p>
                    <a:p>
                      <a:pPr rtl="1" algn="ctr"/>
                      <a:r>
                        <a:rPr sz="850" b="1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سقف وام</a:t>
                      </a:r>
                    </a:p>
                  </a:txBody>
                  <a:tcPr marT="38100" marR="38100" marB="381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14A89"/>
                    </a:solidFill>
                  </a:tcPr>
                </a:tc>
              </a:tr>
              <a:tr h="254000"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100" b="0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 </a:t>
                      </a:r>
                    </a:p>
                  </a:txBody>
                  <a:tcPr marT="0" marR="0" marB="0" marL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2356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100" b="0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 </a:t>
                      </a:r>
                    </a:p>
                  </a:txBody>
                  <a:tcPr marT="0" marR="0" marB="0" marL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2356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100" b="0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 </a:t>
                      </a:r>
                    </a:p>
                  </a:txBody>
                  <a:tcPr marT="0" marR="0" marB="0" marL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2356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100" b="0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 </a:t>
                      </a:r>
                    </a:p>
                  </a:txBody>
                  <a:tcPr marT="0" marR="0" marB="0" marL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2356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100" b="0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 </a:t>
                      </a:r>
                    </a:p>
                  </a:txBody>
                  <a:tcPr marT="0" marR="0" marB="0" marL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2356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100" b="0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 </a:t>
                      </a:r>
                    </a:p>
                  </a:txBody>
                  <a:tcPr marT="0" marR="0" marB="0" marL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2356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100" b="0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 </a:t>
                      </a:r>
                    </a:p>
                  </a:txBody>
                  <a:tcPr marT="0" marR="0" marB="0" marL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2356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100" b="0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 </a:t>
                      </a:r>
                    </a:p>
                  </a:txBody>
                  <a:tcPr marT="0" marR="0" marB="0" marL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2356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100" b="0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 </a:t>
                      </a:r>
                    </a:p>
                  </a:txBody>
                  <a:tcPr marT="0" marR="0" marB="0" marL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2356E"/>
                    </a:solidFill>
                  </a:tcPr>
                </a:tc>
              </a:tr>
              <a:tr h="241300"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۰٫۶۳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۰٫۱۵۲ درصد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950" b="1" lang="fa-IR">
                          <a:solidFill>
                            <a:srgbClr val="0F2F66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۴۱۶٫۰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DDECFC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۲ بار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۲۰۸٫۰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۱٬۰۳۹٬۹۲۴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۱۵ درصد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۶٬۹۳۲٬۸۲۸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r"/>
                      <a:r>
                        <a:rPr sz="800" b="0" lang="fa-IR">
                          <a:solidFill>
                            <a:srgbClr val="0D67C1"/>
                          </a:solidFill>
                          <a:latin typeface="Segoe UI Emoji"/>
                          <a:cs typeface="Segoe UI Emoji"/>
                          <a:ea typeface="Segoe UI Emoji"/>
                        </a:rPr>
                        <a:t>👤  </a:t>
                      </a:r>
                      <a:r>
                        <a:rPr sz="750" b="1" lang="fa-IR">
                          <a:solidFill>
                            <a:srgbClr val="0F2F66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۱۰۰ تا ۳۰۰ هزار تومان</a:t>
                      </a:r>
                    </a:p>
                  </a:txBody>
                  <a:tcPr marT="12700" marR="127000" marB="12700" marL="76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1300"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۰٫۰۸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۰٫۰۴۱ درصد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950" b="1" lang="fa-IR">
                          <a:solidFill>
                            <a:srgbClr val="0F2F66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۱۹۴٫۴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DDECFC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۲ بار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۹۷٫۲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۲۴۲٬۹۶۳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۱۳ درصد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۱٬۸۶۸٬۹۴۴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r"/>
                      <a:r>
                        <a:rPr sz="800" b="0" lang="fa-IR">
                          <a:solidFill>
                            <a:srgbClr val="0D67C1"/>
                          </a:solidFill>
                          <a:latin typeface="Segoe UI Emoji"/>
                          <a:cs typeface="Segoe UI Emoji"/>
                          <a:ea typeface="Segoe UI Emoji"/>
                        </a:rPr>
                        <a:t>👤  </a:t>
                      </a:r>
                      <a:r>
                        <a:rPr sz="750" b="1" lang="fa-IR">
                          <a:solidFill>
                            <a:srgbClr val="0F2F66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۳۰۰ تا ۵۰۰ هزار تومان</a:t>
                      </a:r>
                    </a:p>
                  </a:txBody>
                  <a:tcPr marT="12700" marR="127000" marB="12700" marL="76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EBF5FE"/>
                    </a:solidFill>
                  </a:tcPr>
                </a:tc>
              </a:tr>
              <a:tr h="241300"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—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—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950" b="1" lang="fa-IR">
                          <a:solidFill>
                            <a:srgbClr val="0F2F66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—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—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—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—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—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—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r"/>
                      <a:r>
                        <a:rPr sz="800" b="0" lang="fa-IR">
                          <a:solidFill>
                            <a:srgbClr val="0D67C1"/>
                          </a:solidFill>
                          <a:latin typeface="Segoe UI Emoji"/>
                          <a:cs typeface="Segoe UI Emoji"/>
                          <a:ea typeface="Segoe UI Emoji"/>
                        </a:rPr>
                        <a:t>👤  </a:t>
                      </a:r>
                      <a:r>
                        <a:rPr sz="750" b="1" lang="fa-IR">
                          <a:solidFill>
                            <a:srgbClr val="0F2F66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۵۰۰ هزار تا ۱ میلیون تومان</a:t>
                      </a:r>
                    </a:p>
                  </a:txBody>
                  <a:tcPr marT="12700" marR="127000" marB="12700" marL="76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800" b="1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۰٫۷۱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14A89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800" b="1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۰٫۱۱۷ درصد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14A89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1000" b="1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۶۱۰٫۳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14A89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800" b="1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—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14A89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800" b="1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۳۰۵٫۲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14A89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800" b="1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۱٬۲۸۲٬۸۸۷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14A89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800" b="1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۱۴٫۶ درصد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14A89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800" b="1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۸٬۸۰۱٬۷۷۲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14A89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r"/>
                      <a:r>
                        <a:rPr sz="850" b="0" lang="fa-IR">
                          <a:solidFill>
                            <a:srgbClr val="FFFFFF"/>
                          </a:solidFill>
                          <a:latin typeface="Segoe UI Emoji"/>
                          <a:cs typeface="Segoe UI Emoji"/>
                          <a:ea typeface="Segoe UI Emoji"/>
                        </a:rPr>
                        <a:t>🧮  </a:t>
                      </a:r>
                      <a:r>
                        <a:rPr sz="900" b="1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مجموع گزینه کم‌ریسک</a:t>
                      </a:r>
                    </a:p>
                  </a:txBody>
                  <a:tcPr marT="12700" marR="127000" marB="12700" marL="76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14A89"/>
                    </a:solidFill>
                  </a:tcPr>
                </a:tc>
              </a:tr>
              <a:tr h="254000"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100" b="0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 </a:t>
                      </a:r>
                    </a:p>
                  </a:txBody>
                  <a:tcPr marT="0" marR="0" marB="0" marL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2356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100" b="0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 </a:t>
                      </a:r>
                    </a:p>
                  </a:txBody>
                  <a:tcPr marT="0" marR="0" marB="0" marL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2356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100" b="0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 </a:t>
                      </a:r>
                    </a:p>
                  </a:txBody>
                  <a:tcPr marT="0" marR="0" marB="0" marL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2356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100" b="0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 </a:t>
                      </a:r>
                    </a:p>
                  </a:txBody>
                  <a:tcPr marT="0" marR="0" marB="0" marL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2356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100" b="0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 </a:t>
                      </a:r>
                    </a:p>
                  </a:txBody>
                  <a:tcPr marT="0" marR="0" marB="0" marL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2356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100" b="0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 </a:t>
                      </a:r>
                    </a:p>
                  </a:txBody>
                  <a:tcPr marT="0" marR="0" marB="0" marL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2356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100" b="0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 </a:t>
                      </a:r>
                    </a:p>
                  </a:txBody>
                  <a:tcPr marT="0" marR="0" marB="0" marL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2356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100" b="0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 </a:t>
                      </a:r>
                    </a:p>
                  </a:txBody>
                  <a:tcPr marT="0" marR="0" marB="0" marL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2356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100" b="0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 </a:t>
                      </a:r>
                    </a:p>
                  </a:txBody>
                  <a:tcPr marT="0" marR="0" marB="0" marL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2356E"/>
                    </a:solidFill>
                  </a:tcPr>
                </a:tc>
              </a:tr>
              <a:tr h="241300"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۰٫۵۶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۰٫۱۸۵ درصد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950" b="1" lang="fa-IR">
                          <a:solidFill>
                            <a:srgbClr val="0F2F66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۳۰۳٫۸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DDECFC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۲ بار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۱۵۱٫۹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۷۵۹٬۵۸۲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۱۵ درصد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۵٬۰۶۳٬۸۸۳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r"/>
                      <a:r>
                        <a:rPr sz="800" b="0" lang="fa-IR">
                          <a:solidFill>
                            <a:srgbClr val="0D67C1"/>
                          </a:solidFill>
                          <a:latin typeface="Segoe UI Emoji"/>
                          <a:cs typeface="Segoe UI Emoji"/>
                          <a:ea typeface="Segoe UI Emoji"/>
                        </a:rPr>
                        <a:t>👤  </a:t>
                      </a:r>
                      <a:r>
                        <a:rPr sz="750" b="1" lang="fa-IR">
                          <a:solidFill>
                            <a:srgbClr val="0F2F66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۱۰۰ تا ۳۰۰ هزار تومان</a:t>
                      </a:r>
                    </a:p>
                  </a:txBody>
                  <a:tcPr marT="12700" marR="127000" marB="12700" marL="76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1300"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۰٫۱۷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۰٫۰۵۹ درصد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950" b="1" lang="fa-IR">
                          <a:solidFill>
                            <a:srgbClr val="0F2F66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۲۹۱٫۶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DDECFC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۲ بار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۱۴۵٫۸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۳۶۴٬۴۴۴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۱۳ درصد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۲٬۸۰۳٬۴۱۷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r"/>
                      <a:r>
                        <a:rPr sz="800" b="0" lang="fa-IR">
                          <a:solidFill>
                            <a:srgbClr val="0D67C1"/>
                          </a:solidFill>
                          <a:latin typeface="Segoe UI Emoji"/>
                          <a:cs typeface="Segoe UI Emoji"/>
                          <a:ea typeface="Segoe UI Emoji"/>
                        </a:rPr>
                        <a:t>👤  </a:t>
                      </a:r>
                      <a:r>
                        <a:rPr sz="750" b="1" lang="fa-IR">
                          <a:solidFill>
                            <a:srgbClr val="0F2F66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۳۰۰ تا ۵۰۰ هزار تومان</a:t>
                      </a:r>
                    </a:p>
                  </a:txBody>
                  <a:tcPr marT="12700" marR="127000" marB="12700" marL="76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EBF5FE"/>
                    </a:solidFill>
                  </a:tcPr>
                </a:tc>
              </a:tr>
              <a:tr h="241300"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۰٫۰۲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۰٫۰۳۱ درصد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950" b="1" lang="fa-IR">
                          <a:solidFill>
                            <a:srgbClr val="0F2F66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۷۰٫۱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DDECFC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۱ بار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۷۰٫۱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۹۳٬۴۴۷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۱۰ درصد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۹۳۴٬۴۷۲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r"/>
                      <a:r>
                        <a:rPr sz="800" b="0" lang="fa-IR">
                          <a:solidFill>
                            <a:srgbClr val="0D67C1"/>
                          </a:solidFill>
                          <a:latin typeface="Segoe UI Emoji"/>
                          <a:cs typeface="Segoe UI Emoji"/>
                          <a:ea typeface="Segoe UI Emoji"/>
                        </a:rPr>
                        <a:t>👤  </a:t>
                      </a:r>
                      <a:r>
                        <a:rPr sz="750" b="1" lang="fa-IR">
                          <a:solidFill>
                            <a:srgbClr val="0F2F66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۵۰۰ هزار تا ۱ میلیون تومان</a:t>
                      </a:r>
                    </a:p>
                  </a:txBody>
                  <a:tcPr marT="12700" marR="127000" marB="12700" marL="76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800" b="1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۰٫۷۶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14A89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800" b="1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۰٫۱۱۳ درصد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14A89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1000" b="1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۶۶۵٫۵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14A89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800" b="1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—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14A89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800" b="1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۳۶۷٫۸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14A89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800" b="1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۱٬۲۱۷٬۴۷۴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14A89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800" b="1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۱۳٫۸ درصد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14A89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800" b="1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۸٬۸۰۱٬۷۷۲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14A89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r"/>
                      <a:r>
                        <a:rPr sz="850" b="0" lang="fa-IR">
                          <a:solidFill>
                            <a:srgbClr val="FFFFFF"/>
                          </a:solidFill>
                          <a:latin typeface="Segoe UI Emoji"/>
                          <a:cs typeface="Segoe UI Emoji"/>
                          <a:ea typeface="Segoe UI Emoji"/>
                        </a:rPr>
                        <a:t>🧮  </a:t>
                      </a:r>
                      <a:r>
                        <a:rPr sz="900" b="1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مجموع گزینه محتاطانه</a:t>
                      </a:r>
                    </a:p>
                  </a:txBody>
                  <a:tcPr marT="12700" marR="127000" marB="12700" marL="76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14A89"/>
                    </a:solidFill>
                  </a:tcPr>
                </a:tc>
              </a:tr>
              <a:tr h="254000"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100" b="0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 </a:t>
                      </a:r>
                    </a:p>
                  </a:txBody>
                  <a:tcPr marT="0" marR="0" marB="0" marL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2356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100" b="0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 </a:t>
                      </a:r>
                    </a:p>
                  </a:txBody>
                  <a:tcPr marT="0" marR="0" marB="0" marL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2356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100" b="0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 </a:t>
                      </a:r>
                    </a:p>
                  </a:txBody>
                  <a:tcPr marT="0" marR="0" marB="0" marL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2356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100" b="0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 </a:t>
                      </a:r>
                    </a:p>
                  </a:txBody>
                  <a:tcPr marT="0" marR="0" marB="0" marL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2356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100" b="0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 </a:t>
                      </a:r>
                    </a:p>
                  </a:txBody>
                  <a:tcPr marT="0" marR="0" marB="0" marL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2356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100" b="0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 </a:t>
                      </a:r>
                    </a:p>
                  </a:txBody>
                  <a:tcPr marT="0" marR="0" marB="0" marL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2356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100" b="0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 </a:t>
                      </a:r>
                    </a:p>
                  </a:txBody>
                  <a:tcPr marT="0" marR="0" marB="0" marL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2356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100" b="0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 </a:t>
                      </a:r>
                    </a:p>
                  </a:txBody>
                  <a:tcPr marT="0" marR="0" marB="0" marL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2356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100" b="0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 </a:t>
                      </a:r>
                    </a:p>
                  </a:txBody>
                  <a:tcPr marT="0" marR="0" marB="0" marL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2356E"/>
                    </a:solidFill>
                  </a:tcPr>
                </a:tc>
              </a:tr>
              <a:tr h="241300"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۰٫۳۸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۰٫۲۷۷ درصد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950" b="1" lang="fa-IR">
                          <a:solidFill>
                            <a:srgbClr val="0F2F66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۱۳۵٫۶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DDECFC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۲ بار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۶۷٫۸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۳۳۹٬۰۷۰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۱۵ درصد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۲٬۲۶۰٬۴۶۶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r"/>
                      <a:r>
                        <a:rPr sz="800" b="0" lang="fa-IR">
                          <a:solidFill>
                            <a:srgbClr val="0D67C1"/>
                          </a:solidFill>
                          <a:latin typeface="Segoe UI Emoji"/>
                          <a:cs typeface="Segoe UI Emoji"/>
                          <a:ea typeface="Segoe UI Emoji"/>
                        </a:rPr>
                        <a:t>👤  </a:t>
                      </a:r>
                      <a:r>
                        <a:rPr sz="750" b="1" lang="fa-IR">
                          <a:solidFill>
                            <a:srgbClr val="0F2F66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۱۰۰ تا ۳۰۰ هزار تومان</a:t>
                      </a:r>
                    </a:p>
                  </a:txBody>
                  <a:tcPr marT="12700" marR="127000" marB="12700" marL="76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1300"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۰٫۳۹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۰٫۱۰۰ درصد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950" b="1" lang="fa-IR">
                          <a:solidFill>
                            <a:srgbClr val="0F2F66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۳۸۸٫۷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DDECFC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۲ بار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۱۹۴٫۴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۴۸۵٬۹۲۶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۱۳ درصد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۳٬۷۳۷٬۸۹۰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r"/>
                      <a:r>
                        <a:rPr sz="800" b="0" lang="fa-IR">
                          <a:solidFill>
                            <a:srgbClr val="0D67C1"/>
                          </a:solidFill>
                          <a:latin typeface="Segoe UI Emoji"/>
                          <a:cs typeface="Segoe UI Emoji"/>
                          <a:ea typeface="Segoe UI Emoji"/>
                        </a:rPr>
                        <a:t>👤  </a:t>
                      </a:r>
                      <a:r>
                        <a:rPr sz="750" b="1" lang="fa-IR">
                          <a:solidFill>
                            <a:srgbClr val="0F2F66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۳۰۰ تا ۵۰۰ هزار تومان</a:t>
                      </a:r>
                    </a:p>
                  </a:txBody>
                  <a:tcPr marT="12700" marR="127000" marB="12700" marL="76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EBF5FE"/>
                    </a:solidFill>
                  </a:tcPr>
                </a:tc>
              </a:tr>
              <a:tr h="241300"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۰٫۱۰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۰٫۰۴۶ درصد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950" b="1" lang="fa-IR">
                          <a:solidFill>
                            <a:srgbClr val="0F2F66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۲۱۰٫۳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DDECFC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۱ بار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۲۱۰٫۳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۲۸۰٬۳۴۲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۱۰ درصد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750" b="0" lang="fa-IR">
                          <a:solidFill>
                            <a:srgbClr val="2B4C7E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۲٬۸۰۳٬۴۱۶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r"/>
                      <a:r>
                        <a:rPr sz="800" b="0" lang="fa-IR">
                          <a:solidFill>
                            <a:srgbClr val="0D67C1"/>
                          </a:solidFill>
                          <a:latin typeface="Segoe UI Emoji"/>
                          <a:cs typeface="Segoe UI Emoji"/>
                          <a:ea typeface="Segoe UI Emoji"/>
                        </a:rPr>
                        <a:t>👤  </a:t>
                      </a:r>
                      <a:r>
                        <a:rPr sz="750" b="1" lang="fa-IR">
                          <a:solidFill>
                            <a:srgbClr val="0F2F66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۵۰۰ هزار تا ۱ میلیون تومان</a:t>
                      </a:r>
                    </a:p>
                  </a:txBody>
                  <a:tcPr marT="12700" marR="127000" marB="12700" marL="76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6E5F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800" b="1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۰٫۸۶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14A89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800" b="1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۰٫۱۱۷ درصد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14A89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1000" b="1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۷۳۴٫۶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14A89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800" b="1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—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14A89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800" b="1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۴۷۲٫۴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14A89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800" b="1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۱٬۱۰۵٬۳۳۷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14A89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800" b="1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۱۲٫۶ درصد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14A89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ctr"/>
                      <a:r>
                        <a:rPr sz="800" b="1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۸٬۸۰۱٬۷۷۲</a:t>
                      </a:r>
                    </a:p>
                  </a:txBody>
                  <a:tcPr marT="12700" marR="38100" marB="12700" marL="381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14A89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rtl="1" algn="r"/>
                      <a:r>
                        <a:rPr sz="850" b="0" lang="fa-IR">
                          <a:solidFill>
                            <a:srgbClr val="FFFFFF"/>
                          </a:solidFill>
                          <a:latin typeface="Segoe UI Emoji"/>
                          <a:cs typeface="Segoe UI Emoji"/>
                          <a:ea typeface="Segoe UI Emoji"/>
                        </a:rPr>
                        <a:t>🧮  </a:t>
                      </a:r>
                      <a:r>
                        <a:rPr sz="900" b="1" lang="fa-IR">
                          <a:solidFill>
                            <a:srgbClr val="FFFFFF"/>
                          </a:solidFill>
                          <a:latin typeface="IRANSansXFaNum"/>
                          <a:cs typeface="IRANSansXFaNum"/>
                          <a:ea typeface="IRANSansXFaNum"/>
                        </a:rPr>
                        <a:t>مجموع گزینه پر ریسک</a:t>
                      </a:r>
                    </a:p>
                  </a:txBody>
                  <a:tcPr marT="12700" marR="127000" marB="12700" marL="76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14A89"/>
                    </a:solidFill>
                  </a:tcPr>
                </a:tc>
              </a:tr>
            </a:tbl>
          </a:graphicData>
        </a:graphic>
      </p:graphicFrame>
      <p:sp>
        <p:nvSpPr>
          <p:cNvPr id="48" name="TextBox 47"/>
          <p:cNvSpPr txBox="1"/>
          <p:nvPr/>
        </p:nvSpPr>
        <p:spPr>
          <a:xfrm>
            <a:off x="482600" y="2044700"/>
            <a:ext cx="11226800" cy="254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rtl="1" algn="r"/>
            <a:r>
              <a:rPr sz="800" b="0" lang="fa-IR">
                <a:solidFill>
                  <a:srgbClr val="A9C6EA"/>
                </a:solidFill>
                <a:latin typeface="IRANSansXFaNum"/>
                <a:cs typeface="IRANSansXFaNum"/>
                <a:ea typeface="IRANSansXFaNum"/>
              </a:rPr>
              <a:t>گزینه ۱  </a:t>
            </a:r>
            <a:r>
              <a:rPr sz="950" b="1" lang="fa-IR">
                <a:solidFill>
                  <a:srgbClr val="FFFFFF"/>
                </a:solidFill>
                <a:latin typeface="IRANSansXFaNum"/>
                <a:cs typeface="IRANSansXFaNum"/>
                <a:ea typeface="IRANSansXFaNum"/>
              </a:rPr>
              <a:t>کم‌ریسک</a:t>
            </a:r>
            <a:r>
              <a:rPr sz="750" b="0" lang="fa-IR">
                <a:solidFill>
                  <a:srgbClr val="A9C6EA"/>
                </a:solidFill>
                <a:latin typeface="IRANSansXFaNum"/>
                <a:cs typeface="IRANSansXFaNum"/>
                <a:ea typeface="IRANSansXFaNum"/>
              </a:rPr>
              <a:t>   سقف‌ها پایین، تمرکز روی باند اول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2600" y="3289300"/>
            <a:ext cx="11226800" cy="254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rtl="1" algn="r"/>
            <a:r>
              <a:rPr sz="800" b="0" lang="fa-IR">
                <a:solidFill>
                  <a:srgbClr val="A9C6EA"/>
                </a:solidFill>
                <a:latin typeface="IRANSansXFaNum"/>
                <a:cs typeface="IRANSansXFaNum"/>
                <a:ea typeface="IRANSansXFaNum"/>
              </a:rPr>
              <a:t>گزینه ۲  </a:t>
            </a:r>
            <a:r>
              <a:rPr sz="950" b="1" lang="fa-IR">
                <a:solidFill>
                  <a:srgbClr val="FFFFFF"/>
                </a:solidFill>
                <a:latin typeface="IRANSansXFaNum"/>
                <a:cs typeface="IRANSansXFaNum"/>
                <a:ea typeface="IRANSansXFaNum"/>
              </a:rPr>
              <a:t>محتاطانه</a:t>
            </a:r>
            <a:r>
              <a:rPr sz="750" b="0" lang="fa-IR">
                <a:solidFill>
                  <a:srgbClr val="A9C6EA"/>
                </a:solidFill>
                <a:latin typeface="IRANSansXFaNum"/>
                <a:cs typeface="IRANSansXFaNum"/>
                <a:ea typeface="IRANSansXFaNum"/>
              </a:rPr>
              <a:t>   یک دهک در باند بالا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2600" y="4533900"/>
            <a:ext cx="11226800" cy="254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rtl="1" algn="r"/>
            <a:r>
              <a:rPr sz="800" b="0" lang="fa-IR">
                <a:solidFill>
                  <a:srgbClr val="A9C6EA"/>
                </a:solidFill>
                <a:latin typeface="IRANSansXFaNum"/>
                <a:cs typeface="IRANSansXFaNum"/>
                <a:ea typeface="IRANSansXFaNum"/>
              </a:rPr>
              <a:t>گزینه ۳  </a:t>
            </a:r>
            <a:r>
              <a:rPr sz="950" b="1" lang="fa-IR">
                <a:solidFill>
                  <a:srgbClr val="FFFFFF"/>
                </a:solidFill>
                <a:latin typeface="IRANSansXFaNum"/>
                <a:cs typeface="IRANSansXFaNum"/>
                <a:ea typeface="IRANSansXFaNum"/>
              </a:rPr>
              <a:t>پر ریسک</a:t>
            </a:r>
            <a:r>
              <a:rPr sz="750" b="0" lang="fa-IR">
                <a:solidFill>
                  <a:srgbClr val="A9C6EA"/>
                </a:solidFill>
                <a:latin typeface="IRANSansXFaNum"/>
                <a:cs typeface="IRANSansXFaNum"/>
                <a:ea typeface="IRANSansXFaNum"/>
              </a:rPr>
              <a:t>   سه دهک در باند بالا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55600" y="5867400"/>
            <a:ext cx="11480800" cy="381000"/>
          </a:xfrm>
          <a:prstGeom prst="roundRect">
            <a:avLst>
              <a:gd name="adj" fmla="val 30000"/>
            </a:avLst>
          </a:prstGeom>
          <a:solidFill>
            <a:srgbClr val="E7F0FC"/>
          </a:solidFill>
          <a:ln w="9525">
            <a:solidFill>
              <a:srgbClr val="CFE1F7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04600" y="5867400"/>
            <a:ext cx="330200" cy="381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rtl="1" algn="ctr"/>
            <a:r>
              <a:rPr sz="1200" b="0" lang="fa-IR">
                <a:solidFill>
                  <a:srgbClr val="0D67C1"/>
                </a:solidFill>
                <a:latin typeface="Segoe UI Emoji"/>
                <a:cs typeface="Segoe UI Emoji"/>
                <a:ea typeface="Segoe UI Emoji"/>
              </a:rPr>
              <a:t>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8000" y="5867400"/>
            <a:ext cx="10769600" cy="381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rtl="1" algn="r"/>
            <a:r>
              <a:rPr sz="850" b="1" lang="fa-IR">
                <a:solidFill>
                  <a:srgbClr val="12356E"/>
                </a:solidFill>
                <a:latin typeface="IRANSansXFaNum"/>
                <a:cs typeface="IRANSansXFaNum"/>
                <a:ea typeface="IRANSansXFaNum"/>
              </a:rPr>
              <a:t>تکرار وام تا پایان سال: سقف‌های ۳۰۰ و ۵۰۰ هزار دو بار، سقف ۱ میلیون یک بار   |   ضریب نفوذ به تفکیک باند ۱۵، ۱۳ و ۱۰ درصد   |   سقف میانی هر باند ۲۰۰، ۴۰۰ و ۷۵۰ هزار تومان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5600" y="6273800"/>
            <a:ext cx="114808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rtl="1" algn="r">
              <a:lnSpc>
                <a:spcPct val="140000"/>
              </a:lnSpc>
            </a:pPr>
            <a:r>
              <a:rPr sz="750" b="0" lang="fa-IR">
                <a:solidFill>
                  <a:srgbClr val="6E88B4"/>
                </a:solidFill>
                <a:latin typeface="Segoe UI Emoji"/>
                <a:cs typeface="Segoe UI Emoji"/>
                <a:ea typeface="Segoe UI Emoji"/>
              </a:rPr>
              <a:t>⚠️  </a:t>
            </a:r>
            <a:r>
              <a:rPr sz="750" b="0" lang="fa-IR">
                <a:solidFill>
                  <a:srgbClr val="6E88B4"/>
                </a:solidFill>
                <a:latin typeface="IRANSansXFaNum"/>
                <a:cs typeface="IRANSansXFaNum"/>
                <a:ea typeface="IRANSansXFaNum"/>
              </a:rPr>
              <a:t>قاعدهٔ سقف می‌گوید وام باید از قبض یک ماه مشترک کمتر بماند، ولی فقط ۳۶۹٬۶۷۷ مشترک قبض بالای ۵۰۰ هزار تومان دارند؛ ضریب نفوذ و دفعات وام فرض است و اندازه‌گیری نشده؛ نرخ نکول وزن‌دار بر حسب مبلغ است، نه تعداد نفرات؛ برای مقایسه، با ۳ بار وام در سال اعطایی ۹۱۶، ۱٬۱۰۳ و ۱٬۴۱۷ میلیارد می‌شود.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