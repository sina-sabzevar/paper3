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622800" y="228600"/>
            <a:ext cx="7112000" cy="381000"/>
          </a:xfrm>
          <a:prstGeom prst="rect">
            <a:avLst/>
          </a:prstGeom>
          <a:noFill/>
        </p:spPr>
        <p:txBody>
          <a:bodyPr wrap="none" lIns="0" rIns="0" tIns="0" bIns="0" anchor="ctr">
            <a:noAutofit/>
          </a:bodyPr>
          <a:lstStyle/>
          <a:p>
            <a:pPr rtl="1" algn="r"/>
            <a:r>
              <a:rPr sz="2000" b="1" lang="fa-IR">
                <a:solidFill>
                  <a:srgbClr val="0B0B0B"/>
                </a:solidFill>
                <a:latin typeface="Tahoma"/>
                <a:cs typeface="Tahoma"/>
                <a:ea typeface="Tahoma"/>
              </a:rPr>
              <a:t>مدل اعتبارسنجی — چطور کار می‌کند</a:t>
            </a:r>
          </a:p>
        </p:txBody>
      </p:sp>
      <p:sp>
        <p:nvSpPr>
          <p:cNvPr id="3" name="TextBox 2"/>
          <p:cNvSpPr txBox="1"/>
          <p:nvPr/>
        </p:nvSpPr>
        <p:spPr>
          <a:xfrm>
            <a:off x="457200" y="279400"/>
            <a:ext cx="3810000" cy="254000"/>
          </a:xfrm>
          <a:prstGeom prst="rect">
            <a:avLst/>
          </a:prstGeom>
          <a:noFill/>
        </p:spPr>
        <p:txBody>
          <a:bodyPr wrap="none" lIns="0" rIns="0" tIns="0" bIns="0" anchor="ctr">
            <a:noAutofit/>
          </a:bodyPr>
          <a:lstStyle/>
          <a:p>
            <a:pPr rtl="1" algn="l"/>
            <a:r>
              <a:rPr sz="900" b="0" lang="fa-IR">
                <a:solidFill>
                  <a:srgbClr val="86857F"/>
                </a:solidFill>
                <a:latin typeface="Tahoma"/>
                <a:cs typeface="Tahoma"/>
                <a:ea typeface="Tahoma"/>
              </a:rPr>
              <a:t>اعتبار روی قبض، یک‌ماهه، مهر ۱۴۰۵</a:t>
            </a:r>
          </a:p>
        </p:txBody>
      </p:sp>
      <p:cxnSp>
        <p:nvCxnSpPr>
          <p:cNvPr id="4" name="Connector 3"/>
          <p:cNvCxnSpPr/>
          <p:nvPr/>
        </p:nvCxnSpPr>
        <p:spPr>
          <a:xfrm>
            <a:off x="457200" y="685800"/>
            <a:ext cx="11277600" cy="0"/>
          </a:xfrm>
          <a:prstGeom prst="line">
            <a:avLst/>
          </a:prstGeom>
          <a:ln w="17780">
            <a:solidFill>
              <a:srgbClr val="0B0B0B"/>
            </a:solidFill>
          </a:ln>
          <a:effectLst/>
        </p:spPr>
      </p:cxnSp>
      <p:sp>
        <p:nvSpPr>
          <p:cNvPr id="5" name="TextBox 4"/>
          <p:cNvSpPr txBox="1"/>
          <p:nvPr/>
        </p:nvSpPr>
        <p:spPr>
          <a:xfrm>
            <a:off x="7924800" y="816864"/>
            <a:ext cx="3810000" cy="177800"/>
          </a:xfrm>
          <a:prstGeom prst="rect">
            <a:avLst/>
          </a:prstGeom>
          <a:noFill/>
        </p:spPr>
        <p:txBody>
          <a:bodyPr wrap="none" lIns="0" rIns="0" tIns="0" bIns="0" anchor="ctr">
            <a:noAutofit/>
          </a:bodyPr>
          <a:lstStyle/>
          <a:p>
            <a:pPr rtl="1" algn="r"/>
            <a:r>
              <a:rPr sz="1000" b="1" lang="fa-IR">
                <a:solidFill>
                  <a:srgbClr val="86857F"/>
                </a:solidFill>
                <a:latin typeface="Tahoma"/>
                <a:cs typeface="Tahoma"/>
                <a:ea typeface="Tahoma"/>
              </a:rPr>
              <a:t>۱   مدل چطور یاد گرفت</a:t>
            </a:r>
          </a:p>
        </p:txBody>
      </p:sp>
      <p:cxnSp>
        <p:nvCxnSpPr>
          <p:cNvPr id="6" name="Connector 5"/>
          <p:cNvCxnSpPr/>
          <p:nvPr/>
        </p:nvCxnSpPr>
        <p:spPr>
          <a:xfrm>
            <a:off x="457200" y="1050544"/>
            <a:ext cx="11277600" cy="0"/>
          </a:xfrm>
          <a:prstGeom prst="line">
            <a:avLst/>
          </a:prstGeom>
          <a:ln w="9525">
            <a:solidFill>
              <a:srgbClr val="E2E1DB"/>
            </a:solidFill>
          </a:ln>
          <a:effectLst/>
        </p:spPr>
      </p:cxnSp>
      <p:sp>
        <p:nvSpPr>
          <p:cNvPr id="7" name="Rounded Rectangle 6"/>
          <p:cNvSpPr/>
          <p:nvPr/>
        </p:nvSpPr>
        <p:spPr>
          <a:xfrm>
            <a:off x="8727440" y="1163320"/>
            <a:ext cx="3007360" cy="1165352"/>
          </a:xfrm>
          <a:prstGeom prst="roundRect">
            <a:avLst>
              <a:gd name="adj" fmla="val 7000"/>
            </a:avLst>
          </a:prstGeom>
          <a:solidFill>
            <a:srgbClr val="F6F6F3"/>
          </a:solidFill>
          <a:ln w="9525">
            <a:solidFill>
              <a:srgbClr val="E2E1DB"/>
            </a:solidFill>
          </a:ln>
          <a:effectLst/>
        </p:spPr>
        <p:txBody>
          <a:bodyPr rtlCol="0" anchor="ctr" wrap="none"/>
          <a:lstStyle/>
          <a:p>
            <a:pPr algn="ctr"/>
          </a:p>
        </p:txBody>
      </p:sp>
      <p:sp>
        <p:nvSpPr>
          <p:cNvPr id="8" name="TextBox 7"/>
          <p:cNvSpPr txBox="1"/>
          <p:nvPr/>
        </p:nvSpPr>
        <p:spPr>
          <a:xfrm>
            <a:off x="8727440" y="1163320"/>
            <a:ext cx="3007360" cy="1165352"/>
          </a:xfrm>
          <a:prstGeom prst="rect">
            <a:avLst/>
          </a:prstGeom>
          <a:noFill/>
        </p:spPr>
        <p:txBody>
          <a:bodyPr wrap="none" lIns="0" rIns="0" tIns="0" bIns="0" anchor="ctr">
            <a:noAutofit/>
          </a:bodyPr>
          <a:lstStyle/>
          <a:p>
            <a:pPr rtl="1" algn="ctr"/>
            <a:r>
              <a:rPr sz="1300" b="1" lang="fa-IR">
                <a:solidFill>
                  <a:srgbClr val="0B0B0B"/>
                </a:solidFill>
                <a:latin typeface="Tahoma"/>
                <a:cs typeface="Tahoma"/>
                <a:ea typeface="Tahoma"/>
              </a:rPr>
              <a:t>رفتار ۶ ماههٔ مشترک</a:t>
            </a:r>
          </a:p>
          <a:p>
            <a:pPr rtl="1" algn="ctr"/>
            <a:r>
              <a:rPr sz="1050" b="0" lang="fa-IR">
                <a:solidFill>
                  <a:srgbClr val="4E4D4A"/>
                </a:solidFill>
                <a:latin typeface="Tahoma"/>
                <a:cs typeface="Tahoma"/>
                <a:ea typeface="Tahoma"/>
              </a:rPr>
              <a:t>مهر تا اسفند ۱۴۰۴</a:t>
            </a:r>
          </a:p>
          <a:p>
            <a:pPr rtl="1" algn="ctr"/>
            <a:r>
              <a:rPr sz="950" b="0" lang="fa-IR">
                <a:solidFill>
                  <a:srgbClr val="86857F"/>
                </a:solidFill>
                <a:latin typeface="Tahoma"/>
                <a:cs typeface="Tahoma"/>
                <a:ea typeface="Tahoma"/>
              </a:rPr>
              <a:t>۳۹ ویژگی از حساب خودش</a:t>
            </a:r>
          </a:p>
        </p:txBody>
      </p:sp>
      <p:sp>
        <p:nvSpPr>
          <p:cNvPr id="9" name="Rounded Rectangle 8"/>
          <p:cNvSpPr/>
          <p:nvPr/>
        </p:nvSpPr>
        <p:spPr>
          <a:xfrm>
            <a:off x="5250180" y="1163320"/>
            <a:ext cx="2255520" cy="1165352"/>
          </a:xfrm>
          <a:prstGeom prst="roundRect">
            <a:avLst>
              <a:gd name="adj" fmla="val 7000"/>
            </a:avLst>
          </a:prstGeom>
          <a:solidFill>
            <a:srgbClr val="DBE6F2"/>
          </a:solidFill>
          <a:ln w="9525">
            <a:solidFill>
              <a:srgbClr val="2A78D6"/>
            </a:solidFill>
          </a:ln>
          <a:effectLst/>
        </p:spPr>
        <p:txBody>
          <a:bodyPr rtlCol="0" anchor="ctr" wrap="none"/>
          <a:lstStyle/>
          <a:p>
            <a:pPr algn="ctr"/>
          </a:p>
        </p:txBody>
      </p:sp>
      <p:sp>
        <p:nvSpPr>
          <p:cNvPr id="10" name="TextBox 9"/>
          <p:cNvSpPr txBox="1"/>
          <p:nvPr/>
        </p:nvSpPr>
        <p:spPr>
          <a:xfrm>
            <a:off x="5250180" y="1163320"/>
            <a:ext cx="2255520" cy="1165352"/>
          </a:xfrm>
          <a:prstGeom prst="rect">
            <a:avLst/>
          </a:prstGeom>
          <a:noFill/>
        </p:spPr>
        <p:txBody>
          <a:bodyPr wrap="none" lIns="0" rIns="0" tIns="0" bIns="0" anchor="ctr">
            <a:noAutofit/>
          </a:bodyPr>
          <a:lstStyle/>
          <a:p>
            <a:pPr rtl="1" algn="ctr"/>
            <a:r>
              <a:rPr sz="1300" b="1" lang="fa-IR">
                <a:solidFill>
                  <a:srgbClr val="2A78D6"/>
                </a:solidFill>
                <a:latin typeface="Tahoma"/>
                <a:cs typeface="Tahoma"/>
                <a:ea typeface="Tahoma"/>
              </a:rPr>
              <a:t>آموزش مدل</a:t>
            </a:r>
          </a:p>
          <a:p>
            <a:pPr rtl="1" algn="ctr"/>
            <a:r>
              <a:rPr sz="950" b="0" lang="fa-IR">
                <a:solidFill>
                  <a:srgbClr val="86857F"/>
                </a:solidFill>
                <a:latin typeface="Tahoma"/>
                <a:cs typeface="Tahoma"/>
                <a:ea typeface="Tahoma"/>
              </a:rPr>
              <a:t>روی همین دوره</a:t>
            </a:r>
          </a:p>
        </p:txBody>
      </p:sp>
      <p:sp>
        <p:nvSpPr>
          <p:cNvPr id="11" name="Rounded Rectangle 10"/>
          <p:cNvSpPr/>
          <p:nvPr/>
        </p:nvSpPr>
        <p:spPr>
          <a:xfrm>
            <a:off x="457200" y="1163320"/>
            <a:ext cx="3571240" cy="1165352"/>
          </a:xfrm>
          <a:prstGeom prst="roundRect">
            <a:avLst>
              <a:gd name="adj" fmla="val 7000"/>
            </a:avLst>
          </a:prstGeom>
          <a:solidFill>
            <a:srgbClr val="F6F6F3"/>
          </a:solidFill>
          <a:ln w="9525">
            <a:solidFill>
              <a:srgbClr val="E2E1DB"/>
            </a:solidFill>
          </a:ln>
          <a:effectLst/>
        </p:spPr>
        <p:txBody>
          <a:bodyPr rtlCol="0" anchor="ctr" wrap="none"/>
          <a:lstStyle/>
          <a:p>
            <a:pPr algn="ctr"/>
          </a:p>
        </p:txBody>
      </p:sp>
      <p:sp>
        <p:nvSpPr>
          <p:cNvPr id="12" name="TextBox 11"/>
          <p:cNvSpPr txBox="1"/>
          <p:nvPr/>
        </p:nvSpPr>
        <p:spPr>
          <a:xfrm>
            <a:off x="457200" y="1163320"/>
            <a:ext cx="3571240" cy="1165352"/>
          </a:xfrm>
          <a:prstGeom prst="rect">
            <a:avLst/>
          </a:prstGeom>
          <a:noFill/>
        </p:spPr>
        <p:txBody>
          <a:bodyPr wrap="none" lIns="0" rIns="0" tIns="0" bIns="0" anchor="ctr">
            <a:noAutofit/>
          </a:bodyPr>
          <a:lstStyle/>
          <a:p>
            <a:pPr rtl="1" algn="ctr"/>
            <a:r>
              <a:rPr sz="1300" b="1" lang="fa-IR">
                <a:solidFill>
                  <a:srgbClr val="0B0B0B"/>
                </a:solidFill>
                <a:latin typeface="Tahoma"/>
                <a:cs typeface="Tahoma"/>
                <a:ea typeface="Tahoma"/>
              </a:rPr>
              <a:t>نتیجهٔ ۶ ماه بعد</a:t>
            </a:r>
          </a:p>
          <a:p>
            <a:pPr rtl="1" algn="ctr"/>
            <a:r>
              <a:rPr sz="1050" b="0" lang="fa-IR">
                <a:solidFill>
                  <a:srgbClr val="4E4D4A"/>
                </a:solidFill>
                <a:latin typeface="Tahoma"/>
                <a:cs typeface="Tahoma"/>
                <a:ea typeface="Tahoma"/>
              </a:rPr>
              <a:t>فروردین تا شهریور ۱۴۰۵</a:t>
            </a:r>
          </a:p>
          <a:p>
            <a:pPr rtl="1" algn="ctr"/>
            <a:r>
              <a:rPr sz="950" b="0" lang="fa-IR">
                <a:solidFill>
                  <a:srgbClr val="86857F"/>
                </a:solidFill>
                <a:latin typeface="Tahoma"/>
                <a:cs typeface="Tahoma"/>
                <a:ea typeface="Tahoma"/>
              </a:rPr>
              <a:t>بد = مشترکی که به قطع دوطرفه رسید</a:t>
            </a:r>
          </a:p>
        </p:txBody>
      </p:sp>
      <p:cxnSp>
        <p:nvCxnSpPr>
          <p:cNvPr id="13" name="Connector 12"/>
          <p:cNvCxnSpPr/>
          <p:nvPr/>
        </p:nvCxnSpPr>
        <p:spPr>
          <a:xfrm flipH="1">
            <a:off x="7543292" y="1745996"/>
            <a:ext cx="1146556" cy="0"/>
          </a:xfrm>
          <a:prstGeom prst="line">
            <a:avLst/>
          </a:prstGeom>
          <a:ln w="13970">
            <a:solidFill>
              <a:srgbClr val="4E4D4A"/>
            </a:solidFill>
            <a:tailEnd type="triangle" w="med" len="med"/>
          </a:ln>
          <a:effectLst/>
        </p:spPr>
      </p:cxnSp>
      <p:sp>
        <p:nvSpPr>
          <p:cNvPr id="14" name="TextBox 13"/>
          <p:cNvSpPr txBox="1"/>
          <p:nvPr/>
        </p:nvSpPr>
        <p:spPr>
          <a:xfrm>
            <a:off x="7965440" y="1520444"/>
            <a:ext cx="1524000" cy="152400"/>
          </a:xfrm>
          <a:prstGeom prst="rect">
            <a:avLst/>
          </a:prstGeom>
          <a:noFill/>
        </p:spPr>
        <p:txBody>
          <a:bodyPr wrap="none" lIns="0" rIns="0" tIns="0" bIns="0" anchor="ctr">
            <a:noAutofit/>
          </a:bodyPr>
          <a:lstStyle/>
          <a:p>
            <a:pPr rtl="1" algn="ctr"/>
            <a:r>
              <a:rPr sz="950" b="0" lang="fa-IR">
                <a:solidFill>
                  <a:srgbClr val="86857F"/>
                </a:solidFill>
                <a:latin typeface="Tahoma"/>
                <a:cs typeface="Tahoma"/>
                <a:ea typeface="Tahoma"/>
              </a:rPr>
              <a:t>ویژگی‌ها</a:t>
            </a:r>
          </a:p>
        </p:txBody>
      </p:sp>
      <p:cxnSp>
        <p:nvCxnSpPr>
          <p:cNvPr id="15" name="Connector 14"/>
          <p:cNvCxnSpPr/>
          <p:nvPr/>
        </p:nvCxnSpPr>
        <p:spPr>
          <a:xfrm>
            <a:off x="4066032" y="1745996"/>
            <a:ext cx="1146556" cy="0"/>
          </a:xfrm>
          <a:prstGeom prst="line">
            <a:avLst/>
          </a:prstGeom>
          <a:ln w="13970">
            <a:solidFill>
              <a:srgbClr val="4E4D4A"/>
            </a:solidFill>
            <a:tailEnd type="triangle" w="med" len="med"/>
          </a:ln>
          <a:effectLst/>
        </p:spPr>
      </p:cxnSp>
      <p:sp>
        <p:nvSpPr>
          <p:cNvPr id="16" name="TextBox 15"/>
          <p:cNvSpPr txBox="1"/>
          <p:nvPr/>
        </p:nvSpPr>
        <p:spPr>
          <a:xfrm>
            <a:off x="3266440" y="1520444"/>
            <a:ext cx="1524000" cy="152400"/>
          </a:xfrm>
          <a:prstGeom prst="rect">
            <a:avLst/>
          </a:prstGeom>
          <a:noFill/>
        </p:spPr>
        <p:txBody>
          <a:bodyPr wrap="none" lIns="0" rIns="0" tIns="0" bIns="0" anchor="ctr">
            <a:noAutofit/>
          </a:bodyPr>
          <a:lstStyle/>
          <a:p>
            <a:pPr rtl="1" algn="ctr"/>
            <a:r>
              <a:rPr sz="950" b="0" lang="fa-IR">
                <a:solidFill>
                  <a:srgbClr val="86857F"/>
                </a:solidFill>
                <a:latin typeface="Tahoma"/>
                <a:cs typeface="Tahoma"/>
                <a:ea typeface="Tahoma"/>
              </a:rPr>
              <a:t>جوابِ درست</a:t>
            </a:r>
          </a:p>
        </p:txBody>
      </p:sp>
      <p:sp>
        <p:nvSpPr>
          <p:cNvPr id="17" name="TextBox 16"/>
          <p:cNvSpPr txBox="1"/>
          <p:nvPr/>
        </p:nvSpPr>
        <p:spPr>
          <a:xfrm>
            <a:off x="2885440" y="2403856"/>
            <a:ext cx="3556000" cy="177800"/>
          </a:xfrm>
          <a:prstGeom prst="rect">
            <a:avLst/>
          </a:prstGeom>
          <a:noFill/>
        </p:spPr>
        <p:txBody>
          <a:bodyPr wrap="none" lIns="0" rIns="0" tIns="0" bIns="0" anchor="ctr">
            <a:noAutofit/>
          </a:bodyPr>
          <a:lstStyle/>
          <a:p>
            <a:pPr rtl="1" algn="ctr"/>
            <a:r>
              <a:rPr sz="950" b="0" lang="fa-IR">
                <a:solidFill>
                  <a:srgbClr val="86857F"/>
                </a:solidFill>
                <a:latin typeface="Tahoma"/>
                <a:cs typeface="Tahoma"/>
                <a:ea typeface="Tahoma"/>
              </a:rPr>
              <a:t>در این دوره جواب معلوم است — مدل همین را یاد می‌گیرد</a:t>
            </a:r>
          </a:p>
        </p:txBody>
      </p:sp>
      <p:sp>
        <p:nvSpPr>
          <p:cNvPr id="18" name="TextBox 17"/>
          <p:cNvSpPr txBox="1"/>
          <p:nvPr/>
        </p:nvSpPr>
        <p:spPr>
          <a:xfrm>
            <a:off x="7924800" y="2658872"/>
            <a:ext cx="3810000" cy="177800"/>
          </a:xfrm>
          <a:prstGeom prst="rect">
            <a:avLst/>
          </a:prstGeom>
          <a:noFill/>
        </p:spPr>
        <p:txBody>
          <a:bodyPr wrap="none" lIns="0" rIns="0" tIns="0" bIns="0" anchor="ctr">
            <a:noAutofit/>
          </a:bodyPr>
          <a:lstStyle/>
          <a:p>
            <a:pPr rtl="1" algn="r"/>
            <a:r>
              <a:rPr sz="1000" b="1" lang="fa-IR">
                <a:solidFill>
                  <a:srgbClr val="86857F"/>
                </a:solidFill>
                <a:latin typeface="Tahoma"/>
                <a:cs typeface="Tahoma"/>
                <a:ea typeface="Tahoma"/>
              </a:rPr>
              <a:t>۲   امروز چطور کار می‌کند</a:t>
            </a:r>
          </a:p>
        </p:txBody>
      </p:sp>
      <p:cxnSp>
        <p:nvCxnSpPr>
          <p:cNvPr id="19" name="Connector 18"/>
          <p:cNvCxnSpPr/>
          <p:nvPr/>
        </p:nvCxnSpPr>
        <p:spPr>
          <a:xfrm>
            <a:off x="457200" y="2892552"/>
            <a:ext cx="11277600" cy="0"/>
          </a:xfrm>
          <a:prstGeom prst="line">
            <a:avLst/>
          </a:prstGeom>
          <a:ln w="9525">
            <a:solidFill>
              <a:srgbClr val="E2E1DB"/>
            </a:solidFill>
          </a:ln>
          <a:effectLst/>
        </p:spPr>
      </p:cxnSp>
      <p:sp>
        <p:nvSpPr>
          <p:cNvPr id="20" name="Rounded Rectangle 19"/>
          <p:cNvSpPr/>
          <p:nvPr/>
        </p:nvSpPr>
        <p:spPr>
          <a:xfrm>
            <a:off x="8727440" y="3005328"/>
            <a:ext cx="3007360" cy="1165352"/>
          </a:xfrm>
          <a:prstGeom prst="roundRect">
            <a:avLst>
              <a:gd name="adj" fmla="val 7000"/>
            </a:avLst>
          </a:prstGeom>
          <a:solidFill>
            <a:srgbClr val="F6F6F3"/>
          </a:solidFill>
          <a:ln w="9525">
            <a:solidFill>
              <a:srgbClr val="E2E1DB"/>
            </a:solidFill>
          </a:ln>
          <a:effectLst/>
        </p:spPr>
        <p:txBody>
          <a:bodyPr rtlCol="0" anchor="ctr" wrap="none"/>
          <a:lstStyle/>
          <a:p>
            <a:pPr algn="ctr"/>
          </a:p>
        </p:txBody>
      </p:sp>
      <p:sp>
        <p:nvSpPr>
          <p:cNvPr id="21" name="TextBox 20"/>
          <p:cNvSpPr txBox="1"/>
          <p:nvPr/>
        </p:nvSpPr>
        <p:spPr>
          <a:xfrm>
            <a:off x="8727440" y="3005328"/>
            <a:ext cx="3007360" cy="1165352"/>
          </a:xfrm>
          <a:prstGeom prst="rect">
            <a:avLst/>
          </a:prstGeom>
          <a:noFill/>
        </p:spPr>
        <p:txBody>
          <a:bodyPr wrap="none" lIns="0" rIns="0" tIns="0" bIns="0" anchor="ctr">
            <a:noAutofit/>
          </a:bodyPr>
          <a:lstStyle/>
          <a:p>
            <a:pPr rtl="1" algn="ctr"/>
            <a:r>
              <a:rPr sz="1300" b="1" lang="fa-IR">
                <a:solidFill>
                  <a:srgbClr val="0B0B0B"/>
                </a:solidFill>
                <a:latin typeface="Tahoma"/>
                <a:cs typeface="Tahoma"/>
                <a:ea typeface="Tahoma"/>
              </a:rPr>
              <a:t>رفتار ۶ ماههٔ مشترک</a:t>
            </a:r>
          </a:p>
          <a:p>
            <a:pPr rtl="1" algn="ctr"/>
            <a:r>
              <a:rPr sz="1050" b="0" lang="fa-IR">
                <a:solidFill>
                  <a:srgbClr val="4E4D4A"/>
                </a:solidFill>
                <a:latin typeface="Tahoma"/>
                <a:cs typeface="Tahoma"/>
                <a:ea typeface="Tahoma"/>
              </a:rPr>
              <a:t>فروردین تا شهریور ۱۴۰۵</a:t>
            </a:r>
          </a:p>
          <a:p>
            <a:pPr rtl="1" algn="ctr"/>
            <a:r>
              <a:rPr sz="950" b="0" lang="fa-IR">
                <a:solidFill>
                  <a:srgbClr val="86857F"/>
                </a:solidFill>
                <a:latin typeface="Tahoma"/>
                <a:cs typeface="Tahoma"/>
                <a:ea typeface="Tahoma"/>
              </a:rPr>
              <a:t>همان ۳۹ ویژگی</a:t>
            </a:r>
          </a:p>
        </p:txBody>
      </p:sp>
      <p:sp>
        <p:nvSpPr>
          <p:cNvPr id="22" name="Rounded Rectangle 21"/>
          <p:cNvSpPr/>
          <p:nvPr/>
        </p:nvSpPr>
        <p:spPr>
          <a:xfrm>
            <a:off x="5250180" y="3005328"/>
            <a:ext cx="2255520" cy="1165352"/>
          </a:xfrm>
          <a:prstGeom prst="roundRect">
            <a:avLst>
              <a:gd name="adj" fmla="val 7000"/>
            </a:avLst>
          </a:prstGeom>
          <a:solidFill>
            <a:srgbClr val="DBE6F2"/>
          </a:solidFill>
          <a:ln w="9525">
            <a:solidFill>
              <a:srgbClr val="2A78D6"/>
            </a:solidFill>
          </a:ln>
          <a:effectLst/>
        </p:spPr>
        <p:txBody>
          <a:bodyPr rtlCol="0" anchor="ctr" wrap="none"/>
          <a:lstStyle/>
          <a:p>
            <a:pPr algn="ctr"/>
          </a:p>
        </p:txBody>
      </p:sp>
      <p:sp>
        <p:nvSpPr>
          <p:cNvPr id="23" name="TextBox 22"/>
          <p:cNvSpPr txBox="1"/>
          <p:nvPr/>
        </p:nvSpPr>
        <p:spPr>
          <a:xfrm>
            <a:off x="5250180" y="3005328"/>
            <a:ext cx="2255520" cy="1165352"/>
          </a:xfrm>
          <a:prstGeom prst="rect">
            <a:avLst/>
          </a:prstGeom>
          <a:noFill/>
        </p:spPr>
        <p:txBody>
          <a:bodyPr wrap="none" lIns="0" rIns="0" tIns="0" bIns="0" anchor="ctr">
            <a:noAutofit/>
          </a:bodyPr>
          <a:lstStyle/>
          <a:p>
            <a:pPr rtl="1" algn="ctr"/>
            <a:r>
              <a:rPr sz="1300" b="1" lang="fa-IR">
                <a:solidFill>
                  <a:srgbClr val="2A78D6"/>
                </a:solidFill>
                <a:latin typeface="Tahoma"/>
                <a:cs typeface="Tahoma"/>
                <a:ea typeface="Tahoma"/>
              </a:rPr>
              <a:t>همان مدل</a:t>
            </a:r>
          </a:p>
          <a:p>
            <a:pPr rtl="1" algn="ctr"/>
            <a:r>
              <a:rPr sz="950" b="0" lang="fa-IR">
                <a:solidFill>
                  <a:srgbClr val="86857F"/>
                </a:solidFill>
                <a:latin typeface="Tahoma"/>
                <a:cs typeface="Tahoma"/>
                <a:ea typeface="Tahoma"/>
              </a:rPr>
              <a:t>بدون تغییر</a:t>
            </a:r>
          </a:p>
        </p:txBody>
      </p:sp>
      <p:sp>
        <p:nvSpPr>
          <p:cNvPr id="24" name="Rounded Rectangle 23"/>
          <p:cNvSpPr/>
          <p:nvPr/>
        </p:nvSpPr>
        <p:spPr>
          <a:xfrm>
            <a:off x="457200" y="3005328"/>
            <a:ext cx="3571240" cy="1165352"/>
          </a:xfrm>
          <a:prstGeom prst="roundRect">
            <a:avLst>
              <a:gd name="adj" fmla="val 7000"/>
            </a:avLst>
          </a:prstGeom>
          <a:solidFill>
            <a:srgbClr val="E4EBF3"/>
          </a:solidFill>
          <a:ln w="9525">
            <a:solidFill>
              <a:srgbClr val="8FB2D9"/>
            </a:solidFill>
          </a:ln>
          <a:effectLst/>
        </p:spPr>
        <p:txBody>
          <a:bodyPr rtlCol="0" anchor="ctr" wrap="none"/>
          <a:lstStyle/>
          <a:p>
            <a:pPr algn="ctr"/>
          </a:p>
        </p:txBody>
      </p:sp>
      <p:sp>
        <p:nvSpPr>
          <p:cNvPr id="25" name="TextBox 24"/>
          <p:cNvSpPr txBox="1"/>
          <p:nvPr/>
        </p:nvSpPr>
        <p:spPr>
          <a:xfrm>
            <a:off x="457200" y="3005328"/>
            <a:ext cx="3571240" cy="1165352"/>
          </a:xfrm>
          <a:prstGeom prst="rect">
            <a:avLst/>
          </a:prstGeom>
          <a:noFill/>
        </p:spPr>
        <p:txBody>
          <a:bodyPr wrap="none" lIns="0" rIns="0" tIns="0" bIns="0" anchor="ctr">
            <a:noAutofit/>
          </a:bodyPr>
          <a:lstStyle/>
          <a:p>
            <a:pPr rtl="1" algn="ctr"/>
            <a:r>
              <a:rPr sz="1300" b="1" lang="fa-IR">
                <a:solidFill>
                  <a:srgbClr val="0B0B0B"/>
                </a:solidFill>
                <a:latin typeface="Tahoma"/>
                <a:cs typeface="Tahoma"/>
                <a:ea typeface="Tahoma"/>
              </a:rPr>
              <a:t>احتمال نکول هر مشترک</a:t>
            </a:r>
          </a:p>
          <a:p>
            <a:pPr rtl="1" algn="ctr"/>
            <a:r>
              <a:rPr sz="1050" b="0" lang="fa-IR">
                <a:solidFill>
                  <a:srgbClr val="4E4D4A"/>
                </a:solidFill>
                <a:latin typeface="Tahoma"/>
                <a:cs typeface="Tahoma"/>
                <a:ea typeface="Tahoma"/>
              </a:rPr>
              <a:t>برای هر یک از ۹٬۳۴۴٬۷۲۳ مشترک</a:t>
            </a:r>
          </a:p>
          <a:p>
            <a:pPr rtl="1" algn="ctr"/>
            <a:r>
              <a:rPr sz="950" b="0" lang="fa-IR">
                <a:solidFill>
                  <a:srgbClr val="86857F"/>
                </a:solidFill>
                <a:latin typeface="Tahoma"/>
                <a:cs typeface="Tahoma"/>
                <a:ea typeface="Tahoma"/>
              </a:rPr>
              <a:t>از ۴۱٫۳ میلیون مشترک دائمی، پس از غربال</a:t>
            </a:r>
          </a:p>
        </p:txBody>
      </p:sp>
      <p:cxnSp>
        <p:nvCxnSpPr>
          <p:cNvPr id="26" name="Connector 25"/>
          <p:cNvCxnSpPr/>
          <p:nvPr/>
        </p:nvCxnSpPr>
        <p:spPr>
          <a:xfrm flipH="1">
            <a:off x="7543292" y="3588004"/>
            <a:ext cx="1146556" cy="0"/>
          </a:xfrm>
          <a:prstGeom prst="line">
            <a:avLst/>
          </a:prstGeom>
          <a:ln w="13970">
            <a:solidFill>
              <a:srgbClr val="4E4D4A"/>
            </a:solidFill>
            <a:tailEnd type="triangle" w="med" len="med"/>
          </a:ln>
          <a:effectLst/>
        </p:spPr>
      </p:cxnSp>
      <p:sp>
        <p:nvSpPr>
          <p:cNvPr id="27" name="TextBox 26"/>
          <p:cNvSpPr txBox="1"/>
          <p:nvPr/>
        </p:nvSpPr>
        <p:spPr>
          <a:xfrm>
            <a:off x="7965440" y="3362452"/>
            <a:ext cx="1524000" cy="152400"/>
          </a:xfrm>
          <a:prstGeom prst="rect">
            <a:avLst/>
          </a:prstGeom>
          <a:noFill/>
        </p:spPr>
        <p:txBody>
          <a:bodyPr wrap="none" lIns="0" rIns="0" tIns="0" bIns="0" anchor="ctr">
            <a:noAutofit/>
          </a:bodyPr>
          <a:lstStyle/>
          <a:p>
            <a:pPr rtl="1" algn="ctr"/>
            <a:r>
              <a:rPr sz="950" b="0" lang="fa-IR">
                <a:solidFill>
                  <a:srgbClr val="86857F"/>
                </a:solidFill>
                <a:latin typeface="Tahoma"/>
                <a:cs typeface="Tahoma"/>
                <a:ea typeface="Tahoma"/>
              </a:rPr>
              <a:t>ویژگی‌ها</a:t>
            </a:r>
          </a:p>
        </p:txBody>
      </p:sp>
      <p:cxnSp>
        <p:nvCxnSpPr>
          <p:cNvPr id="28" name="Connector 27"/>
          <p:cNvCxnSpPr/>
          <p:nvPr/>
        </p:nvCxnSpPr>
        <p:spPr>
          <a:xfrm flipH="1">
            <a:off x="4066032" y="3588004"/>
            <a:ext cx="1146556" cy="0"/>
          </a:xfrm>
          <a:prstGeom prst="line">
            <a:avLst/>
          </a:prstGeom>
          <a:ln w="13970">
            <a:solidFill>
              <a:srgbClr val="4E4D4A"/>
            </a:solidFill>
            <a:tailEnd type="triangle" w="med" len="med"/>
          </a:ln>
          <a:effectLst/>
        </p:spPr>
      </p:cxnSp>
      <p:sp>
        <p:nvSpPr>
          <p:cNvPr id="29" name="TextBox 28"/>
          <p:cNvSpPr txBox="1"/>
          <p:nvPr/>
        </p:nvSpPr>
        <p:spPr>
          <a:xfrm>
            <a:off x="3266440" y="3362452"/>
            <a:ext cx="1524000" cy="152400"/>
          </a:xfrm>
          <a:prstGeom prst="rect">
            <a:avLst/>
          </a:prstGeom>
          <a:noFill/>
        </p:spPr>
        <p:txBody>
          <a:bodyPr wrap="none" lIns="0" rIns="0" tIns="0" bIns="0" anchor="ctr">
            <a:noAutofit/>
          </a:bodyPr>
          <a:lstStyle/>
          <a:p>
            <a:pPr rtl="1" algn="ctr"/>
            <a:r>
              <a:rPr sz="950" b="0" lang="fa-IR">
                <a:solidFill>
                  <a:srgbClr val="86857F"/>
                </a:solidFill>
                <a:latin typeface="Tahoma"/>
                <a:cs typeface="Tahoma"/>
                <a:ea typeface="Tahoma"/>
              </a:rPr>
              <a:t>پیش‌بینی</a:t>
            </a:r>
          </a:p>
        </p:txBody>
      </p:sp>
      <p:sp>
        <p:nvSpPr>
          <p:cNvPr id="30" name="TextBox 29"/>
          <p:cNvSpPr txBox="1"/>
          <p:nvPr/>
        </p:nvSpPr>
        <p:spPr>
          <a:xfrm>
            <a:off x="2885440" y="4245864"/>
            <a:ext cx="3556000" cy="177800"/>
          </a:xfrm>
          <a:prstGeom prst="rect">
            <a:avLst/>
          </a:prstGeom>
          <a:noFill/>
        </p:spPr>
        <p:txBody>
          <a:bodyPr wrap="none" lIns="0" rIns="0" tIns="0" bIns="0" anchor="ctr">
            <a:noAutofit/>
          </a:bodyPr>
          <a:lstStyle/>
          <a:p>
            <a:pPr rtl="1" algn="ctr"/>
            <a:r>
              <a:rPr sz="950" b="0" lang="fa-IR">
                <a:solidFill>
                  <a:srgbClr val="86857F"/>
                </a:solidFill>
                <a:latin typeface="Tahoma"/>
                <a:cs typeface="Tahoma"/>
                <a:ea typeface="Tahoma"/>
              </a:rPr>
              <a:t>در این دوره جواب معلوم نیست — مدل آن را می‌گوید</a:t>
            </a:r>
          </a:p>
        </p:txBody>
      </p:sp>
      <p:cxnSp>
        <p:nvCxnSpPr>
          <p:cNvPr id="31" name="Connector 30"/>
          <p:cNvCxnSpPr/>
          <p:nvPr/>
        </p:nvCxnSpPr>
        <p:spPr>
          <a:xfrm>
            <a:off x="6377940" y="2328672"/>
            <a:ext cx="0" cy="639064"/>
          </a:xfrm>
          <a:prstGeom prst="line">
            <a:avLst/>
          </a:prstGeom>
          <a:ln w="13970">
            <a:solidFill>
              <a:srgbClr val="2A78D6"/>
            </a:solidFill>
            <a:prstDash val="dash"/>
            <a:tailEnd type="triangle" w="med" len="med"/>
          </a:ln>
          <a:effectLst/>
        </p:spPr>
      </p:cxnSp>
      <p:sp>
        <p:nvSpPr>
          <p:cNvPr id="32" name="TextBox 31"/>
          <p:cNvSpPr txBox="1"/>
          <p:nvPr/>
        </p:nvSpPr>
        <p:spPr>
          <a:xfrm>
            <a:off x="7924800" y="4519676"/>
            <a:ext cx="3810000" cy="177800"/>
          </a:xfrm>
          <a:prstGeom prst="rect">
            <a:avLst/>
          </a:prstGeom>
          <a:noFill/>
        </p:spPr>
        <p:txBody>
          <a:bodyPr wrap="none" lIns="0" rIns="0" tIns="0" bIns="0" anchor="ctr">
            <a:noAutofit/>
          </a:bodyPr>
          <a:lstStyle/>
          <a:p>
            <a:pPr rtl="1" algn="r"/>
            <a:r>
              <a:rPr sz="1000" b="1" lang="fa-IR">
                <a:solidFill>
                  <a:srgbClr val="86857F"/>
                </a:solidFill>
                <a:latin typeface="Tahoma"/>
                <a:cs typeface="Tahoma"/>
                <a:ea typeface="Tahoma"/>
              </a:rPr>
              <a:t>۳   امتیاز چطور به تصمیم تبدیل می‌شود</a:t>
            </a:r>
          </a:p>
        </p:txBody>
      </p:sp>
      <p:cxnSp>
        <p:nvCxnSpPr>
          <p:cNvPr id="33" name="Connector 32"/>
          <p:cNvCxnSpPr/>
          <p:nvPr/>
        </p:nvCxnSpPr>
        <p:spPr>
          <a:xfrm>
            <a:off x="457200" y="4753356"/>
            <a:ext cx="11277600" cy="0"/>
          </a:xfrm>
          <a:prstGeom prst="line">
            <a:avLst/>
          </a:prstGeom>
          <a:ln w="9525">
            <a:solidFill>
              <a:srgbClr val="E2E1DB"/>
            </a:solidFill>
          </a:ln>
          <a:effectLst/>
        </p:spPr>
      </p:cxnSp>
      <p:sp>
        <p:nvSpPr>
          <p:cNvPr id="34" name="Rounded Rectangle 33"/>
          <p:cNvSpPr/>
          <p:nvPr/>
        </p:nvSpPr>
        <p:spPr>
          <a:xfrm>
            <a:off x="7787640" y="4866132"/>
            <a:ext cx="3947160" cy="1014984"/>
          </a:xfrm>
          <a:prstGeom prst="roundRect">
            <a:avLst>
              <a:gd name="adj" fmla="val 7000"/>
            </a:avLst>
          </a:prstGeom>
          <a:solidFill>
            <a:srgbClr val="F6F6F3"/>
          </a:solidFill>
          <a:ln w="9525">
            <a:solidFill>
              <a:srgbClr val="E2E1DB"/>
            </a:solidFill>
          </a:ln>
          <a:effectLst/>
        </p:spPr>
        <p:txBody>
          <a:bodyPr rtlCol="0" anchor="ctr" wrap="none"/>
          <a:lstStyle/>
          <a:p>
            <a:pPr algn="ctr"/>
          </a:p>
        </p:txBody>
      </p:sp>
      <p:sp>
        <p:nvSpPr>
          <p:cNvPr id="35" name="TextBox 34"/>
          <p:cNvSpPr txBox="1"/>
          <p:nvPr/>
        </p:nvSpPr>
        <p:spPr>
          <a:xfrm>
            <a:off x="7787640" y="4866132"/>
            <a:ext cx="3947160" cy="1014984"/>
          </a:xfrm>
          <a:prstGeom prst="rect">
            <a:avLst/>
          </a:prstGeom>
          <a:noFill/>
        </p:spPr>
        <p:txBody>
          <a:bodyPr wrap="none" lIns="0" rIns="0" tIns="0" bIns="0" anchor="ctr">
            <a:noAutofit/>
          </a:bodyPr>
          <a:lstStyle/>
          <a:p>
            <a:pPr rtl="1" algn="ctr"/>
            <a:r>
              <a:rPr sz="1300" b="1" lang="fa-IR">
                <a:solidFill>
                  <a:srgbClr val="0B0B0B"/>
                </a:solidFill>
                <a:latin typeface="Tahoma"/>
                <a:cs typeface="Tahoma"/>
                <a:ea typeface="Tahoma"/>
              </a:rPr>
              <a:t>۱۰ دهک، از کم‌ریسک به پرریسک</a:t>
            </a:r>
          </a:p>
          <a:p>
            <a:pPr rtl="1" algn="ctr"/>
            <a:r>
              <a:rPr sz="1050" b="0" lang="fa-IR">
                <a:solidFill>
                  <a:srgbClr val="4E4D4A"/>
                </a:solidFill>
                <a:latin typeface="Tahoma"/>
                <a:cs typeface="Tahoma"/>
                <a:ea typeface="Tahoma"/>
              </a:rPr>
              <a:t>هر دهک ۹۳۴٬۴۷۲ مشترک</a:t>
            </a:r>
          </a:p>
        </p:txBody>
      </p:sp>
      <p:cxnSp>
        <p:nvCxnSpPr>
          <p:cNvPr id="36" name="Connector 35"/>
          <p:cNvCxnSpPr/>
          <p:nvPr/>
        </p:nvCxnSpPr>
        <p:spPr>
          <a:xfrm flipH="1">
            <a:off x="4441952" y="5373624"/>
            <a:ext cx="3308096" cy="0"/>
          </a:xfrm>
          <a:prstGeom prst="line">
            <a:avLst/>
          </a:prstGeom>
          <a:ln w="13970">
            <a:solidFill>
              <a:srgbClr val="4E4D4A"/>
            </a:solidFill>
            <a:tailEnd type="triangle" w="med" len="med"/>
          </a:ln>
          <a:effectLst/>
        </p:spPr>
      </p:cxnSp>
      <p:sp>
        <p:nvSpPr>
          <p:cNvPr id="37" name="TextBox 36"/>
          <p:cNvSpPr txBox="1"/>
          <p:nvPr/>
        </p:nvSpPr>
        <p:spPr>
          <a:xfrm>
            <a:off x="5210048" y="5129276"/>
            <a:ext cx="2540000" cy="152400"/>
          </a:xfrm>
          <a:prstGeom prst="rect">
            <a:avLst/>
          </a:prstGeom>
          <a:noFill/>
        </p:spPr>
        <p:txBody>
          <a:bodyPr wrap="none" lIns="0" rIns="0" tIns="0" bIns="0" anchor="ctr">
            <a:noAutofit/>
          </a:bodyPr>
          <a:lstStyle/>
          <a:p>
            <a:pPr rtl="1" algn="ctr"/>
            <a:r>
              <a:rPr sz="950" b="0" lang="fa-IR">
                <a:solidFill>
                  <a:srgbClr val="86857F"/>
                </a:solidFill>
                <a:latin typeface="Tahoma"/>
                <a:cs typeface="Tahoma"/>
                <a:ea typeface="Tahoma"/>
              </a:rPr>
              <a:t>قاعدهٔ سقف</a:t>
            </a:r>
          </a:p>
        </p:txBody>
      </p:sp>
      <p:sp>
        <p:nvSpPr>
          <p:cNvPr id="38" name="TextBox 37"/>
          <p:cNvSpPr txBox="1"/>
          <p:nvPr/>
        </p:nvSpPr>
        <p:spPr>
          <a:xfrm>
            <a:off x="4956048" y="5448808"/>
            <a:ext cx="2794000" cy="152400"/>
          </a:xfrm>
          <a:prstGeom prst="rect">
            <a:avLst/>
          </a:prstGeom>
          <a:noFill/>
        </p:spPr>
        <p:txBody>
          <a:bodyPr wrap="none" lIns="0" rIns="0" tIns="0" bIns="0" anchor="ctr">
            <a:noAutofit/>
          </a:bodyPr>
          <a:lstStyle/>
          <a:p>
            <a:pPr rtl="1" algn="ctr"/>
            <a:r>
              <a:rPr sz="950" b="0" lang="fa-IR">
                <a:solidFill>
                  <a:srgbClr val="86857F"/>
                </a:solidFill>
                <a:latin typeface="Tahoma"/>
                <a:cs typeface="Tahoma"/>
                <a:ea typeface="Tahoma"/>
              </a:rPr>
              <a:t>وام هر نفر کمتر از قبض یک ماهش</a:t>
            </a:r>
          </a:p>
        </p:txBody>
      </p:sp>
      <p:sp>
        <p:nvSpPr>
          <p:cNvPr id="39" name="Rounded Rectangle 38"/>
          <p:cNvSpPr/>
          <p:nvPr/>
        </p:nvSpPr>
        <p:spPr>
          <a:xfrm>
            <a:off x="457200" y="4866132"/>
            <a:ext cx="3947160" cy="1014984"/>
          </a:xfrm>
          <a:prstGeom prst="roundRect">
            <a:avLst>
              <a:gd name="adj" fmla="val 7000"/>
            </a:avLst>
          </a:prstGeom>
          <a:solidFill>
            <a:srgbClr val="E4EBF3"/>
          </a:solidFill>
          <a:ln w="9525">
            <a:solidFill>
              <a:srgbClr val="8FB2D9"/>
            </a:solidFill>
          </a:ln>
          <a:effectLst/>
        </p:spPr>
        <p:txBody>
          <a:bodyPr rtlCol="0" anchor="ctr" wrap="none"/>
          <a:lstStyle/>
          <a:p>
            <a:pPr algn="ctr"/>
          </a:p>
        </p:txBody>
      </p:sp>
      <p:sp>
        <p:nvSpPr>
          <p:cNvPr id="40" name="TextBox 39"/>
          <p:cNvSpPr txBox="1"/>
          <p:nvPr/>
        </p:nvSpPr>
        <p:spPr>
          <a:xfrm>
            <a:off x="457200" y="4866132"/>
            <a:ext cx="3947160" cy="1014984"/>
          </a:xfrm>
          <a:prstGeom prst="rect">
            <a:avLst/>
          </a:prstGeom>
          <a:noFill/>
        </p:spPr>
        <p:txBody>
          <a:bodyPr wrap="none" lIns="0" rIns="0" tIns="0" bIns="0" anchor="ctr">
            <a:noAutofit/>
          </a:bodyPr>
          <a:lstStyle/>
          <a:p>
            <a:pPr rtl="1" algn="ctr"/>
            <a:r>
              <a:rPr sz="2200" b="1" lang="fa-IR">
                <a:solidFill>
                  <a:srgbClr val="2A78D6"/>
                </a:solidFill>
                <a:latin typeface="Tahoma"/>
                <a:cs typeface="Tahoma"/>
                <a:ea typeface="Tahoma"/>
              </a:rPr>
              <a:t>۸٬۸۰۱٬۷۷۲</a:t>
            </a:r>
          </a:p>
          <a:p>
            <a:pPr rtl="1" algn="ctr"/>
            <a:r>
              <a:rPr sz="1050" b="0" lang="fa-IR">
                <a:solidFill>
                  <a:srgbClr val="4E4D4A"/>
                </a:solidFill>
                <a:latin typeface="Tahoma"/>
                <a:cs typeface="Tahoma"/>
                <a:ea typeface="Tahoma"/>
              </a:rPr>
              <a:t>مشترک تأییدشده — سقف ۱۰۰ هزار تا ۱ میلیون تومان</a:t>
            </a:r>
          </a:p>
        </p:txBody>
      </p:sp>
      <p:cxnSp>
        <p:nvCxnSpPr>
          <p:cNvPr id="41" name="Connector 40"/>
          <p:cNvCxnSpPr/>
          <p:nvPr/>
        </p:nvCxnSpPr>
        <p:spPr>
          <a:xfrm>
            <a:off x="457200" y="6070600"/>
            <a:ext cx="11277600" cy="0"/>
          </a:xfrm>
          <a:prstGeom prst="line">
            <a:avLst/>
          </a:prstGeom>
          <a:ln w="9525">
            <a:solidFill>
              <a:srgbClr val="E8E8E4"/>
            </a:solidFill>
          </a:ln>
          <a:effectLst/>
        </p:spPr>
      </p:cxnSp>
      <p:sp>
        <p:nvSpPr>
          <p:cNvPr id="42" name="TextBox 41"/>
          <p:cNvSpPr txBox="1"/>
          <p:nvPr/>
        </p:nvSpPr>
        <p:spPr>
          <a:xfrm>
            <a:off x="457200" y="6134100"/>
            <a:ext cx="11277600" cy="304800"/>
          </a:xfrm>
          <a:prstGeom prst="rect">
            <a:avLst/>
          </a:prstGeom>
          <a:noFill/>
        </p:spPr>
        <p:txBody>
          <a:bodyPr wrap="square" lIns="0" rIns="0" tIns="0" bIns="0" anchor="t">
            <a:noAutofit/>
          </a:bodyPr>
          <a:lstStyle/>
          <a:p>
            <a:pPr rtl="1" algn="r">
              <a:lnSpc>
                <a:spcPct val="140000"/>
              </a:lnSpc>
            </a:pPr>
            <a:r>
              <a:rPr sz="850" b="0" lang="fa-IR">
                <a:solidFill>
                  <a:srgbClr val="4E4D4A"/>
                </a:solidFill>
                <a:latin typeface="Tahoma"/>
                <a:cs typeface="Tahoma"/>
                <a:ea typeface="Tahoma"/>
              </a:rPr>
              <a:t>تفاوت ساختاری دو ردیف بالا فقط در جهت یک فلش است: در آموزش، نتیجه وارد مدل می‌شود؛ در امتیازدهی، پیش‌بینی از مدل بیرون می‌آید. ورودی هر دو ردیف یکی است — ۶ ماه رفتار حساب و همان ۳۹ ویژگی. دقت مدل روی دادهٔ کنارگذاشته ۰٫۸۳ است.</a:t>
            </a:r>
          </a:p>
        </p:txBody>
      </p:sp>
      <p:sp>
        <p:nvSpPr>
          <p:cNvPr id="43" name="TextBox 42"/>
          <p:cNvSpPr txBox="1"/>
          <p:nvPr/>
        </p:nvSpPr>
        <p:spPr>
          <a:xfrm>
            <a:off x="457200" y="6464300"/>
            <a:ext cx="11277600" cy="381000"/>
          </a:xfrm>
          <a:prstGeom prst="rect">
            <a:avLst/>
          </a:prstGeom>
          <a:noFill/>
        </p:spPr>
        <p:txBody>
          <a:bodyPr wrap="square" lIns="0" rIns="0" tIns="0" bIns="0" anchor="t">
            <a:noAutofit/>
          </a:bodyPr>
          <a:lstStyle/>
          <a:p>
            <a:pPr rtl="1" algn="r">
              <a:lnSpc>
                <a:spcPct val="140000"/>
              </a:lnSpc>
            </a:pPr>
            <a:r>
              <a:rPr sz="750" b="0" lang="fa-IR">
                <a:solidFill>
                  <a:srgbClr val="86857F"/>
                </a:solidFill>
                <a:latin typeface="Tahoma"/>
                <a:cs typeface="Tahoma"/>
                <a:ea typeface="Tahoma"/>
              </a:rPr>
              <a:t>۳۹ ویژگی، همه از رفتار حساب خود مشترک — هیچ داده شخصی، مکانی یا جمعیتی در مدل نیست؛ پنجرهٔ نتیجه ۶ ماه است: ۴ قبضی که اقساط رویشان می‌نشیند، به‌علاوهٔ ۲ ماه مهلت تا قسط آخر هم دیده شود؛ «قطع دوطرفه» حدود سه ماه بعد از شروع عدم پرداخت رخ می‌دهد، پس نشانهٔ دیررسی است و نرخ بد را کمتر از واقع برآورد می‌کند.</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06800" y="228600"/>
            <a:ext cx="8128000" cy="381000"/>
          </a:xfrm>
          <a:prstGeom prst="rect">
            <a:avLst/>
          </a:prstGeom>
          <a:noFill/>
        </p:spPr>
        <p:txBody>
          <a:bodyPr wrap="none" lIns="0" rIns="0" tIns="0" bIns="0" anchor="ctr">
            <a:noAutofit/>
          </a:bodyPr>
          <a:lstStyle/>
          <a:p>
            <a:pPr rtl="1" algn="r"/>
            <a:r>
              <a:rPr sz="2000" b="1" lang="fa-IR">
                <a:solidFill>
                  <a:srgbClr val="0B0B0B"/>
                </a:solidFill>
                <a:latin typeface="Tahoma"/>
                <a:cs typeface="Tahoma"/>
                <a:ea typeface="Tahoma"/>
              </a:rPr>
              <a:t>مدل‌ها — چه چیزی آزموده شد و چه چیزی انتخاب شد</a:t>
            </a:r>
          </a:p>
        </p:txBody>
      </p:sp>
      <p:sp>
        <p:nvSpPr>
          <p:cNvPr id="3" name="TextBox 2"/>
          <p:cNvSpPr txBox="1"/>
          <p:nvPr/>
        </p:nvSpPr>
        <p:spPr>
          <a:xfrm>
            <a:off x="457200" y="279400"/>
            <a:ext cx="3810000" cy="254000"/>
          </a:xfrm>
          <a:prstGeom prst="rect">
            <a:avLst/>
          </a:prstGeom>
          <a:noFill/>
        </p:spPr>
        <p:txBody>
          <a:bodyPr wrap="none" lIns="0" rIns="0" tIns="0" bIns="0" anchor="ctr">
            <a:noAutofit/>
          </a:bodyPr>
          <a:lstStyle/>
          <a:p>
            <a:pPr rtl="1" algn="l"/>
            <a:r>
              <a:rPr sz="900" b="0" lang="fa-IR">
                <a:solidFill>
                  <a:srgbClr val="86857F"/>
                </a:solidFill>
                <a:latin typeface="Tahoma"/>
                <a:cs typeface="Tahoma"/>
                <a:ea typeface="Tahoma"/>
              </a:rPr>
              <a:t>بازآموزی ۱۴۰۵/۰۷/۱۴</a:t>
            </a:r>
          </a:p>
        </p:txBody>
      </p:sp>
      <p:cxnSp>
        <p:nvCxnSpPr>
          <p:cNvPr id="4" name="Connector 3"/>
          <p:cNvCxnSpPr/>
          <p:nvPr/>
        </p:nvCxnSpPr>
        <p:spPr>
          <a:xfrm>
            <a:off x="457200" y="685800"/>
            <a:ext cx="11277600" cy="0"/>
          </a:xfrm>
          <a:prstGeom prst="line">
            <a:avLst/>
          </a:prstGeom>
          <a:ln w="17780">
            <a:solidFill>
              <a:srgbClr val="0B0B0B"/>
            </a:solidFill>
          </a:ln>
          <a:effectLst/>
        </p:spPr>
      </p:cxnSp>
      <p:graphicFrame>
        <p:nvGraphicFramePr>
          <p:cNvPr id="5" name="Table 4"/>
          <p:cNvGraphicFramePr>
            <a:graphicFrameLocks noGrp="1"/>
          </p:cNvGraphicFramePr>
          <p:nvPr/>
        </p:nvGraphicFramePr>
        <p:xfrm>
          <a:off x="457200" y="787400"/>
          <a:ext cx="11277600" cy="1473200"/>
        </p:xfrm>
        <a:graphic>
          <a:graphicData uri="http://schemas.openxmlformats.org/drawingml/2006/table">
            <a:tbl>
              <a:tblPr/>
              <a:tblGrid>
                <a:gridCol w="1701800"/>
                <a:gridCol w="1651000"/>
                <a:gridCol w="4749800"/>
                <a:gridCol w="3175000"/>
              </a:tblGrid>
              <a:tr h="304800">
                <a:tc>
                  <a:txBody>
                    <a:bodyPr wrap="square">
                      <a:noAutofit/>
                    </a:bodyPr>
                    <a:lstStyle/>
                    <a:p>
                      <a:pPr rtl="1" algn="ctr"/>
                      <a:r>
                        <a:rPr sz="850" b="0" lang="fa-IR">
                          <a:solidFill>
                            <a:srgbClr val="86857F"/>
                          </a:solidFill>
                          <a:latin typeface="Tahoma"/>
                          <a:cs typeface="Tahoma"/>
                          <a:ea typeface="Tahoma"/>
                        </a:rPr>
                        <a:t>نتیجه</a:t>
                      </a:r>
                    </a:p>
                  </a:txBody>
                  <a:tcPr marT="25400" marR="76200" marB="25400" marL="76200" anchor="ctr">
                    <a:lnL w="9525" cap="flat" cmpd="sng" algn="ctr">
                      <a:noFill/>
                    </a:lnL>
                    <a:lnR w="9525" cap="flat" cmpd="sng" algn="ctr">
                      <a:noFill/>
                    </a:lnR>
                    <a:lnT w="9525" cap="flat" cmpd="sng" algn="ctr">
                      <a:noFill/>
                    </a:lnT>
                    <a:lnB w="9525" cap="flat" cmpd="sng" algn="ctr">
                      <a:solidFill>
                        <a:srgbClr val="86857F"/>
                      </a:solidFill>
                    </a:lnB>
                    <a:noFill/>
                  </a:tcPr>
                </a:tc>
                <a:tc>
                  <a:txBody>
                    <a:bodyPr wrap="square">
                      <a:noAutofit/>
                    </a:bodyPr>
                    <a:lstStyle/>
                    <a:p>
                      <a:pPr rtl="1" algn="ctr"/>
                      <a:r>
                        <a:rPr sz="850" b="0" lang="fa-IR">
                          <a:solidFill>
                            <a:srgbClr val="86857F"/>
                          </a:solidFill>
                          <a:latin typeface="Tahoma"/>
                          <a:cs typeface="Tahoma"/>
                          <a:ea typeface="Tahoma"/>
                        </a:rPr>
                        <a:t>AUC روی دادهٔ اعتبارسنجی</a:t>
                      </a:r>
                    </a:p>
                  </a:txBody>
                  <a:tcPr marT="25400" marR="76200" marB="25400" marL="76200" anchor="ctr">
                    <a:lnL w="9525" cap="flat" cmpd="sng" algn="ctr">
                      <a:noFill/>
                    </a:lnL>
                    <a:lnR w="9525" cap="flat" cmpd="sng" algn="ctr">
                      <a:noFill/>
                    </a:lnR>
                    <a:lnT w="9525" cap="flat" cmpd="sng" algn="ctr">
                      <a:noFill/>
                    </a:lnT>
                    <a:lnB w="9525" cap="flat" cmpd="sng" algn="ctr">
                      <a:solidFill>
                        <a:srgbClr val="86857F"/>
                      </a:solidFill>
                    </a:lnB>
                    <a:noFill/>
                  </a:tcPr>
                </a:tc>
                <a:tc>
                  <a:txBody>
                    <a:bodyPr wrap="square">
                      <a:noAutofit/>
                    </a:bodyPr>
                    <a:lstStyle/>
                    <a:p>
                      <a:pPr rtl="1" algn="ctr"/>
                      <a:r>
                        <a:rPr sz="850" b="0" lang="fa-IR">
                          <a:solidFill>
                            <a:srgbClr val="86857F"/>
                          </a:solidFill>
                          <a:latin typeface="Tahoma"/>
                          <a:cs typeface="Tahoma"/>
                          <a:ea typeface="Tahoma"/>
                        </a:rPr>
                        <a:t>چیست</a:t>
                      </a:r>
                    </a:p>
                  </a:txBody>
                  <a:tcPr marT="25400" marR="76200" marB="25400" marL="76200" anchor="ctr">
                    <a:lnL w="9525" cap="flat" cmpd="sng" algn="ctr">
                      <a:noFill/>
                    </a:lnL>
                    <a:lnR w="9525" cap="flat" cmpd="sng" algn="ctr">
                      <a:noFill/>
                    </a:lnR>
                    <a:lnT w="9525" cap="flat" cmpd="sng" algn="ctr">
                      <a:noFill/>
                    </a:lnT>
                    <a:lnB w="9525" cap="flat" cmpd="sng" algn="ctr">
                      <a:solidFill>
                        <a:srgbClr val="86857F"/>
                      </a:solidFill>
                    </a:lnB>
                    <a:noFill/>
                  </a:tcPr>
                </a:tc>
                <a:tc>
                  <a:txBody>
                    <a:bodyPr wrap="square">
                      <a:noAutofit/>
                    </a:bodyPr>
                    <a:lstStyle/>
                    <a:p>
                      <a:pPr rtl="1" algn="r"/>
                      <a:r>
                        <a:rPr sz="850" b="0" lang="fa-IR">
                          <a:solidFill>
                            <a:srgbClr val="86857F"/>
                          </a:solidFill>
                          <a:latin typeface="Tahoma"/>
                          <a:cs typeface="Tahoma"/>
                          <a:ea typeface="Tahoma"/>
                        </a:rPr>
                        <a:t>مدل</a:t>
                      </a:r>
                    </a:p>
                  </a:txBody>
                  <a:tcPr marT="25400" marR="76200" marB="25400" marL="76200" anchor="ctr">
                    <a:lnL w="9525" cap="flat" cmpd="sng" algn="ctr">
                      <a:noFill/>
                    </a:lnL>
                    <a:lnR w="9525" cap="flat" cmpd="sng" algn="ctr">
                      <a:noFill/>
                    </a:lnR>
                    <a:lnT w="9525" cap="flat" cmpd="sng" algn="ctr">
                      <a:noFill/>
                    </a:lnT>
                    <a:lnB w="9525" cap="flat" cmpd="sng" algn="ctr">
                      <a:solidFill>
                        <a:srgbClr val="86857F"/>
                      </a:solidFill>
                    </a:lnB>
                    <a:noFill/>
                  </a:tcPr>
                </a:tc>
              </a:tr>
              <a:tr h="584200">
                <a:tc>
                  <a:txBody>
                    <a:bodyPr wrap="square">
                      <a:noAutofit/>
                    </a:bodyPr>
                    <a:lstStyle/>
                    <a:p>
                      <a:pPr rtl="1" algn="ctr"/>
                      <a:r>
                        <a:rPr sz="850" b="0" lang="fa-IR">
                          <a:solidFill>
                            <a:srgbClr val="4E4D4A"/>
                          </a:solidFill>
                          <a:latin typeface="Tahoma"/>
                          <a:cs typeface="Tahoma"/>
                          <a:ea typeface="Tahoma"/>
                        </a:rPr>
                        <a:t>مبنا. قابل توضیح به ازای هر مشترک، ولی ضعیف‌تر</a:t>
                      </a:r>
                    </a:p>
                  </a:txBody>
                  <a:tcPr marT="38100" marR="50800" marB="38100" marL="508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1050" b="0" lang="fa-IR">
                          <a:solidFill>
                            <a:srgbClr val="0B0B0B"/>
                          </a:solidFill>
                          <a:latin typeface="Tahoma"/>
                          <a:cs typeface="Tahoma"/>
                          <a:ea typeface="Tahoma"/>
                        </a:rPr>
                        <a:t>۰٫۷۸۴۳</a:t>
                      </a:r>
                    </a:p>
                  </a:txBody>
                  <a:tcPr marT="38100" marR="50800" marB="38100" marL="508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square">
                      <a:noAutofit/>
                    </a:bodyPr>
                    <a:lstStyle/>
                    <a:p>
                      <a:pPr rtl="1" algn="r"/>
                      <a:r>
                        <a:rPr sz="850" b="0" lang="fa-IR">
                          <a:solidFill>
                            <a:srgbClr val="4E4D4A"/>
                          </a:solidFill>
                          <a:latin typeface="Tahoma"/>
                          <a:cs typeface="Tahoma"/>
                          <a:ea typeface="Tahoma"/>
                        </a:rPr>
                        <a:t>رگرسیون لجستیک روی ویژگی‌های WOE — هر ویژگی به ۱۰ بازه تقسیم و با وزن شواهد جایگزین می‌شود</a:t>
                      </a:r>
                    </a:p>
                  </a:txBody>
                  <a:tcPr marT="38100" marR="76200" marB="38100" marL="762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square">
                      <a:noAutofit/>
                    </a:bodyPr>
                    <a:lstStyle/>
                    <a:p>
                      <a:pPr rtl="1" algn="r"/>
                      <a:r>
                        <a:rPr sz="1050" b="1" lang="fa-IR">
                          <a:solidFill>
                            <a:srgbClr val="0B0B0B"/>
                          </a:solidFill>
                          <a:latin typeface="Tahoma"/>
                          <a:cs typeface="Tahoma"/>
                          <a:ea typeface="Tahoma"/>
                        </a:rPr>
                        <a:t>کارت امتیازی لجستیک</a:t>
                      </a:r>
                    </a:p>
                  </a:txBody>
                  <a:tcPr marT="38100" marR="76200" marB="38100" marL="76200" anchor="ctr">
                    <a:lnL w="9525" cap="flat" cmpd="sng" algn="ctr">
                      <a:noFill/>
                    </a:lnL>
                    <a:lnR w="9525" cap="flat" cmpd="sng" algn="ctr">
                      <a:noFill/>
                    </a:lnR>
                    <a:lnT w="9525" cap="flat" cmpd="sng" algn="ctr">
                      <a:noFill/>
                    </a:lnT>
                    <a:lnB w="9525" cap="flat" cmpd="sng" algn="ctr">
                      <a:solidFill>
                        <a:srgbClr val="D4D3CC"/>
                      </a:solidFill>
                    </a:lnB>
                    <a:noFill/>
                  </a:tcPr>
                </a:tc>
              </a:tr>
              <a:tr h="584200">
                <a:tc>
                  <a:txBody>
                    <a:bodyPr wrap="square">
                      <a:noAutofit/>
                    </a:bodyPr>
                    <a:lstStyle/>
                    <a:p>
                      <a:pPr rtl="1" algn="ctr"/>
                      <a:r>
                        <a:rPr sz="850" b="1" lang="fa-IR">
                          <a:solidFill>
                            <a:srgbClr val="0B0B0B"/>
                          </a:solidFill>
                          <a:latin typeface="Tahoma"/>
                          <a:cs typeface="Tahoma"/>
                          <a:ea typeface="Tahoma"/>
                        </a:rPr>
                        <a:t>انتخاب شد — ۰٫۰۳۱۴ بهتر از مبنا</a:t>
                      </a:r>
                    </a:p>
                  </a:txBody>
                  <a:tcPr marT="38100" marR="50800" marB="38100" marL="50800" anchor="ctr">
                    <a:lnL w="9525" cap="flat" cmpd="sng" algn="ctr">
                      <a:noFill/>
                    </a:lnL>
                    <a:lnR w="9525" cap="flat" cmpd="sng" algn="ctr">
                      <a:noFill/>
                    </a:lnR>
                    <a:lnT w="9525" cap="flat" cmpd="sng" algn="ctr">
                      <a:noFill/>
                    </a:lnT>
                    <a:lnB w="9525" cap="flat" cmpd="sng" algn="ctr">
                      <a:noFill/>
                    </a:lnB>
                    <a:solidFill>
                      <a:srgbClr val="DBE6F2"/>
                    </a:solidFill>
                  </a:tcPr>
                </a:tc>
                <a:tc>
                  <a:txBody>
                    <a:bodyPr wrap="none">
                      <a:noAutofit/>
                    </a:bodyPr>
                    <a:lstStyle/>
                    <a:p>
                      <a:pPr rtl="1" algn="ctr"/>
                      <a:r>
                        <a:rPr sz="1050" b="1" lang="fa-IR">
                          <a:solidFill>
                            <a:srgbClr val="0B0B0B"/>
                          </a:solidFill>
                          <a:latin typeface="Tahoma"/>
                          <a:cs typeface="Tahoma"/>
                          <a:ea typeface="Tahoma"/>
                        </a:rPr>
                        <a:t>۰٫۸۱۵۷</a:t>
                      </a:r>
                    </a:p>
                  </a:txBody>
                  <a:tcPr marT="38100" marR="50800" marB="38100" marL="50800" anchor="ctr">
                    <a:lnL w="9525" cap="flat" cmpd="sng" algn="ctr">
                      <a:noFill/>
                    </a:lnL>
                    <a:lnR w="9525" cap="flat" cmpd="sng" algn="ctr">
                      <a:noFill/>
                    </a:lnR>
                    <a:lnT w="9525" cap="flat" cmpd="sng" algn="ctr">
                      <a:noFill/>
                    </a:lnT>
                    <a:lnB w="9525" cap="flat" cmpd="sng" algn="ctr">
                      <a:noFill/>
                    </a:lnB>
                    <a:solidFill>
                      <a:srgbClr val="DBE6F2"/>
                    </a:solidFill>
                  </a:tcPr>
                </a:tc>
                <a:tc>
                  <a:txBody>
                    <a:bodyPr wrap="square">
                      <a:noAutofit/>
                    </a:bodyPr>
                    <a:lstStyle/>
                    <a:p>
                      <a:pPr rtl="1" algn="r"/>
                      <a:r>
                        <a:rPr sz="850" b="0" lang="fa-IR">
                          <a:solidFill>
                            <a:srgbClr val="4E4D4A"/>
                          </a:solidFill>
                          <a:latin typeface="Tahoma"/>
                          <a:cs typeface="Tahoma"/>
                          <a:ea typeface="Tahoma"/>
                        </a:rPr>
                        <a:t>HistGradientBoosting — ۴۰۰ درخت کم‌عمق که هرکدام خطای قبلی را اصلاح می‌کند و برهم‌کنش ویژگی‌ها را خودش پیدا می‌کند</a:t>
                      </a:r>
                    </a:p>
                  </a:txBody>
                  <a:tcPr marT="38100" marR="76200" marB="38100" marL="76200" anchor="ctr">
                    <a:lnL w="9525" cap="flat" cmpd="sng" algn="ctr">
                      <a:noFill/>
                    </a:lnL>
                    <a:lnR w="9525" cap="flat" cmpd="sng" algn="ctr">
                      <a:noFill/>
                    </a:lnR>
                    <a:lnT w="9525" cap="flat" cmpd="sng" algn="ctr">
                      <a:noFill/>
                    </a:lnT>
                    <a:lnB w="9525" cap="flat" cmpd="sng" algn="ctr">
                      <a:noFill/>
                    </a:lnB>
                    <a:solidFill>
                      <a:srgbClr val="DBE6F2"/>
                    </a:solidFill>
                  </a:tcPr>
                </a:tc>
                <a:tc>
                  <a:txBody>
                    <a:bodyPr wrap="square">
                      <a:noAutofit/>
                    </a:bodyPr>
                    <a:lstStyle/>
                    <a:p>
                      <a:pPr rtl="1" algn="r"/>
                      <a:r>
                        <a:rPr sz="1050" b="1" lang="fa-IR">
                          <a:solidFill>
                            <a:srgbClr val="2A78D6"/>
                          </a:solidFill>
                          <a:latin typeface="Tahoma"/>
                          <a:cs typeface="Tahoma"/>
                          <a:ea typeface="Tahoma"/>
                        </a:rPr>
                        <a:t>گرادیان بوستینگ درختی</a:t>
                      </a:r>
                    </a:p>
                  </a:txBody>
                  <a:tcPr marT="38100" marR="76200" marB="38100" marL="76200" anchor="ctr">
                    <a:lnL w="9525" cap="flat" cmpd="sng" algn="ctr">
                      <a:noFill/>
                    </a:lnL>
                    <a:lnR w="9525" cap="flat" cmpd="sng" algn="ctr">
                      <a:noFill/>
                    </a:lnR>
                    <a:lnT w="9525" cap="flat" cmpd="sng" algn="ctr">
                      <a:noFill/>
                    </a:lnT>
                    <a:lnB w="9525" cap="flat" cmpd="sng" algn="ctr">
                      <a:noFill/>
                    </a:lnB>
                    <a:solidFill>
                      <a:srgbClr val="DBE6F2"/>
                    </a:solidFill>
                  </a:tcPr>
                </a:tc>
              </a:tr>
            </a:tbl>
          </a:graphicData>
        </a:graphic>
      </p:graphicFrame>
      <p:sp>
        <p:nvSpPr>
          <p:cNvPr id="6" name="Rounded Rectangle 5"/>
          <p:cNvSpPr/>
          <p:nvPr/>
        </p:nvSpPr>
        <p:spPr>
          <a:xfrm>
            <a:off x="8991600" y="2387600"/>
            <a:ext cx="2743200" cy="508000"/>
          </a:xfrm>
          <a:prstGeom prst="roundRect">
            <a:avLst>
              <a:gd name="adj" fmla="val 7000"/>
            </a:avLst>
          </a:prstGeom>
          <a:solidFill>
            <a:srgbClr val="F6F6F3"/>
          </a:solidFill>
          <a:ln w="9525">
            <a:solidFill>
              <a:srgbClr val="E2E1DB"/>
            </a:solidFill>
          </a:ln>
          <a:effectLst/>
        </p:spPr>
        <p:txBody>
          <a:bodyPr rtlCol="0" anchor="ctr" wrap="none"/>
          <a:lstStyle/>
          <a:p>
            <a:pPr algn="ctr"/>
          </a:p>
        </p:txBody>
      </p:sp>
      <p:sp>
        <p:nvSpPr>
          <p:cNvPr id="7" name="TextBox 6"/>
          <p:cNvSpPr txBox="1"/>
          <p:nvPr/>
        </p:nvSpPr>
        <p:spPr>
          <a:xfrm>
            <a:off x="9093200" y="2438400"/>
            <a:ext cx="2540000" cy="241300"/>
          </a:xfrm>
          <a:prstGeom prst="rect">
            <a:avLst/>
          </a:prstGeom>
          <a:noFill/>
        </p:spPr>
        <p:txBody>
          <a:bodyPr wrap="none" lIns="0" rIns="0" tIns="0" bIns="0" anchor="ctr">
            <a:noAutofit/>
          </a:bodyPr>
          <a:lstStyle/>
          <a:p>
            <a:pPr rtl="1" algn="r"/>
            <a:r>
              <a:rPr sz="1600" b="1" lang="fa-IR">
                <a:solidFill>
                  <a:srgbClr val="2A78D6"/>
                </a:solidFill>
                <a:latin typeface="Tahoma"/>
                <a:cs typeface="Tahoma"/>
                <a:ea typeface="Tahoma"/>
              </a:rPr>
              <a:t>۰٫۸۲۷۸</a:t>
            </a:r>
          </a:p>
        </p:txBody>
      </p:sp>
      <p:sp>
        <p:nvSpPr>
          <p:cNvPr id="8" name="TextBox 7"/>
          <p:cNvSpPr txBox="1"/>
          <p:nvPr/>
        </p:nvSpPr>
        <p:spPr>
          <a:xfrm>
            <a:off x="9093200" y="2679700"/>
            <a:ext cx="2540000" cy="165100"/>
          </a:xfrm>
          <a:prstGeom prst="rect">
            <a:avLst/>
          </a:prstGeom>
          <a:noFill/>
        </p:spPr>
        <p:txBody>
          <a:bodyPr wrap="none" lIns="0" rIns="0" tIns="0" bIns="0" anchor="ctr">
            <a:noAutofit/>
          </a:bodyPr>
          <a:lstStyle/>
          <a:p>
            <a:pPr rtl="1" algn="r"/>
            <a:r>
              <a:rPr sz="850" b="0" lang="fa-IR">
                <a:solidFill>
                  <a:srgbClr val="4E4D4A"/>
                </a:solidFill>
                <a:latin typeface="Tahoma"/>
                <a:cs typeface="Tahoma"/>
                <a:ea typeface="Tahoma"/>
              </a:rPr>
              <a:t>AUC روی دادهٔ کنارگذاشته</a:t>
            </a:r>
          </a:p>
        </p:txBody>
      </p:sp>
      <p:sp>
        <p:nvSpPr>
          <p:cNvPr id="9" name="Rounded Rectangle 8"/>
          <p:cNvSpPr/>
          <p:nvPr/>
        </p:nvSpPr>
        <p:spPr>
          <a:xfrm>
            <a:off x="6146800" y="2387600"/>
            <a:ext cx="2743200" cy="508000"/>
          </a:xfrm>
          <a:prstGeom prst="roundRect">
            <a:avLst>
              <a:gd name="adj" fmla="val 7000"/>
            </a:avLst>
          </a:prstGeom>
          <a:solidFill>
            <a:srgbClr val="F6F6F3"/>
          </a:solidFill>
          <a:ln w="9525">
            <a:solidFill>
              <a:srgbClr val="E2E1DB"/>
            </a:solidFill>
          </a:ln>
          <a:effectLst/>
        </p:spPr>
        <p:txBody>
          <a:bodyPr rtlCol="0" anchor="ctr" wrap="none"/>
          <a:lstStyle/>
          <a:p>
            <a:pPr algn="ctr"/>
          </a:p>
        </p:txBody>
      </p:sp>
      <p:sp>
        <p:nvSpPr>
          <p:cNvPr id="10" name="TextBox 9"/>
          <p:cNvSpPr txBox="1"/>
          <p:nvPr/>
        </p:nvSpPr>
        <p:spPr>
          <a:xfrm>
            <a:off x="6248400" y="2438400"/>
            <a:ext cx="2540000" cy="241300"/>
          </a:xfrm>
          <a:prstGeom prst="rect">
            <a:avLst/>
          </a:prstGeom>
          <a:noFill/>
        </p:spPr>
        <p:txBody>
          <a:bodyPr wrap="none" lIns="0" rIns="0" tIns="0" bIns="0" anchor="ctr">
            <a:noAutofit/>
          </a:bodyPr>
          <a:lstStyle/>
          <a:p>
            <a:pPr rtl="1" algn="r"/>
            <a:r>
              <a:rPr sz="1600" b="1" lang="fa-IR">
                <a:solidFill>
                  <a:srgbClr val="2A78D6"/>
                </a:solidFill>
                <a:latin typeface="Tahoma"/>
                <a:cs typeface="Tahoma"/>
                <a:ea typeface="Tahoma"/>
              </a:rPr>
              <a:t>۰٫۶۵۵۷</a:t>
            </a:r>
          </a:p>
        </p:txBody>
      </p:sp>
      <p:sp>
        <p:nvSpPr>
          <p:cNvPr id="11" name="TextBox 10"/>
          <p:cNvSpPr txBox="1"/>
          <p:nvPr/>
        </p:nvSpPr>
        <p:spPr>
          <a:xfrm>
            <a:off x="6248400" y="2679700"/>
            <a:ext cx="2540000" cy="165100"/>
          </a:xfrm>
          <a:prstGeom prst="rect">
            <a:avLst/>
          </a:prstGeom>
          <a:noFill/>
        </p:spPr>
        <p:txBody>
          <a:bodyPr wrap="none" lIns="0" rIns="0" tIns="0" bIns="0" anchor="ctr">
            <a:noAutofit/>
          </a:bodyPr>
          <a:lstStyle/>
          <a:p>
            <a:pPr rtl="1" algn="r"/>
            <a:r>
              <a:rPr sz="850" b="0" lang="fa-IR">
                <a:solidFill>
                  <a:srgbClr val="4E4D4A"/>
                </a:solidFill>
                <a:latin typeface="Tahoma"/>
                <a:cs typeface="Tahoma"/>
                <a:ea typeface="Tahoma"/>
              </a:rPr>
              <a:t>ضریب جینی</a:t>
            </a:r>
          </a:p>
        </p:txBody>
      </p:sp>
      <p:sp>
        <p:nvSpPr>
          <p:cNvPr id="12" name="Rounded Rectangle 11"/>
          <p:cNvSpPr/>
          <p:nvPr/>
        </p:nvSpPr>
        <p:spPr>
          <a:xfrm>
            <a:off x="3302000" y="2387600"/>
            <a:ext cx="2743200" cy="508000"/>
          </a:xfrm>
          <a:prstGeom prst="roundRect">
            <a:avLst>
              <a:gd name="adj" fmla="val 7000"/>
            </a:avLst>
          </a:prstGeom>
          <a:solidFill>
            <a:srgbClr val="F6F6F3"/>
          </a:solidFill>
          <a:ln w="9525">
            <a:solidFill>
              <a:srgbClr val="E2E1DB"/>
            </a:solidFill>
          </a:ln>
          <a:effectLst/>
        </p:spPr>
        <p:txBody>
          <a:bodyPr rtlCol="0" anchor="ctr" wrap="none"/>
          <a:lstStyle/>
          <a:p>
            <a:pPr algn="ctr"/>
          </a:p>
        </p:txBody>
      </p:sp>
      <p:sp>
        <p:nvSpPr>
          <p:cNvPr id="13" name="TextBox 12"/>
          <p:cNvSpPr txBox="1"/>
          <p:nvPr/>
        </p:nvSpPr>
        <p:spPr>
          <a:xfrm>
            <a:off x="3403600" y="2438400"/>
            <a:ext cx="2540000" cy="241300"/>
          </a:xfrm>
          <a:prstGeom prst="rect">
            <a:avLst/>
          </a:prstGeom>
          <a:noFill/>
        </p:spPr>
        <p:txBody>
          <a:bodyPr wrap="none" lIns="0" rIns="0" tIns="0" bIns="0" anchor="ctr">
            <a:noAutofit/>
          </a:bodyPr>
          <a:lstStyle/>
          <a:p>
            <a:pPr rtl="1" algn="r"/>
            <a:r>
              <a:rPr sz="1600" b="1" lang="fa-IR">
                <a:solidFill>
                  <a:srgbClr val="2A78D6"/>
                </a:solidFill>
                <a:latin typeface="Tahoma"/>
                <a:cs typeface="Tahoma"/>
                <a:ea typeface="Tahoma"/>
              </a:rPr>
              <a:t>۰٫۵۱۵۱</a:t>
            </a:r>
          </a:p>
        </p:txBody>
      </p:sp>
      <p:sp>
        <p:nvSpPr>
          <p:cNvPr id="14" name="TextBox 13"/>
          <p:cNvSpPr txBox="1"/>
          <p:nvPr/>
        </p:nvSpPr>
        <p:spPr>
          <a:xfrm>
            <a:off x="3403600" y="2679700"/>
            <a:ext cx="2540000" cy="165100"/>
          </a:xfrm>
          <a:prstGeom prst="rect">
            <a:avLst/>
          </a:prstGeom>
          <a:noFill/>
        </p:spPr>
        <p:txBody>
          <a:bodyPr wrap="none" lIns="0" rIns="0" tIns="0" bIns="0" anchor="ctr">
            <a:noAutofit/>
          </a:bodyPr>
          <a:lstStyle/>
          <a:p>
            <a:pPr rtl="1" algn="r"/>
            <a:r>
              <a:rPr sz="850" b="0" lang="fa-IR">
                <a:solidFill>
                  <a:srgbClr val="4E4D4A"/>
                </a:solidFill>
                <a:latin typeface="Tahoma"/>
                <a:cs typeface="Tahoma"/>
                <a:ea typeface="Tahoma"/>
              </a:rPr>
              <a:t>آمارهٔ KS</a:t>
            </a:r>
          </a:p>
        </p:txBody>
      </p:sp>
      <p:sp>
        <p:nvSpPr>
          <p:cNvPr id="15" name="Rounded Rectangle 14"/>
          <p:cNvSpPr/>
          <p:nvPr/>
        </p:nvSpPr>
        <p:spPr>
          <a:xfrm>
            <a:off x="457200" y="2387600"/>
            <a:ext cx="2743200" cy="508000"/>
          </a:xfrm>
          <a:prstGeom prst="roundRect">
            <a:avLst>
              <a:gd name="adj" fmla="val 7000"/>
            </a:avLst>
          </a:prstGeom>
          <a:solidFill>
            <a:srgbClr val="F6F6F3"/>
          </a:solidFill>
          <a:ln w="9525">
            <a:solidFill>
              <a:srgbClr val="E2E1DB"/>
            </a:solidFill>
          </a:ln>
          <a:effectLst/>
        </p:spPr>
        <p:txBody>
          <a:bodyPr rtlCol="0" anchor="ctr" wrap="none"/>
          <a:lstStyle/>
          <a:p>
            <a:pPr algn="ctr"/>
          </a:p>
        </p:txBody>
      </p:sp>
      <p:sp>
        <p:nvSpPr>
          <p:cNvPr id="16" name="TextBox 15"/>
          <p:cNvSpPr txBox="1"/>
          <p:nvPr/>
        </p:nvSpPr>
        <p:spPr>
          <a:xfrm>
            <a:off x="558800" y="2438400"/>
            <a:ext cx="2540000" cy="241300"/>
          </a:xfrm>
          <a:prstGeom prst="rect">
            <a:avLst/>
          </a:prstGeom>
          <a:noFill/>
        </p:spPr>
        <p:txBody>
          <a:bodyPr wrap="none" lIns="0" rIns="0" tIns="0" bIns="0" anchor="ctr">
            <a:noAutofit/>
          </a:bodyPr>
          <a:lstStyle/>
          <a:p>
            <a:pPr rtl="1" algn="r"/>
            <a:r>
              <a:rPr sz="1600" b="1" lang="fa-IR">
                <a:solidFill>
                  <a:srgbClr val="2A78D6"/>
                </a:solidFill>
                <a:latin typeface="Tahoma"/>
                <a:cs typeface="Tahoma"/>
                <a:ea typeface="Tahoma"/>
              </a:rPr>
              <a:t>۱٫۷ درصد</a:t>
            </a:r>
          </a:p>
        </p:txBody>
      </p:sp>
      <p:sp>
        <p:nvSpPr>
          <p:cNvPr id="17" name="TextBox 16"/>
          <p:cNvSpPr txBox="1"/>
          <p:nvPr/>
        </p:nvSpPr>
        <p:spPr>
          <a:xfrm>
            <a:off x="558800" y="2679700"/>
            <a:ext cx="2540000" cy="165100"/>
          </a:xfrm>
          <a:prstGeom prst="rect">
            <a:avLst/>
          </a:prstGeom>
          <a:noFill/>
        </p:spPr>
        <p:txBody>
          <a:bodyPr wrap="none" lIns="0" rIns="0" tIns="0" bIns="0" anchor="ctr">
            <a:noAutofit/>
          </a:bodyPr>
          <a:lstStyle/>
          <a:p>
            <a:pPr rtl="1" algn="r"/>
            <a:r>
              <a:rPr sz="850" b="0" lang="fa-IR">
                <a:solidFill>
                  <a:srgbClr val="4E4D4A"/>
                </a:solidFill>
                <a:latin typeface="Tahoma"/>
                <a:cs typeface="Tahoma"/>
                <a:ea typeface="Tahoma"/>
              </a:rPr>
              <a:t>خطای سطح کالیبراسیون</a:t>
            </a:r>
          </a:p>
        </p:txBody>
      </p:sp>
      <p:sp>
        <p:nvSpPr>
          <p:cNvPr id="18" name="TextBox 17"/>
          <p:cNvSpPr txBox="1"/>
          <p:nvPr/>
        </p:nvSpPr>
        <p:spPr>
          <a:xfrm>
            <a:off x="457200" y="3022600"/>
            <a:ext cx="11277600" cy="508000"/>
          </a:xfrm>
          <a:prstGeom prst="rect">
            <a:avLst/>
          </a:prstGeom>
          <a:noFill/>
        </p:spPr>
        <p:txBody>
          <a:bodyPr wrap="square" lIns="0" rIns="0" tIns="0" bIns="0" anchor="t">
            <a:noAutofit/>
          </a:bodyPr>
          <a:lstStyle/>
          <a:p>
            <a:pPr rtl="1" algn="r">
              <a:lnSpc>
                <a:spcPct val="140000"/>
              </a:lnSpc>
            </a:pPr>
            <a:r>
              <a:rPr sz="850" b="0" lang="fa-IR">
                <a:solidFill>
                  <a:srgbClr val="4E4D4A"/>
                </a:solidFill>
                <a:latin typeface="Tahoma"/>
                <a:cs typeface="Tahoma"/>
                <a:ea typeface="Tahoma"/>
              </a:rPr>
              <a:t>بیشترین چیزی که مدل از آن یاد می‌گیرد: سابقهٔ قطع سرویس سال قبل. شش ستونی که قطعی‌های سال گذشته را می‌شمارند، به‌تنهایی ۰٫۰۲۳۹ از AUC دادهٔ کنارگذاشته را می‌سازند — ۹۲ درصد از کل بهبود ۰٫۰۲۶۱ که بازآموزی داد. همین ستون‌ها پایدارترین ویژگی‌های مجموعه‌اند: PSI همهٔ آن‌ها زیر ۰٫۰۰۰۳ است. مدل خطی دو برابر مدل درختی از آن‌ها سود برد — ۰٫۰۴۵۸ در برابر ۰٫۰۲۳۹ — یعنی این سیگنال تقریباً جمع‌پذیر است و برای پیدا کردنش لازم نبود به درخت برسیم.</a:t>
            </a:r>
          </a:p>
        </p:txBody>
      </p:sp>
      <p:sp>
        <p:nvSpPr>
          <p:cNvPr id="19" name="Rounded Rectangle 18"/>
          <p:cNvSpPr/>
          <p:nvPr/>
        </p:nvSpPr>
        <p:spPr>
          <a:xfrm>
            <a:off x="6654800" y="3606800"/>
            <a:ext cx="5080000" cy="1320800"/>
          </a:xfrm>
          <a:prstGeom prst="roundRect">
            <a:avLst>
              <a:gd name="adj" fmla="val 7000"/>
            </a:avLst>
          </a:prstGeom>
          <a:solidFill>
            <a:srgbClr val="F6F6F3"/>
          </a:solidFill>
          <a:ln w="9525">
            <a:solidFill>
              <a:srgbClr val="E8E8E4"/>
            </a:solidFill>
          </a:ln>
          <a:effectLst/>
        </p:spPr>
        <p:txBody>
          <a:bodyPr rtlCol="0" anchor="ctr" wrap="none"/>
          <a:lstStyle/>
          <a:p>
            <a:pPr algn="ctr"/>
          </a:p>
        </p:txBody>
      </p:sp>
      <p:sp>
        <p:nvSpPr>
          <p:cNvPr id="20" name="TextBox 19"/>
          <p:cNvSpPr txBox="1"/>
          <p:nvPr/>
        </p:nvSpPr>
        <p:spPr>
          <a:xfrm>
            <a:off x="6807200" y="3708400"/>
            <a:ext cx="4775200" cy="152400"/>
          </a:xfrm>
          <a:prstGeom prst="rect">
            <a:avLst/>
          </a:prstGeom>
          <a:noFill/>
        </p:spPr>
        <p:txBody>
          <a:bodyPr wrap="none" lIns="0" rIns="0" tIns="0" bIns="0" anchor="ctr">
            <a:noAutofit/>
          </a:bodyPr>
          <a:lstStyle/>
          <a:p>
            <a:pPr rtl="1" algn="r"/>
            <a:r>
              <a:rPr sz="950" b="1" lang="fa-IR">
                <a:solidFill>
                  <a:srgbClr val="4E4D4A"/>
                </a:solidFill>
                <a:latin typeface="Tahoma"/>
                <a:cs typeface="Tahoma"/>
                <a:ea typeface="Tahoma"/>
              </a:rPr>
              <a:t>داده و تفکیک</a:t>
            </a:r>
          </a:p>
        </p:txBody>
      </p:sp>
      <p:sp>
        <p:nvSpPr>
          <p:cNvPr id="21" name="TextBox 20"/>
          <p:cNvSpPr txBox="1"/>
          <p:nvPr/>
        </p:nvSpPr>
        <p:spPr>
          <a:xfrm>
            <a:off x="8966200" y="3962400"/>
            <a:ext cx="2616200" cy="139700"/>
          </a:xfrm>
          <a:prstGeom prst="rect">
            <a:avLst/>
          </a:prstGeom>
          <a:noFill/>
        </p:spPr>
        <p:txBody>
          <a:bodyPr wrap="none" lIns="0" rIns="0" tIns="0" bIns="0" anchor="ctr">
            <a:noAutofit/>
          </a:bodyPr>
          <a:lstStyle/>
          <a:p>
            <a:pPr rtl="1" algn="r"/>
            <a:r>
              <a:rPr sz="800" b="0" lang="fa-IR">
                <a:solidFill>
                  <a:srgbClr val="4E4D4A"/>
                </a:solidFill>
                <a:latin typeface="Tahoma"/>
                <a:cs typeface="Tahoma"/>
                <a:ea typeface="Tahoma"/>
              </a:rPr>
              <a:t>سطر آموزش</a:t>
            </a:r>
          </a:p>
        </p:txBody>
      </p:sp>
      <p:sp>
        <p:nvSpPr>
          <p:cNvPr id="22" name="TextBox 21"/>
          <p:cNvSpPr txBox="1"/>
          <p:nvPr/>
        </p:nvSpPr>
        <p:spPr>
          <a:xfrm>
            <a:off x="6807200" y="3962400"/>
            <a:ext cx="2159000" cy="139700"/>
          </a:xfrm>
          <a:prstGeom prst="rect">
            <a:avLst/>
          </a:prstGeom>
          <a:noFill/>
        </p:spPr>
        <p:txBody>
          <a:bodyPr wrap="none" lIns="0" rIns="0" tIns="0" bIns="0" anchor="ctr">
            <a:noAutofit/>
          </a:bodyPr>
          <a:lstStyle/>
          <a:p>
            <a:pPr rtl="1" algn="l"/>
            <a:r>
              <a:rPr sz="800" b="1" lang="fa-IR">
                <a:solidFill>
                  <a:srgbClr val="0B0B0B"/>
                </a:solidFill>
                <a:latin typeface="Tahoma"/>
                <a:cs typeface="Tahoma"/>
                <a:ea typeface="Tahoma"/>
              </a:rPr>
              <a:t>۸٬۷۰۱٬۰۸۵</a:t>
            </a:r>
          </a:p>
        </p:txBody>
      </p:sp>
      <p:sp>
        <p:nvSpPr>
          <p:cNvPr id="23" name="TextBox 22"/>
          <p:cNvSpPr txBox="1"/>
          <p:nvPr/>
        </p:nvSpPr>
        <p:spPr>
          <a:xfrm>
            <a:off x="8966200" y="4152900"/>
            <a:ext cx="2616200" cy="139700"/>
          </a:xfrm>
          <a:prstGeom prst="rect">
            <a:avLst/>
          </a:prstGeom>
          <a:noFill/>
        </p:spPr>
        <p:txBody>
          <a:bodyPr wrap="none" lIns="0" rIns="0" tIns="0" bIns="0" anchor="ctr">
            <a:noAutofit/>
          </a:bodyPr>
          <a:lstStyle/>
          <a:p>
            <a:pPr rtl="1" algn="r"/>
            <a:r>
              <a:rPr sz="800" b="0" lang="fa-IR">
                <a:solidFill>
                  <a:srgbClr val="4E4D4A"/>
                </a:solidFill>
                <a:latin typeface="Tahoma"/>
                <a:cs typeface="Tahoma"/>
                <a:ea typeface="Tahoma"/>
              </a:rPr>
              <a:t>مورد بد در آن</a:t>
            </a:r>
          </a:p>
        </p:txBody>
      </p:sp>
      <p:sp>
        <p:nvSpPr>
          <p:cNvPr id="24" name="TextBox 23"/>
          <p:cNvSpPr txBox="1"/>
          <p:nvPr/>
        </p:nvSpPr>
        <p:spPr>
          <a:xfrm>
            <a:off x="6807200" y="4152900"/>
            <a:ext cx="2159000" cy="139700"/>
          </a:xfrm>
          <a:prstGeom prst="rect">
            <a:avLst/>
          </a:prstGeom>
          <a:noFill/>
        </p:spPr>
        <p:txBody>
          <a:bodyPr wrap="none" lIns="0" rIns="0" tIns="0" bIns="0" anchor="ctr">
            <a:noAutofit/>
          </a:bodyPr>
          <a:lstStyle/>
          <a:p>
            <a:pPr rtl="1" algn="l"/>
            <a:r>
              <a:rPr sz="800" b="1" lang="fa-IR">
                <a:solidFill>
                  <a:srgbClr val="0B0B0B"/>
                </a:solidFill>
                <a:latin typeface="Tahoma"/>
                <a:cs typeface="Tahoma"/>
                <a:ea typeface="Tahoma"/>
              </a:rPr>
              <a:t>۴۵٬۳۶۱ — ۰٫۵۲ درصد</a:t>
            </a:r>
          </a:p>
        </p:txBody>
      </p:sp>
      <p:sp>
        <p:nvSpPr>
          <p:cNvPr id="25" name="TextBox 24"/>
          <p:cNvSpPr txBox="1"/>
          <p:nvPr/>
        </p:nvSpPr>
        <p:spPr>
          <a:xfrm>
            <a:off x="8966200" y="4343400"/>
            <a:ext cx="2616200" cy="139700"/>
          </a:xfrm>
          <a:prstGeom prst="rect">
            <a:avLst/>
          </a:prstGeom>
          <a:noFill/>
        </p:spPr>
        <p:txBody>
          <a:bodyPr wrap="none" lIns="0" rIns="0" tIns="0" bIns="0" anchor="ctr">
            <a:noAutofit/>
          </a:bodyPr>
          <a:lstStyle/>
          <a:p>
            <a:pPr rtl="1" algn="r"/>
            <a:r>
              <a:rPr sz="800" b="0" lang="fa-IR">
                <a:solidFill>
                  <a:srgbClr val="4E4D4A"/>
                </a:solidFill>
                <a:latin typeface="Tahoma"/>
                <a:cs typeface="Tahoma"/>
                <a:ea typeface="Tahoma"/>
              </a:rPr>
              <a:t>ویژگی</a:t>
            </a:r>
          </a:p>
        </p:txBody>
      </p:sp>
      <p:sp>
        <p:nvSpPr>
          <p:cNvPr id="26" name="TextBox 25"/>
          <p:cNvSpPr txBox="1"/>
          <p:nvPr/>
        </p:nvSpPr>
        <p:spPr>
          <a:xfrm>
            <a:off x="6807200" y="4343400"/>
            <a:ext cx="2159000" cy="139700"/>
          </a:xfrm>
          <a:prstGeom prst="rect">
            <a:avLst/>
          </a:prstGeom>
          <a:noFill/>
        </p:spPr>
        <p:txBody>
          <a:bodyPr wrap="none" lIns="0" rIns="0" tIns="0" bIns="0" anchor="ctr">
            <a:noAutofit/>
          </a:bodyPr>
          <a:lstStyle/>
          <a:p>
            <a:pPr rtl="1" algn="l"/>
            <a:r>
              <a:rPr sz="800" b="1" lang="fa-IR">
                <a:solidFill>
                  <a:srgbClr val="0B0B0B"/>
                </a:solidFill>
                <a:latin typeface="Tahoma"/>
                <a:cs typeface="Tahoma"/>
                <a:ea typeface="Tahoma"/>
              </a:rPr>
              <a:t>۳۹</a:t>
            </a:r>
          </a:p>
        </p:txBody>
      </p:sp>
      <p:sp>
        <p:nvSpPr>
          <p:cNvPr id="27" name="TextBox 26"/>
          <p:cNvSpPr txBox="1"/>
          <p:nvPr/>
        </p:nvSpPr>
        <p:spPr>
          <a:xfrm>
            <a:off x="8966200" y="4533900"/>
            <a:ext cx="2616200" cy="139700"/>
          </a:xfrm>
          <a:prstGeom prst="rect">
            <a:avLst/>
          </a:prstGeom>
          <a:noFill/>
        </p:spPr>
        <p:txBody>
          <a:bodyPr wrap="none" lIns="0" rIns="0" tIns="0" bIns="0" anchor="ctr">
            <a:noAutofit/>
          </a:bodyPr>
          <a:lstStyle/>
          <a:p>
            <a:pPr rtl="1" algn="r"/>
            <a:r>
              <a:rPr sz="800" b="0" lang="fa-IR">
                <a:solidFill>
                  <a:srgbClr val="4E4D4A"/>
                </a:solidFill>
                <a:latin typeface="Tahoma"/>
                <a:cs typeface="Tahoma"/>
                <a:ea typeface="Tahoma"/>
              </a:rPr>
              <a:t>تفکیک با هش روی شناسهٔ مشترک</a:t>
            </a:r>
          </a:p>
        </p:txBody>
      </p:sp>
      <p:sp>
        <p:nvSpPr>
          <p:cNvPr id="28" name="TextBox 27"/>
          <p:cNvSpPr txBox="1"/>
          <p:nvPr/>
        </p:nvSpPr>
        <p:spPr>
          <a:xfrm>
            <a:off x="6807200" y="4533900"/>
            <a:ext cx="2159000" cy="139700"/>
          </a:xfrm>
          <a:prstGeom prst="rect">
            <a:avLst/>
          </a:prstGeom>
          <a:noFill/>
        </p:spPr>
        <p:txBody>
          <a:bodyPr wrap="none" lIns="0" rIns="0" tIns="0" bIns="0" anchor="ctr">
            <a:noAutofit/>
          </a:bodyPr>
          <a:lstStyle/>
          <a:p>
            <a:pPr rtl="1" algn="l"/>
            <a:r>
              <a:rPr sz="800" b="1" lang="fa-IR">
                <a:solidFill>
                  <a:srgbClr val="0B0B0B"/>
                </a:solidFill>
                <a:latin typeface="Tahoma"/>
                <a:cs typeface="Tahoma"/>
                <a:ea typeface="Tahoma"/>
              </a:rPr>
              <a:t>۷۰ و ۳۰ درصد</a:t>
            </a:r>
          </a:p>
        </p:txBody>
      </p:sp>
      <p:sp>
        <p:nvSpPr>
          <p:cNvPr id="29" name="TextBox 28"/>
          <p:cNvSpPr txBox="1"/>
          <p:nvPr/>
        </p:nvSpPr>
        <p:spPr>
          <a:xfrm>
            <a:off x="8966200" y="4724400"/>
            <a:ext cx="2616200" cy="139700"/>
          </a:xfrm>
          <a:prstGeom prst="rect">
            <a:avLst/>
          </a:prstGeom>
          <a:noFill/>
        </p:spPr>
        <p:txBody>
          <a:bodyPr wrap="none" lIns="0" rIns="0" tIns="0" bIns="0" anchor="ctr">
            <a:noAutofit/>
          </a:bodyPr>
          <a:lstStyle/>
          <a:p>
            <a:pPr rtl="1" algn="r"/>
            <a:r>
              <a:rPr sz="800" b="0" lang="fa-IR">
                <a:solidFill>
                  <a:srgbClr val="4E4D4A"/>
                </a:solidFill>
                <a:latin typeface="Tahoma"/>
                <a:cs typeface="Tahoma"/>
                <a:ea typeface="Tahoma"/>
              </a:rPr>
              <a:t>کالیبراسیون</a:t>
            </a:r>
          </a:p>
        </p:txBody>
      </p:sp>
      <p:sp>
        <p:nvSpPr>
          <p:cNvPr id="30" name="TextBox 29"/>
          <p:cNvSpPr txBox="1"/>
          <p:nvPr/>
        </p:nvSpPr>
        <p:spPr>
          <a:xfrm>
            <a:off x="6807200" y="4724400"/>
            <a:ext cx="2159000" cy="139700"/>
          </a:xfrm>
          <a:prstGeom prst="rect">
            <a:avLst/>
          </a:prstGeom>
          <a:noFill/>
        </p:spPr>
        <p:txBody>
          <a:bodyPr wrap="none" lIns="0" rIns="0" tIns="0" bIns="0" anchor="ctr">
            <a:noAutofit/>
          </a:bodyPr>
          <a:lstStyle/>
          <a:p>
            <a:pPr rtl="1" algn="l"/>
            <a:r>
              <a:rPr sz="800" b="1" lang="fa-IR">
                <a:solidFill>
                  <a:srgbClr val="0B0B0B"/>
                </a:solidFill>
                <a:latin typeface="Tahoma"/>
                <a:cs typeface="Tahoma"/>
                <a:ea typeface="Tahoma"/>
              </a:rPr>
              <a:t>ایزوتونیک، روی نیمی از اعتبارسنجی</a:t>
            </a:r>
          </a:p>
        </p:txBody>
      </p:sp>
      <p:sp>
        <p:nvSpPr>
          <p:cNvPr id="31" name="Rounded Rectangle 30"/>
          <p:cNvSpPr/>
          <p:nvPr/>
        </p:nvSpPr>
        <p:spPr>
          <a:xfrm>
            <a:off x="457200" y="3606800"/>
            <a:ext cx="5994400" cy="1320800"/>
          </a:xfrm>
          <a:prstGeom prst="roundRect">
            <a:avLst>
              <a:gd name="adj" fmla="val 7000"/>
            </a:avLst>
          </a:prstGeom>
          <a:solidFill>
            <a:srgbClr val="F6F6F3"/>
          </a:solidFill>
          <a:ln w="9525">
            <a:solidFill>
              <a:srgbClr val="E8E8E4"/>
            </a:solidFill>
          </a:ln>
          <a:effectLst/>
        </p:spPr>
        <p:txBody>
          <a:bodyPr rtlCol="0" anchor="ctr" wrap="none"/>
          <a:lstStyle/>
          <a:p>
            <a:pPr algn="ctr"/>
          </a:p>
        </p:txBody>
      </p:sp>
      <p:sp>
        <p:nvSpPr>
          <p:cNvPr id="32" name="TextBox 31"/>
          <p:cNvSpPr txBox="1"/>
          <p:nvPr/>
        </p:nvSpPr>
        <p:spPr>
          <a:xfrm>
            <a:off x="609600" y="3708400"/>
            <a:ext cx="5689600" cy="152400"/>
          </a:xfrm>
          <a:prstGeom prst="rect">
            <a:avLst/>
          </a:prstGeom>
          <a:noFill/>
        </p:spPr>
        <p:txBody>
          <a:bodyPr wrap="none" lIns="0" rIns="0" tIns="0" bIns="0" anchor="ctr">
            <a:noAutofit/>
          </a:bodyPr>
          <a:lstStyle/>
          <a:p>
            <a:pPr rtl="1" algn="r"/>
            <a:r>
              <a:rPr sz="950" b="1" lang="fa-IR">
                <a:solidFill>
                  <a:srgbClr val="4E4D4A"/>
                </a:solidFill>
                <a:latin typeface="Tahoma"/>
                <a:cs typeface="Tahoma"/>
                <a:ea typeface="Tahoma"/>
              </a:rPr>
              <a:t>تنظیمات مدل انتخاب‌شده</a:t>
            </a:r>
          </a:p>
        </p:txBody>
      </p:sp>
      <p:sp>
        <p:nvSpPr>
          <p:cNvPr id="33" name="TextBox 32"/>
          <p:cNvSpPr txBox="1"/>
          <p:nvPr/>
        </p:nvSpPr>
        <p:spPr>
          <a:xfrm>
            <a:off x="4402667" y="3962400"/>
            <a:ext cx="1769533" cy="139700"/>
          </a:xfrm>
          <a:prstGeom prst="rect">
            <a:avLst/>
          </a:prstGeom>
          <a:noFill/>
        </p:spPr>
        <p:txBody>
          <a:bodyPr wrap="none" lIns="0" rIns="0" tIns="0" bIns="0" anchor="ctr">
            <a:noAutofit/>
          </a:bodyPr>
          <a:lstStyle/>
          <a:p>
            <a:pPr rtl="1" algn="r"/>
            <a:r>
              <a:rPr sz="800" b="0" lang="fa-IR">
                <a:solidFill>
                  <a:srgbClr val="86857F"/>
                </a:solidFill>
                <a:latin typeface="Tahoma"/>
                <a:cs typeface="Tahoma"/>
                <a:ea typeface="Tahoma"/>
              </a:rPr>
              <a:t>تعداد درخت</a:t>
            </a:r>
          </a:p>
        </p:txBody>
      </p:sp>
      <p:sp>
        <p:nvSpPr>
          <p:cNvPr id="34" name="TextBox 33"/>
          <p:cNvSpPr txBox="1"/>
          <p:nvPr/>
        </p:nvSpPr>
        <p:spPr>
          <a:xfrm>
            <a:off x="4402667" y="3962400"/>
            <a:ext cx="762000" cy="139700"/>
          </a:xfrm>
          <a:prstGeom prst="rect">
            <a:avLst/>
          </a:prstGeom>
          <a:noFill/>
        </p:spPr>
        <p:txBody>
          <a:bodyPr wrap="none" lIns="0" rIns="0" tIns="0" bIns="0" anchor="ctr">
            <a:noAutofit/>
          </a:bodyPr>
          <a:lstStyle/>
          <a:p>
            <a:pPr rtl="1" algn="l"/>
            <a:r>
              <a:rPr sz="800" b="1" lang="fa-IR">
                <a:solidFill>
                  <a:srgbClr val="0B0B0B"/>
                </a:solidFill>
                <a:latin typeface="Tahoma"/>
                <a:cs typeface="Tahoma"/>
                <a:ea typeface="Tahoma"/>
              </a:rPr>
              <a:t>۴۰۰</a:t>
            </a:r>
          </a:p>
        </p:txBody>
      </p:sp>
      <p:cxnSp>
        <p:nvCxnSpPr>
          <p:cNvPr id="35" name="Connector 34"/>
          <p:cNvCxnSpPr/>
          <p:nvPr/>
        </p:nvCxnSpPr>
        <p:spPr>
          <a:xfrm>
            <a:off x="4402667" y="4114800"/>
            <a:ext cx="1769533" cy="0"/>
          </a:xfrm>
          <a:prstGeom prst="line">
            <a:avLst/>
          </a:prstGeom>
          <a:ln w="6350">
            <a:solidFill>
              <a:srgbClr val="E2E1DB"/>
            </a:solidFill>
          </a:ln>
          <a:effectLst/>
        </p:spPr>
      </p:cxnSp>
      <p:sp>
        <p:nvSpPr>
          <p:cNvPr id="36" name="TextBox 35"/>
          <p:cNvSpPr txBox="1"/>
          <p:nvPr/>
        </p:nvSpPr>
        <p:spPr>
          <a:xfrm>
            <a:off x="4402667" y="4178300"/>
            <a:ext cx="1769533" cy="139700"/>
          </a:xfrm>
          <a:prstGeom prst="rect">
            <a:avLst/>
          </a:prstGeom>
          <a:noFill/>
        </p:spPr>
        <p:txBody>
          <a:bodyPr wrap="none" lIns="0" rIns="0" tIns="0" bIns="0" anchor="ctr">
            <a:noAutofit/>
          </a:bodyPr>
          <a:lstStyle/>
          <a:p>
            <a:pPr rtl="1" algn="r"/>
            <a:r>
              <a:rPr sz="800" b="0" lang="fa-IR">
                <a:solidFill>
                  <a:srgbClr val="86857F"/>
                </a:solidFill>
                <a:latin typeface="Tahoma"/>
                <a:cs typeface="Tahoma"/>
                <a:ea typeface="Tahoma"/>
              </a:rPr>
              <a:t>نرخ یادگیری</a:t>
            </a:r>
          </a:p>
        </p:txBody>
      </p:sp>
      <p:sp>
        <p:nvSpPr>
          <p:cNvPr id="37" name="TextBox 36"/>
          <p:cNvSpPr txBox="1"/>
          <p:nvPr/>
        </p:nvSpPr>
        <p:spPr>
          <a:xfrm>
            <a:off x="4402667" y="4178300"/>
            <a:ext cx="762000" cy="139700"/>
          </a:xfrm>
          <a:prstGeom prst="rect">
            <a:avLst/>
          </a:prstGeom>
          <a:noFill/>
        </p:spPr>
        <p:txBody>
          <a:bodyPr wrap="none" lIns="0" rIns="0" tIns="0" bIns="0" anchor="ctr">
            <a:noAutofit/>
          </a:bodyPr>
          <a:lstStyle/>
          <a:p>
            <a:pPr rtl="1" algn="l"/>
            <a:r>
              <a:rPr sz="800" b="1" lang="fa-IR">
                <a:solidFill>
                  <a:srgbClr val="0B0B0B"/>
                </a:solidFill>
                <a:latin typeface="Tahoma"/>
                <a:cs typeface="Tahoma"/>
                <a:ea typeface="Tahoma"/>
              </a:rPr>
              <a:t>۰٫۰۶</a:t>
            </a:r>
          </a:p>
        </p:txBody>
      </p:sp>
      <p:cxnSp>
        <p:nvCxnSpPr>
          <p:cNvPr id="38" name="Connector 37"/>
          <p:cNvCxnSpPr/>
          <p:nvPr/>
        </p:nvCxnSpPr>
        <p:spPr>
          <a:xfrm>
            <a:off x="4402667" y="4330700"/>
            <a:ext cx="1769533" cy="0"/>
          </a:xfrm>
          <a:prstGeom prst="line">
            <a:avLst/>
          </a:prstGeom>
          <a:ln w="6350">
            <a:solidFill>
              <a:srgbClr val="E2E1DB"/>
            </a:solidFill>
          </a:ln>
          <a:effectLst/>
        </p:spPr>
      </p:cxnSp>
      <p:sp>
        <p:nvSpPr>
          <p:cNvPr id="39" name="TextBox 38"/>
          <p:cNvSpPr txBox="1"/>
          <p:nvPr/>
        </p:nvSpPr>
        <p:spPr>
          <a:xfrm>
            <a:off x="4402667" y="4394200"/>
            <a:ext cx="1769533" cy="139700"/>
          </a:xfrm>
          <a:prstGeom prst="rect">
            <a:avLst/>
          </a:prstGeom>
          <a:noFill/>
        </p:spPr>
        <p:txBody>
          <a:bodyPr wrap="none" lIns="0" rIns="0" tIns="0" bIns="0" anchor="ctr">
            <a:noAutofit/>
          </a:bodyPr>
          <a:lstStyle/>
          <a:p>
            <a:pPr rtl="1" algn="r"/>
            <a:r>
              <a:rPr sz="800" b="0" lang="fa-IR">
                <a:solidFill>
                  <a:srgbClr val="86857F"/>
                </a:solidFill>
                <a:latin typeface="Tahoma"/>
                <a:cs typeface="Tahoma"/>
                <a:ea typeface="Tahoma"/>
              </a:rPr>
              <a:t>عمق هر درخت</a:t>
            </a:r>
          </a:p>
        </p:txBody>
      </p:sp>
      <p:sp>
        <p:nvSpPr>
          <p:cNvPr id="40" name="TextBox 39"/>
          <p:cNvSpPr txBox="1"/>
          <p:nvPr/>
        </p:nvSpPr>
        <p:spPr>
          <a:xfrm>
            <a:off x="4402667" y="4394200"/>
            <a:ext cx="762000" cy="139700"/>
          </a:xfrm>
          <a:prstGeom prst="rect">
            <a:avLst/>
          </a:prstGeom>
          <a:noFill/>
        </p:spPr>
        <p:txBody>
          <a:bodyPr wrap="none" lIns="0" rIns="0" tIns="0" bIns="0" anchor="ctr">
            <a:noAutofit/>
          </a:bodyPr>
          <a:lstStyle/>
          <a:p>
            <a:pPr rtl="1" algn="l"/>
            <a:r>
              <a:rPr sz="800" b="1" lang="fa-IR">
                <a:solidFill>
                  <a:srgbClr val="0B0B0B"/>
                </a:solidFill>
                <a:latin typeface="Tahoma"/>
                <a:cs typeface="Tahoma"/>
                <a:ea typeface="Tahoma"/>
              </a:rPr>
              <a:t>۵</a:t>
            </a:r>
          </a:p>
        </p:txBody>
      </p:sp>
      <p:cxnSp>
        <p:nvCxnSpPr>
          <p:cNvPr id="41" name="Connector 40"/>
          <p:cNvCxnSpPr/>
          <p:nvPr/>
        </p:nvCxnSpPr>
        <p:spPr>
          <a:xfrm>
            <a:off x="4402667" y="4546600"/>
            <a:ext cx="1769533" cy="0"/>
          </a:xfrm>
          <a:prstGeom prst="line">
            <a:avLst/>
          </a:prstGeom>
          <a:ln w="6350">
            <a:solidFill>
              <a:srgbClr val="E2E1DB"/>
            </a:solidFill>
          </a:ln>
          <a:effectLst/>
        </p:spPr>
      </p:cxnSp>
      <p:sp>
        <p:nvSpPr>
          <p:cNvPr id="42" name="TextBox 41"/>
          <p:cNvSpPr txBox="1"/>
          <p:nvPr/>
        </p:nvSpPr>
        <p:spPr>
          <a:xfrm>
            <a:off x="2506133" y="3962400"/>
            <a:ext cx="1769533" cy="139700"/>
          </a:xfrm>
          <a:prstGeom prst="rect">
            <a:avLst/>
          </a:prstGeom>
          <a:noFill/>
        </p:spPr>
        <p:txBody>
          <a:bodyPr wrap="none" lIns="0" rIns="0" tIns="0" bIns="0" anchor="ctr">
            <a:noAutofit/>
          </a:bodyPr>
          <a:lstStyle/>
          <a:p>
            <a:pPr rtl="1" algn="r"/>
            <a:r>
              <a:rPr sz="800" b="0" lang="fa-IR">
                <a:solidFill>
                  <a:srgbClr val="86857F"/>
                </a:solidFill>
                <a:latin typeface="Tahoma"/>
                <a:cs typeface="Tahoma"/>
                <a:ea typeface="Tahoma"/>
              </a:rPr>
              <a:t>برگ در هر درخت</a:t>
            </a:r>
          </a:p>
        </p:txBody>
      </p:sp>
      <p:sp>
        <p:nvSpPr>
          <p:cNvPr id="43" name="TextBox 42"/>
          <p:cNvSpPr txBox="1"/>
          <p:nvPr/>
        </p:nvSpPr>
        <p:spPr>
          <a:xfrm>
            <a:off x="2506133" y="3962400"/>
            <a:ext cx="762000" cy="139700"/>
          </a:xfrm>
          <a:prstGeom prst="rect">
            <a:avLst/>
          </a:prstGeom>
          <a:noFill/>
        </p:spPr>
        <p:txBody>
          <a:bodyPr wrap="none" lIns="0" rIns="0" tIns="0" bIns="0" anchor="ctr">
            <a:noAutofit/>
          </a:bodyPr>
          <a:lstStyle/>
          <a:p>
            <a:pPr rtl="1" algn="l"/>
            <a:r>
              <a:rPr sz="800" b="1" lang="fa-IR">
                <a:solidFill>
                  <a:srgbClr val="0B0B0B"/>
                </a:solidFill>
                <a:latin typeface="Tahoma"/>
                <a:cs typeface="Tahoma"/>
                <a:ea typeface="Tahoma"/>
              </a:rPr>
              <a:t>۳۱</a:t>
            </a:r>
          </a:p>
        </p:txBody>
      </p:sp>
      <p:cxnSp>
        <p:nvCxnSpPr>
          <p:cNvPr id="44" name="Connector 43"/>
          <p:cNvCxnSpPr/>
          <p:nvPr/>
        </p:nvCxnSpPr>
        <p:spPr>
          <a:xfrm>
            <a:off x="2506133" y="4114800"/>
            <a:ext cx="1769534" cy="0"/>
          </a:xfrm>
          <a:prstGeom prst="line">
            <a:avLst/>
          </a:prstGeom>
          <a:ln w="6350">
            <a:solidFill>
              <a:srgbClr val="E2E1DB"/>
            </a:solidFill>
          </a:ln>
          <a:effectLst/>
        </p:spPr>
      </p:cxnSp>
      <p:sp>
        <p:nvSpPr>
          <p:cNvPr id="45" name="TextBox 44"/>
          <p:cNvSpPr txBox="1"/>
          <p:nvPr/>
        </p:nvSpPr>
        <p:spPr>
          <a:xfrm>
            <a:off x="2506133" y="4178300"/>
            <a:ext cx="1769533" cy="139700"/>
          </a:xfrm>
          <a:prstGeom prst="rect">
            <a:avLst/>
          </a:prstGeom>
          <a:noFill/>
        </p:spPr>
        <p:txBody>
          <a:bodyPr wrap="none" lIns="0" rIns="0" tIns="0" bIns="0" anchor="ctr">
            <a:noAutofit/>
          </a:bodyPr>
          <a:lstStyle/>
          <a:p>
            <a:pPr rtl="1" algn="r"/>
            <a:r>
              <a:rPr sz="800" b="0" lang="fa-IR">
                <a:solidFill>
                  <a:srgbClr val="86857F"/>
                </a:solidFill>
                <a:latin typeface="Tahoma"/>
                <a:cs typeface="Tahoma"/>
                <a:ea typeface="Tahoma"/>
              </a:rPr>
              <a:t>حداقل نمونه در برگ</a:t>
            </a:r>
          </a:p>
        </p:txBody>
      </p:sp>
      <p:sp>
        <p:nvSpPr>
          <p:cNvPr id="46" name="TextBox 45"/>
          <p:cNvSpPr txBox="1"/>
          <p:nvPr/>
        </p:nvSpPr>
        <p:spPr>
          <a:xfrm>
            <a:off x="2506133" y="4178300"/>
            <a:ext cx="762000" cy="139700"/>
          </a:xfrm>
          <a:prstGeom prst="rect">
            <a:avLst/>
          </a:prstGeom>
          <a:noFill/>
        </p:spPr>
        <p:txBody>
          <a:bodyPr wrap="none" lIns="0" rIns="0" tIns="0" bIns="0" anchor="ctr">
            <a:noAutofit/>
          </a:bodyPr>
          <a:lstStyle/>
          <a:p>
            <a:pPr rtl="1" algn="l"/>
            <a:r>
              <a:rPr sz="800" b="1" lang="fa-IR">
                <a:solidFill>
                  <a:srgbClr val="0B0B0B"/>
                </a:solidFill>
                <a:latin typeface="Tahoma"/>
                <a:cs typeface="Tahoma"/>
                <a:ea typeface="Tahoma"/>
              </a:rPr>
              <a:t>۲۰۰</a:t>
            </a:r>
          </a:p>
        </p:txBody>
      </p:sp>
      <p:cxnSp>
        <p:nvCxnSpPr>
          <p:cNvPr id="47" name="Connector 46"/>
          <p:cNvCxnSpPr/>
          <p:nvPr/>
        </p:nvCxnSpPr>
        <p:spPr>
          <a:xfrm>
            <a:off x="2506133" y="4330700"/>
            <a:ext cx="1769534" cy="0"/>
          </a:xfrm>
          <a:prstGeom prst="line">
            <a:avLst/>
          </a:prstGeom>
          <a:ln w="6350">
            <a:solidFill>
              <a:srgbClr val="E2E1DB"/>
            </a:solidFill>
          </a:ln>
          <a:effectLst/>
        </p:spPr>
      </p:cxnSp>
      <p:sp>
        <p:nvSpPr>
          <p:cNvPr id="48" name="TextBox 47"/>
          <p:cNvSpPr txBox="1"/>
          <p:nvPr/>
        </p:nvSpPr>
        <p:spPr>
          <a:xfrm>
            <a:off x="2506133" y="4394200"/>
            <a:ext cx="1769533" cy="139700"/>
          </a:xfrm>
          <a:prstGeom prst="rect">
            <a:avLst/>
          </a:prstGeom>
          <a:noFill/>
        </p:spPr>
        <p:txBody>
          <a:bodyPr wrap="none" lIns="0" rIns="0" tIns="0" bIns="0" anchor="ctr">
            <a:noAutofit/>
          </a:bodyPr>
          <a:lstStyle/>
          <a:p>
            <a:pPr rtl="1" algn="r"/>
            <a:r>
              <a:rPr sz="800" b="0" lang="fa-IR">
                <a:solidFill>
                  <a:srgbClr val="86857F"/>
                </a:solidFill>
                <a:latin typeface="Tahoma"/>
                <a:cs typeface="Tahoma"/>
                <a:ea typeface="Tahoma"/>
              </a:rPr>
              <a:t>جریمه L2</a:t>
            </a:r>
          </a:p>
        </p:txBody>
      </p:sp>
      <p:sp>
        <p:nvSpPr>
          <p:cNvPr id="49" name="TextBox 48"/>
          <p:cNvSpPr txBox="1"/>
          <p:nvPr/>
        </p:nvSpPr>
        <p:spPr>
          <a:xfrm>
            <a:off x="2506133" y="4394200"/>
            <a:ext cx="762000" cy="139700"/>
          </a:xfrm>
          <a:prstGeom prst="rect">
            <a:avLst/>
          </a:prstGeom>
          <a:noFill/>
        </p:spPr>
        <p:txBody>
          <a:bodyPr wrap="none" lIns="0" rIns="0" tIns="0" bIns="0" anchor="ctr">
            <a:noAutofit/>
          </a:bodyPr>
          <a:lstStyle/>
          <a:p>
            <a:pPr rtl="1" algn="l"/>
            <a:r>
              <a:rPr sz="800" b="1" lang="fa-IR">
                <a:solidFill>
                  <a:srgbClr val="0B0B0B"/>
                </a:solidFill>
                <a:latin typeface="Tahoma"/>
                <a:cs typeface="Tahoma"/>
                <a:ea typeface="Tahoma"/>
              </a:rPr>
              <a:t>۱٫۰</a:t>
            </a:r>
          </a:p>
        </p:txBody>
      </p:sp>
      <p:cxnSp>
        <p:nvCxnSpPr>
          <p:cNvPr id="50" name="Connector 49"/>
          <p:cNvCxnSpPr/>
          <p:nvPr/>
        </p:nvCxnSpPr>
        <p:spPr>
          <a:xfrm>
            <a:off x="2506133" y="4546600"/>
            <a:ext cx="1769534" cy="0"/>
          </a:xfrm>
          <a:prstGeom prst="line">
            <a:avLst/>
          </a:prstGeom>
          <a:ln w="6350">
            <a:solidFill>
              <a:srgbClr val="E2E1DB"/>
            </a:solidFill>
          </a:ln>
          <a:effectLst/>
        </p:spPr>
      </p:cxnSp>
      <p:sp>
        <p:nvSpPr>
          <p:cNvPr id="51" name="TextBox 50"/>
          <p:cNvSpPr txBox="1"/>
          <p:nvPr/>
        </p:nvSpPr>
        <p:spPr>
          <a:xfrm>
            <a:off x="609600" y="3962400"/>
            <a:ext cx="1769533" cy="139700"/>
          </a:xfrm>
          <a:prstGeom prst="rect">
            <a:avLst/>
          </a:prstGeom>
          <a:noFill/>
        </p:spPr>
        <p:txBody>
          <a:bodyPr wrap="none" lIns="0" rIns="0" tIns="0" bIns="0" anchor="ctr">
            <a:noAutofit/>
          </a:bodyPr>
          <a:lstStyle/>
          <a:p>
            <a:pPr rtl="1" algn="r"/>
            <a:r>
              <a:rPr sz="800" b="0" lang="fa-IR">
                <a:solidFill>
                  <a:srgbClr val="86857F"/>
                </a:solidFill>
                <a:latin typeface="Tahoma"/>
                <a:cs typeface="Tahoma"/>
                <a:ea typeface="Tahoma"/>
              </a:rPr>
              <a:t>توقف زودهنگام</a:t>
            </a:r>
          </a:p>
        </p:txBody>
      </p:sp>
      <p:sp>
        <p:nvSpPr>
          <p:cNvPr id="52" name="TextBox 51"/>
          <p:cNvSpPr txBox="1"/>
          <p:nvPr/>
        </p:nvSpPr>
        <p:spPr>
          <a:xfrm>
            <a:off x="609600" y="3962400"/>
            <a:ext cx="762000" cy="139700"/>
          </a:xfrm>
          <a:prstGeom prst="rect">
            <a:avLst/>
          </a:prstGeom>
          <a:noFill/>
        </p:spPr>
        <p:txBody>
          <a:bodyPr wrap="none" lIns="0" rIns="0" tIns="0" bIns="0" anchor="ctr">
            <a:noAutofit/>
          </a:bodyPr>
          <a:lstStyle/>
          <a:p>
            <a:pPr rtl="1" algn="l"/>
            <a:r>
              <a:rPr sz="800" b="1" lang="fa-IR">
                <a:solidFill>
                  <a:srgbClr val="0B0B0B"/>
                </a:solidFill>
                <a:latin typeface="Tahoma"/>
                <a:cs typeface="Tahoma"/>
                <a:ea typeface="Tahoma"/>
              </a:rPr>
              <a:t>۳۰ دور بدون بهبود</a:t>
            </a:r>
          </a:p>
        </p:txBody>
      </p:sp>
      <p:cxnSp>
        <p:nvCxnSpPr>
          <p:cNvPr id="53" name="Connector 52"/>
          <p:cNvCxnSpPr/>
          <p:nvPr/>
        </p:nvCxnSpPr>
        <p:spPr>
          <a:xfrm>
            <a:off x="609600" y="4114800"/>
            <a:ext cx="1769533" cy="0"/>
          </a:xfrm>
          <a:prstGeom prst="line">
            <a:avLst/>
          </a:prstGeom>
          <a:ln w="6350">
            <a:solidFill>
              <a:srgbClr val="E2E1DB"/>
            </a:solidFill>
          </a:ln>
          <a:effectLst/>
        </p:spPr>
      </p:cxnSp>
      <p:sp>
        <p:nvSpPr>
          <p:cNvPr id="54" name="TextBox 53"/>
          <p:cNvSpPr txBox="1"/>
          <p:nvPr/>
        </p:nvSpPr>
        <p:spPr>
          <a:xfrm>
            <a:off x="609600" y="4178300"/>
            <a:ext cx="1769533" cy="139700"/>
          </a:xfrm>
          <a:prstGeom prst="rect">
            <a:avLst/>
          </a:prstGeom>
          <a:noFill/>
        </p:spPr>
        <p:txBody>
          <a:bodyPr wrap="none" lIns="0" rIns="0" tIns="0" bIns="0" anchor="ctr">
            <a:noAutofit/>
          </a:bodyPr>
          <a:lstStyle/>
          <a:p>
            <a:pPr rtl="1" algn="r"/>
            <a:r>
              <a:rPr sz="800" b="0" lang="fa-IR">
                <a:solidFill>
                  <a:srgbClr val="86857F"/>
                </a:solidFill>
                <a:latin typeface="Tahoma"/>
                <a:cs typeface="Tahoma"/>
                <a:ea typeface="Tahoma"/>
              </a:rPr>
              <a:t>وزن کلاس</a:t>
            </a:r>
          </a:p>
        </p:txBody>
      </p:sp>
      <p:sp>
        <p:nvSpPr>
          <p:cNvPr id="55" name="TextBox 54"/>
          <p:cNvSpPr txBox="1"/>
          <p:nvPr/>
        </p:nvSpPr>
        <p:spPr>
          <a:xfrm>
            <a:off x="609600" y="4178300"/>
            <a:ext cx="762000" cy="139700"/>
          </a:xfrm>
          <a:prstGeom prst="rect">
            <a:avLst/>
          </a:prstGeom>
          <a:noFill/>
        </p:spPr>
        <p:txBody>
          <a:bodyPr wrap="none" lIns="0" rIns="0" tIns="0" bIns="0" anchor="ctr">
            <a:noAutofit/>
          </a:bodyPr>
          <a:lstStyle/>
          <a:p>
            <a:pPr rtl="1" algn="l"/>
            <a:r>
              <a:rPr sz="800" b="1" lang="fa-IR">
                <a:solidFill>
                  <a:srgbClr val="0B0B0B"/>
                </a:solidFill>
                <a:latin typeface="Tahoma"/>
                <a:cs typeface="Tahoma"/>
                <a:ea typeface="Tahoma"/>
              </a:rPr>
              <a:t>متوازن</a:t>
            </a:r>
          </a:p>
        </p:txBody>
      </p:sp>
      <p:cxnSp>
        <p:nvCxnSpPr>
          <p:cNvPr id="56" name="Connector 55"/>
          <p:cNvCxnSpPr/>
          <p:nvPr/>
        </p:nvCxnSpPr>
        <p:spPr>
          <a:xfrm>
            <a:off x="609600" y="4330700"/>
            <a:ext cx="1769533" cy="0"/>
          </a:xfrm>
          <a:prstGeom prst="line">
            <a:avLst/>
          </a:prstGeom>
          <a:ln w="6350">
            <a:solidFill>
              <a:srgbClr val="E2E1DB"/>
            </a:solidFill>
          </a:ln>
          <a:effectLst/>
        </p:spPr>
      </p:cxnSp>
      <p:sp>
        <p:nvSpPr>
          <p:cNvPr id="57" name="TextBox 56"/>
          <p:cNvSpPr txBox="1"/>
          <p:nvPr/>
        </p:nvSpPr>
        <p:spPr>
          <a:xfrm>
            <a:off x="609600" y="4394200"/>
            <a:ext cx="1769533" cy="139700"/>
          </a:xfrm>
          <a:prstGeom prst="rect">
            <a:avLst/>
          </a:prstGeom>
          <a:noFill/>
        </p:spPr>
        <p:txBody>
          <a:bodyPr wrap="none" lIns="0" rIns="0" tIns="0" bIns="0" anchor="ctr">
            <a:noAutofit/>
          </a:bodyPr>
          <a:lstStyle/>
          <a:p>
            <a:pPr rtl="1" algn="r"/>
            <a:r>
              <a:rPr sz="800" b="0" lang="fa-IR">
                <a:solidFill>
                  <a:srgbClr val="86857F"/>
                </a:solidFill>
                <a:latin typeface="Tahoma"/>
                <a:cs typeface="Tahoma"/>
                <a:ea typeface="Tahoma"/>
              </a:rPr>
              <a:t>بذر تصادفی</a:t>
            </a:r>
          </a:p>
        </p:txBody>
      </p:sp>
      <p:sp>
        <p:nvSpPr>
          <p:cNvPr id="58" name="TextBox 57"/>
          <p:cNvSpPr txBox="1"/>
          <p:nvPr/>
        </p:nvSpPr>
        <p:spPr>
          <a:xfrm>
            <a:off x="609600" y="4394200"/>
            <a:ext cx="762000" cy="139700"/>
          </a:xfrm>
          <a:prstGeom prst="rect">
            <a:avLst/>
          </a:prstGeom>
          <a:noFill/>
        </p:spPr>
        <p:txBody>
          <a:bodyPr wrap="none" lIns="0" rIns="0" tIns="0" bIns="0" anchor="ctr">
            <a:noAutofit/>
          </a:bodyPr>
          <a:lstStyle/>
          <a:p>
            <a:pPr rtl="1" algn="l"/>
            <a:r>
              <a:rPr sz="800" b="1" lang="fa-IR">
                <a:solidFill>
                  <a:srgbClr val="0B0B0B"/>
                </a:solidFill>
                <a:latin typeface="Tahoma"/>
                <a:cs typeface="Tahoma"/>
                <a:ea typeface="Tahoma"/>
              </a:rPr>
              <a:t>۴۲</a:t>
            </a:r>
          </a:p>
        </p:txBody>
      </p:sp>
      <p:cxnSp>
        <p:nvCxnSpPr>
          <p:cNvPr id="59" name="Connector 58"/>
          <p:cNvCxnSpPr/>
          <p:nvPr/>
        </p:nvCxnSpPr>
        <p:spPr>
          <a:xfrm>
            <a:off x="609600" y="4546600"/>
            <a:ext cx="1769533" cy="0"/>
          </a:xfrm>
          <a:prstGeom prst="line">
            <a:avLst/>
          </a:prstGeom>
          <a:ln w="6350">
            <a:solidFill>
              <a:srgbClr val="E2E1DB"/>
            </a:solidFill>
          </a:ln>
          <a:effectLst/>
        </p:spPr>
      </p:cxnSp>
      <p:sp>
        <p:nvSpPr>
          <p:cNvPr id="60" name="Rounded Rectangle 59"/>
          <p:cNvSpPr/>
          <p:nvPr/>
        </p:nvSpPr>
        <p:spPr>
          <a:xfrm>
            <a:off x="8060267" y="5054600"/>
            <a:ext cx="3674533" cy="1092200"/>
          </a:xfrm>
          <a:prstGeom prst="roundRect">
            <a:avLst>
              <a:gd name="adj" fmla="val 7000"/>
            </a:avLst>
          </a:prstGeom>
          <a:solidFill>
            <a:srgbClr val="F6F6F3"/>
          </a:solidFill>
          <a:ln w="9525">
            <a:solidFill>
              <a:srgbClr val="E8E8E4"/>
            </a:solidFill>
          </a:ln>
          <a:effectLst/>
        </p:spPr>
        <p:txBody>
          <a:bodyPr rtlCol="0" anchor="ctr" wrap="none"/>
          <a:lstStyle/>
          <a:p>
            <a:pPr algn="ctr"/>
          </a:p>
        </p:txBody>
      </p:sp>
      <p:cxnSp>
        <p:nvCxnSpPr>
          <p:cNvPr id="61" name="Connector 60"/>
          <p:cNvCxnSpPr/>
          <p:nvPr/>
        </p:nvCxnSpPr>
        <p:spPr>
          <a:xfrm>
            <a:off x="11734800" y="5054600"/>
            <a:ext cx="0" cy="1092200"/>
          </a:xfrm>
          <a:prstGeom prst="line">
            <a:avLst/>
          </a:prstGeom>
          <a:ln w="31750">
            <a:solidFill>
              <a:srgbClr val="FAB219"/>
            </a:solidFill>
          </a:ln>
          <a:effectLst/>
        </p:spPr>
      </p:cxnSp>
      <p:sp>
        <p:nvSpPr>
          <p:cNvPr id="62" name="TextBox 61"/>
          <p:cNvSpPr txBox="1"/>
          <p:nvPr/>
        </p:nvSpPr>
        <p:spPr>
          <a:xfrm>
            <a:off x="8187267" y="5143500"/>
            <a:ext cx="3420533" cy="152400"/>
          </a:xfrm>
          <a:prstGeom prst="rect">
            <a:avLst/>
          </a:prstGeom>
          <a:noFill/>
        </p:spPr>
        <p:txBody>
          <a:bodyPr wrap="square" lIns="0" rIns="0" tIns="0" bIns="0" anchor="t">
            <a:noAutofit/>
          </a:bodyPr>
          <a:lstStyle/>
          <a:p>
            <a:pPr rtl="1" algn="r"/>
            <a:r>
              <a:rPr sz="850" b="1" lang="fa-IR">
                <a:solidFill>
                  <a:srgbClr val="0B0B0B"/>
                </a:solidFill>
                <a:latin typeface="Tahoma"/>
                <a:cs typeface="Tahoma"/>
                <a:ea typeface="Tahoma"/>
              </a:rPr>
              <a:t>رتبه‌بندی را بیشتر از سطح باور کنید</a:t>
            </a:r>
          </a:p>
        </p:txBody>
      </p:sp>
      <p:sp>
        <p:nvSpPr>
          <p:cNvPr id="63" name="TextBox 62"/>
          <p:cNvSpPr txBox="1"/>
          <p:nvPr/>
        </p:nvSpPr>
        <p:spPr>
          <a:xfrm>
            <a:off x="8187267" y="5334000"/>
            <a:ext cx="3420533" cy="711200"/>
          </a:xfrm>
          <a:prstGeom prst="rect">
            <a:avLst/>
          </a:prstGeom>
          <a:noFill/>
        </p:spPr>
        <p:txBody>
          <a:bodyPr wrap="square" lIns="0" rIns="0" tIns="0" bIns="0" anchor="t">
            <a:noAutofit/>
          </a:bodyPr>
          <a:lstStyle/>
          <a:p>
            <a:pPr rtl="1" algn="r">
              <a:lnSpc>
                <a:spcPct val="140000"/>
              </a:lnSpc>
            </a:pPr>
            <a:r>
              <a:rPr sz="800" b="0" lang="fa-IR">
                <a:solidFill>
                  <a:srgbClr val="4E4D4A"/>
                </a:solidFill>
                <a:latin typeface="Tahoma"/>
                <a:cs typeface="Tahoma"/>
                <a:ea typeface="Tahoma"/>
              </a:rPr>
              <a:t>۱۲ ویژگی رانش معنادار دارند، بیشترین با PSI ۳٫۰۲. مدل روی جمعیت زنده ۰٫۵۹۵ درصد می‌دهد در برابر ۰٫۵۱۵ درصد روی آزمون. ترتیب ریسک در برابر این جابه‌جایی مقاوم است، عدد مطلق نه.</a:t>
            </a:r>
          </a:p>
        </p:txBody>
      </p:sp>
      <p:sp>
        <p:nvSpPr>
          <p:cNvPr id="64" name="Rounded Rectangle 63"/>
          <p:cNvSpPr/>
          <p:nvPr/>
        </p:nvSpPr>
        <p:spPr>
          <a:xfrm>
            <a:off x="4258733" y="5054600"/>
            <a:ext cx="3674533" cy="1092200"/>
          </a:xfrm>
          <a:prstGeom prst="roundRect">
            <a:avLst>
              <a:gd name="adj" fmla="val 7000"/>
            </a:avLst>
          </a:prstGeom>
          <a:solidFill>
            <a:srgbClr val="F6F6F3"/>
          </a:solidFill>
          <a:ln w="9525">
            <a:solidFill>
              <a:srgbClr val="E8E8E4"/>
            </a:solidFill>
          </a:ln>
          <a:effectLst/>
        </p:spPr>
        <p:txBody>
          <a:bodyPr rtlCol="0" anchor="ctr" wrap="none"/>
          <a:lstStyle/>
          <a:p>
            <a:pPr algn="ctr"/>
          </a:p>
        </p:txBody>
      </p:sp>
      <p:cxnSp>
        <p:nvCxnSpPr>
          <p:cNvPr id="65" name="Connector 64"/>
          <p:cNvCxnSpPr/>
          <p:nvPr/>
        </p:nvCxnSpPr>
        <p:spPr>
          <a:xfrm>
            <a:off x="7933267" y="5054600"/>
            <a:ext cx="0" cy="1092200"/>
          </a:xfrm>
          <a:prstGeom prst="line">
            <a:avLst/>
          </a:prstGeom>
          <a:ln w="31750">
            <a:solidFill>
              <a:srgbClr val="FAB219"/>
            </a:solidFill>
          </a:ln>
          <a:effectLst/>
        </p:spPr>
      </p:cxnSp>
      <p:sp>
        <p:nvSpPr>
          <p:cNvPr id="66" name="TextBox 65"/>
          <p:cNvSpPr txBox="1"/>
          <p:nvPr/>
        </p:nvSpPr>
        <p:spPr>
          <a:xfrm>
            <a:off x="4385733" y="5143500"/>
            <a:ext cx="3420533" cy="152400"/>
          </a:xfrm>
          <a:prstGeom prst="rect">
            <a:avLst/>
          </a:prstGeom>
          <a:noFill/>
        </p:spPr>
        <p:txBody>
          <a:bodyPr wrap="square" lIns="0" rIns="0" tIns="0" bIns="0" anchor="t">
            <a:noAutofit/>
          </a:bodyPr>
          <a:lstStyle/>
          <a:p>
            <a:pPr rtl="1" algn="r"/>
            <a:r>
              <a:rPr sz="850" b="1" lang="fa-IR">
                <a:solidFill>
                  <a:srgbClr val="0B0B0B"/>
                </a:solidFill>
                <a:latin typeface="Tahoma"/>
                <a:cs typeface="Tahoma"/>
                <a:ea typeface="Tahoma"/>
              </a:rPr>
              <a:t>کالیبراسیون در دهک‌های امن محافظه‌کار است</a:t>
            </a:r>
          </a:p>
        </p:txBody>
      </p:sp>
      <p:sp>
        <p:nvSpPr>
          <p:cNvPr id="67" name="TextBox 66"/>
          <p:cNvSpPr txBox="1"/>
          <p:nvPr/>
        </p:nvSpPr>
        <p:spPr>
          <a:xfrm>
            <a:off x="4385733" y="5334000"/>
            <a:ext cx="3420533" cy="711200"/>
          </a:xfrm>
          <a:prstGeom prst="rect">
            <a:avLst/>
          </a:prstGeom>
          <a:noFill/>
        </p:spPr>
        <p:txBody>
          <a:bodyPr wrap="square" lIns="0" rIns="0" tIns="0" bIns="0" anchor="t">
            <a:noAutofit/>
          </a:bodyPr>
          <a:lstStyle/>
          <a:p>
            <a:pPr rtl="1" algn="r">
              <a:lnSpc>
                <a:spcPct val="140000"/>
              </a:lnSpc>
            </a:pPr>
            <a:r>
              <a:rPr sz="800" b="0" lang="fa-IR">
                <a:solidFill>
                  <a:srgbClr val="4E4D4A"/>
                </a:solidFill>
                <a:latin typeface="Tahoma"/>
                <a:cs typeface="Tahoma"/>
                <a:ea typeface="Tahoma"/>
              </a:rPr>
              <a:t>در سه دهک امن، ریسک مشاهده‌شده ۰٫۷۸ برابر چیزی است که مدل پیش‌بینی می‌کند — یعنی بیش از واقع برآورد می‌کند. جهتش به نفع ماست، ولی عدد را نقطه‌ای نخوانید.</a:t>
            </a:r>
          </a:p>
        </p:txBody>
      </p:sp>
      <p:sp>
        <p:nvSpPr>
          <p:cNvPr id="68" name="Rounded Rectangle 67"/>
          <p:cNvSpPr/>
          <p:nvPr/>
        </p:nvSpPr>
        <p:spPr>
          <a:xfrm>
            <a:off x="457200" y="5054600"/>
            <a:ext cx="3674533" cy="1092200"/>
          </a:xfrm>
          <a:prstGeom prst="roundRect">
            <a:avLst>
              <a:gd name="adj" fmla="val 7000"/>
            </a:avLst>
          </a:prstGeom>
          <a:solidFill>
            <a:srgbClr val="F6F6F3"/>
          </a:solidFill>
          <a:ln w="9525">
            <a:solidFill>
              <a:srgbClr val="E8E8E4"/>
            </a:solidFill>
          </a:ln>
          <a:effectLst/>
        </p:spPr>
        <p:txBody>
          <a:bodyPr rtlCol="0" anchor="ctr" wrap="none"/>
          <a:lstStyle/>
          <a:p>
            <a:pPr algn="ctr"/>
          </a:p>
        </p:txBody>
      </p:sp>
      <p:cxnSp>
        <p:nvCxnSpPr>
          <p:cNvPr id="69" name="Connector 68"/>
          <p:cNvCxnSpPr/>
          <p:nvPr/>
        </p:nvCxnSpPr>
        <p:spPr>
          <a:xfrm>
            <a:off x="4131733" y="5054600"/>
            <a:ext cx="0" cy="1092200"/>
          </a:xfrm>
          <a:prstGeom prst="line">
            <a:avLst/>
          </a:prstGeom>
          <a:ln w="31750">
            <a:solidFill>
              <a:srgbClr val="FAB219"/>
            </a:solidFill>
          </a:ln>
          <a:effectLst/>
        </p:spPr>
      </p:cxnSp>
      <p:sp>
        <p:nvSpPr>
          <p:cNvPr id="70" name="TextBox 69"/>
          <p:cNvSpPr txBox="1"/>
          <p:nvPr/>
        </p:nvSpPr>
        <p:spPr>
          <a:xfrm>
            <a:off x="584200" y="5143500"/>
            <a:ext cx="3420533" cy="152400"/>
          </a:xfrm>
          <a:prstGeom prst="rect">
            <a:avLst/>
          </a:prstGeom>
          <a:noFill/>
        </p:spPr>
        <p:txBody>
          <a:bodyPr wrap="square" lIns="0" rIns="0" tIns="0" bIns="0" anchor="t">
            <a:noAutofit/>
          </a:bodyPr>
          <a:lstStyle/>
          <a:p>
            <a:pPr rtl="1" algn="r"/>
            <a:r>
              <a:rPr sz="850" b="1" lang="fa-IR">
                <a:solidFill>
                  <a:srgbClr val="0B0B0B"/>
                </a:solidFill>
                <a:latin typeface="Tahoma"/>
                <a:cs typeface="Tahoma"/>
                <a:ea typeface="Tahoma"/>
              </a:rPr>
              <a:t>سطح اعداد تأییدنشده است</a:t>
            </a:r>
          </a:p>
        </p:txBody>
      </p:sp>
      <p:sp>
        <p:nvSpPr>
          <p:cNvPr id="71" name="TextBox 70"/>
          <p:cNvSpPr txBox="1"/>
          <p:nvPr/>
        </p:nvSpPr>
        <p:spPr>
          <a:xfrm>
            <a:off x="584200" y="5334000"/>
            <a:ext cx="3420533" cy="711200"/>
          </a:xfrm>
          <a:prstGeom prst="rect">
            <a:avLst/>
          </a:prstGeom>
          <a:noFill/>
        </p:spPr>
        <p:txBody>
          <a:bodyPr wrap="square" lIns="0" rIns="0" tIns="0" bIns="0" anchor="t">
            <a:noAutofit/>
          </a:bodyPr>
          <a:lstStyle/>
          <a:p>
            <a:pPr rtl="1" algn="r">
              <a:lnSpc>
                <a:spcPct val="140000"/>
              </a:lnSpc>
            </a:pPr>
            <a:r>
              <a:rPr sz="800" b="0" lang="fa-IR">
                <a:solidFill>
                  <a:srgbClr val="4E4D4A"/>
                </a:solidFill>
                <a:latin typeface="Tahoma"/>
                <a:cs typeface="Tahoma"/>
                <a:ea typeface="Tahoma"/>
              </a:rPr>
              <a:t>لیبل روی افق ۴ قبض بسته می‌شود، درحالی‌که نرخ یک‌ماههٔ اندازه‌گیری‌شده ۰٫۲۲۰۸ درصد است. شکل نتیجه درست است؛ سطحش تا اجرای آزمایشی تأیید نمی‌شود.</a:t>
            </a:r>
          </a:p>
        </p:txBody>
      </p:sp>
      <p:cxnSp>
        <p:nvCxnSpPr>
          <p:cNvPr id="72" name="Connector 71"/>
          <p:cNvCxnSpPr/>
          <p:nvPr/>
        </p:nvCxnSpPr>
        <p:spPr>
          <a:xfrm>
            <a:off x="457200" y="6426200"/>
            <a:ext cx="11277600" cy="0"/>
          </a:xfrm>
          <a:prstGeom prst="line">
            <a:avLst/>
          </a:prstGeom>
          <a:ln w="9525">
            <a:solidFill>
              <a:srgbClr val="E8E8E4"/>
            </a:solidFill>
          </a:ln>
          <a:effectLst/>
        </p:spPr>
      </p:cxnSp>
      <p:sp>
        <p:nvSpPr>
          <p:cNvPr id="73" name="TextBox 72"/>
          <p:cNvSpPr txBox="1"/>
          <p:nvPr/>
        </p:nvSpPr>
        <p:spPr>
          <a:xfrm>
            <a:off x="457200" y="6489700"/>
            <a:ext cx="11277600" cy="304800"/>
          </a:xfrm>
          <a:prstGeom prst="rect">
            <a:avLst/>
          </a:prstGeom>
          <a:noFill/>
        </p:spPr>
        <p:txBody>
          <a:bodyPr wrap="square" lIns="0" rIns="0" tIns="0" bIns="0" anchor="t">
            <a:noAutofit/>
          </a:bodyPr>
          <a:lstStyle/>
          <a:p>
            <a:pPr rtl="1" algn="r"/>
            <a:r>
              <a:rPr sz="750" b="0" lang="fa-IR">
                <a:solidFill>
                  <a:srgbClr val="86857F"/>
                </a:solidFill>
                <a:latin typeface="Tahoma"/>
                <a:cs typeface="Tahoma"/>
                <a:ea typeface="Tahoma"/>
              </a:rPr>
              <a:t>مبنا و چالشگر روی همان تفکیک آموزش دیدند؛ انتخاب فقط بر اساس AUC روی دادهٔ اعتبارسنجی بود؛ دادهٔ کنارگذاشته تا آخر کنار ماند و یک بار خوانده شد؛ هیچ مشترکی در دو طرف تفکیک نیست، چون هش تابعی خالص از شناسهٔ اوست.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622800" y="228600"/>
            <a:ext cx="7112000" cy="381000"/>
          </a:xfrm>
          <a:prstGeom prst="rect">
            <a:avLst/>
          </a:prstGeom>
          <a:noFill/>
        </p:spPr>
        <p:txBody>
          <a:bodyPr wrap="none" lIns="0" rIns="0" tIns="0" bIns="0" anchor="ctr">
            <a:noAutofit/>
          </a:bodyPr>
          <a:lstStyle/>
          <a:p>
            <a:pPr rtl="1" algn="r"/>
            <a:r>
              <a:rPr sz="2000" b="1" lang="fa-IR">
                <a:solidFill>
                  <a:srgbClr val="0B0B0B"/>
                </a:solidFill>
                <a:latin typeface="Tahoma"/>
                <a:cs typeface="Tahoma"/>
                <a:ea typeface="Tahoma"/>
              </a:rPr>
              <a:t>سه گزینه اعطای اعتبار</a:t>
            </a:r>
          </a:p>
        </p:txBody>
      </p:sp>
      <p:sp>
        <p:nvSpPr>
          <p:cNvPr id="3" name="TextBox 2"/>
          <p:cNvSpPr txBox="1"/>
          <p:nvPr/>
        </p:nvSpPr>
        <p:spPr>
          <a:xfrm>
            <a:off x="457200" y="279400"/>
            <a:ext cx="3810000" cy="254000"/>
          </a:xfrm>
          <a:prstGeom prst="rect">
            <a:avLst/>
          </a:prstGeom>
          <a:noFill/>
        </p:spPr>
        <p:txBody>
          <a:bodyPr wrap="none" lIns="0" rIns="0" tIns="0" bIns="0" anchor="ctr">
            <a:noAutofit/>
          </a:bodyPr>
          <a:lstStyle/>
          <a:p>
            <a:pPr rtl="1" algn="l"/>
            <a:r>
              <a:rPr sz="900" b="0" lang="fa-IR">
                <a:solidFill>
                  <a:srgbClr val="86857F"/>
                </a:solidFill>
                <a:latin typeface="Tahoma"/>
                <a:cs typeface="Tahoma"/>
                <a:ea typeface="Tahoma"/>
              </a:rPr>
              <a:t>اعتبار روی قبض، یک‌ماهه، مهر ۱۴۰۵</a:t>
            </a:r>
          </a:p>
        </p:txBody>
      </p:sp>
      <p:cxnSp>
        <p:nvCxnSpPr>
          <p:cNvPr id="4" name="Connector 3"/>
          <p:cNvCxnSpPr/>
          <p:nvPr/>
        </p:nvCxnSpPr>
        <p:spPr>
          <a:xfrm>
            <a:off x="457200" y="685800"/>
            <a:ext cx="11277600" cy="0"/>
          </a:xfrm>
          <a:prstGeom prst="line">
            <a:avLst/>
          </a:prstGeom>
          <a:ln w="17780">
            <a:solidFill>
              <a:srgbClr val="0B0B0B"/>
            </a:solidFill>
          </a:ln>
          <a:effectLst/>
        </p:spPr>
      </p:cxnSp>
      <p:sp>
        <p:nvSpPr>
          <p:cNvPr id="5" name="Rounded Rectangle 4"/>
          <p:cNvSpPr/>
          <p:nvPr/>
        </p:nvSpPr>
        <p:spPr>
          <a:xfrm>
            <a:off x="8991600" y="762000"/>
            <a:ext cx="2743200" cy="508000"/>
          </a:xfrm>
          <a:prstGeom prst="roundRect">
            <a:avLst>
              <a:gd name="adj" fmla="val 7000"/>
            </a:avLst>
          </a:prstGeom>
          <a:solidFill>
            <a:srgbClr val="F6F6F3"/>
          </a:solidFill>
          <a:ln w="9525">
            <a:solidFill>
              <a:srgbClr val="E2E1DB"/>
            </a:solidFill>
          </a:ln>
          <a:effectLst/>
        </p:spPr>
        <p:txBody>
          <a:bodyPr rtlCol="0" anchor="ctr" wrap="none"/>
          <a:lstStyle/>
          <a:p>
            <a:pPr algn="ctr"/>
          </a:p>
        </p:txBody>
      </p:sp>
      <p:sp>
        <p:nvSpPr>
          <p:cNvPr id="6" name="TextBox 5"/>
          <p:cNvSpPr txBox="1"/>
          <p:nvPr/>
        </p:nvSpPr>
        <p:spPr>
          <a:xfrm>
            <a:off x="9093200" y="812800"/>
            <a:ext cx="2540000" cy="241300"/>
          </a:xfrm>
          <a:prstGeom prst="rect">
            <a:avLst/>
          </a:prstGeom>
          <a:noFill/>
        </p:spPr>
        <p:txBody>
          <a:bodyPr wrap="none" lIns="0" rIns="0" tIns="0" bIns="0" anchor="ctr">
            <a:noAutofit/>
          </a:bodyPr>
          <a:lstStyle/>
          <a:p>
            <a:pPr rtl="1" algn="r"/>
            <a:r>
              <a:rPr sz="1500" b="1" lang="fa-IR">
                <a:solidFill>
                  <a:srgbClr val="0B0B0B"/>
                </a:solidFill>
                <a:latin typeface="Tahoma"/>
                <a:cs typeface="Tahoma"/>
                <a:ea typeface="Tahoma"/>
              </a:rPr>
              <a:t>۴۱٫۳ میلیون</a:t>
            </a:r>
          </a:p>
        </p:txBody>
      </p:sp>
      <p:sp>
        <p:nvSpPr>
          <p:cNvPr id="7" name="TextBox 6"/>
          <p:cNvSpPr txBox="1"/>
          <p:nvPr/>
        </p:nvSpPr>
        <p:spPr>
          <a:xfrm>
            <a:off x="9093200" y="1054100"/>
            <a:ext cx="2540000" cy="165100"/>
          </a:xfrm>
          <a:prstGeom prst="rect">
            <a:avLst/>
          </a:prstGeom>
          <a:noFill/>
        </p:spPr>
        <p:txBody>
          <a:bodyPr wrap="none" lIns="0" rIns="0" tIns="0" bIns="0" anchor="ctr">
            <a:noAutofit/>
          </a:bodyPr>
          <a:lstStyle/>
          <a:p>
            <a:pPr rtl="1" algn="r"/>
            <a:r>
              <a:rPr sz="850" b="0" lang="fa-IR">
                <a:solidFill>
                  <a:srgbClr val="4E4D4A"/>
                </a:solidFill>
                <a:latin typeface="Tahoma"/>
                <a:cs typeface="Tahoma"/>
                <a:ea typeface="Tahoma"/>
              </a:rPr>
              <a:t>مشترک دائمی</a:t>
            </a:r>
          </a:p>
        </p:txBody>
      </p:sp>
      <p:sp>
        <p:nvSpPr>
          <p:cNvPr id="8" name="Rounded Rectangle 7"/>
          <p:cNvSpPr/>
          <p:nvPr/>
        </p:nvSpPr>
        <p:spPr>
          <a:xfrm>
            <a:off x="6146800" y="762000"/>
            <a:ext cx="2743200" cy="508000"/>
          </a:xfrm>
          <a:prstGeom prst="roundRect">
            <a:avLst>
              <a:gd name="adj" fmla="val 7000"/>
            </a:avLst>
          </a:prstGeom>
          <a:solidFill>
            <a:srgbClr val="F6F6F3"/>
          </a:solidFill>
          <a:ln w="9525">
            <a:solidFill>
              <a:srgbClr val="E2E1DB"/>
            </a:solidFill>
          </a:ln>
          <a:effectLst/>
        </p:spPr>
        <p:txBody>
          <a:bodyPr rtlCol="0" anchor="ctr" wrap="none"/>
          <a:lstStyle/>
          <a:p>
            <a:pPr algn="ctr"/>
          </a:p>
        </p:txBody>
      </p:sp>
      <p:sp>
        <p:nvSpPr>
          <p:cNvPr id="9" name="TextBox 8"/>
          <p:cNvSpPr txBox="1"/>
          <p:nvPr/>
        </p:nvSpPr>
        <p:spPr>
          <a:xfrm>
            <a:off x="6248400" y="812800"/>
            <a:ext cx="2540000" cy="241300"/>
          </a:xfrm>
          <a:prstGeom prst="rect">
            <a:avLst/>
          </a:prstGeom>
          <a:noFill/>
        </p:spPr>
        <p:txBody>
          <a:bodyPr wrap="none" lIns="0" rIns="0" tIns="0" bIns="0" anchor="ctr">
            <a:noAutofit/>
          </a:bodyPr>
          <a:lstStyle/>
          <a:p>
            <a:pPr rtl="1" algn="r"/>
            <a:r>
              <a:rPr sz="1500" b="1" lang="fa-IR">
                <a:solidFill>
                  <a:srgbClr val="0B0B0B"/>
                </a:solidFill>
                <a:latin typeface="Tahoma"/>
                <a:cs typeface="Tahoma"/>
                <a:ea typeface="Tahoma"/>
              </a:rPr>
              <a:t>۹٫۳ میلیون</a:t>
            </a:r>
          </a:p>
        </p:txBody>
      </p:sp>
      <p:sp>
        <p:nvSpPr>
          <p:cNvPr id="10" name="TextBox 9"/>
          <p:cNvSpPr txBox="1"/>
          <p:nvPr/>
        </p:nvSpPr>
        <p:spPr>
          <a:xfrm>
            <a:off x="6248400" y="1054100"/>
            <a:ext cx="2540000" cy="165100"/>
          </a:xfrm>
          <a:prstGeom prst="rect">
            <a:avLst/>
          </a:prstGeom>
          <a:noFill/>
        </p:spPr>
        <p:txBody>
          <a:bodyPr wrap="none" lIns="0" rIns="0" tIns="0" bIns="0" anchor="ctr">
            <a:noAutofit/>
          </a:bodyPr>
          <a:lstStyle/>
          <a:p>
            <a:pPr rtl="1" algn="r"/>
            <a:r>
              <a:rPr sz="850" b="0" lang="fa-IR">
                <a:solidFill>
                  <a:srgbClr val="4E4D4A"/>
                </a:solidFill>
                <a:latin typeface="Tahoma"/>
                <a:cs typeface="Tahoma"/>
                <a:ea typeface="Tahoma"/>
              </a:rPr>
              <a:t>پس از غربال درآمد و سابقه قطعی</a:t>
            </a:r>
          </a:p>
        </p:txBody>
      </p:sp>
      <p:sp>
        <p:nvSpPr>
          <p:cNvPr id="11" name="Rounded Rectangle 10"/>
          <p:cNvSpPr/>
          <p:nvPr/>
        </p:nvSpPr>
        <p:spPr>
          <a:xfrm>
            <a:off x="3302000" y="762000"/>
            <a:ext cx="2743200" cy="508000"/>
          </a:xfrm>
          <a:prstGeom prst="roundRect">
            <a:avLst>
              <a:gd name="adj" fmla="val 7000"/>
            </a:avLst>
          </a:prstGeom>
          <a:solidFill>
            <a:srgbClr val="F6F6F3"/>
          </a:solidFill>
          <a:ln w="9525">
            <a:solidFill>
              <a:srgbClr val="E2E1DB"/>
            </a:solidFill>
          </a:ln>
          <a:effectLst/>
        </p:spPr>
        <p:txBody>
          <a:bodyPr rtlCol="0" anchor="ctr" wrap="none"/>
          <a:lstStyle/>
          <a:p>
            <a:pPr algn="ctr"/>
          </a:p>
        </p:txBody>
      </p:sp>
      <p:sp>
        <p:nvSpPr>
          <p:cNvPr id="12" name="TextBox 11"/>
          <p:cNvSpPr txBox="1"/>
          <p:nvPr/>
        </p:nvSpPr>
        <p:spPr>
          <a:xfrm>
            <a:off x="3403600" y="812800"/>
            <a:ext cx="2540000" cy="241300"/>
          </a:xfrm>
          <a:prstGeom prst="rect">
            <a:avLst/>
          </a:prstGeom>
          <a:noFill/>
        </p:spPr>
        <p:txBody>
          <a:bodyPr wrap="none" lIns="0" rIns="0" tIns="0" bIns="0" anchor="ctr">
            <a:noAutofit/>
          </a:bodyPr>
          <a:lstStyle/>
          <a:p>
            <a:pPr rtl="1" algn="r"/>
            <a:r>
              <a:rPr sz="1500" b="1" lang="fa-IR">
                <a:solidFill>
                  <a:srgbClr val="0B0B0B"/>
                </a:solidFill>
                <a:latin typeface="Tahoma"/>
                <a:cs typeface="Tahoma"/>
                <a:ea typeface="Tahoma"/>
              </a:rPr>
              <a:t>امتیازدهی</a:t>
            </a:r>
          </a:p>
        </p:txBody>
      </p:sp>
      <p:sp>
        <p:nvSpPr>
          <p:cNvPr id="13" name="TextBox 12"/>
          <p:cNvSpPr txBox="1"/>
          <p:nvPr/>
        </p:nvSpPr>
        <p:spPr>
          <a:xfrm>
            <a:off x="3403600" y="1054100"/>
            <a:ext cx="2540000" cy="165100"/>
          </a:xfrm>
          <a:prstGeom prst="rect">
            <a:avLst/>
          </a:prstGeom>
          <a:noFill/>
        </p:spPr>
        <p:txBody>
          <a:bodyPr wrap="none" lIns="0" rIns="0" tIns="0" bIns="0" anchor="ctr">
            <a:noAutofit/>
          </a:bodyPr>
          <a:lstStyle/>
          <a:p>
            <a:pPr rtl="1" algn="r"/>
            <a:r>
              <a:rPr sz="850" b="0" lang="fa-IR">
                <a:solidFill>
                  <a:srgbClr val="4E4D4A"/>
                </a:solidFill>
                <a:latin typeface="Tahoma"/>
                <a:cs typeface="Tahoma"/>
                <a:ea typeface="Tahoma"/>
              </a:rPr>
              <a:t>۳۹ ویژگی در ۵ خانواده، شرح زیر</a:t>
            </a:r>
          </a:p>
        </p:txBody>
      </p:sp>
      <p:sp>
        <p:nvSpPr>
          <p:cNvPr id="14" name="Rounded Rectangle 13"/>
          <p:cNvSpPr/>
          <p:nvPr/>
        </p:nvSpPr>
        <p:spPr>
          <a:xfrm>
            <a:off x="457200" y="762000"/>
            <a:ext cx="2743200" cy="508000"/>
          </a:xfrm>
          <a:prstGeom prst="roundRect">
            <a:avLst>
              <a:gd name="adj" fmla="val 7000"/>
            </a:avLst>
          </a:prstGeom>
          <a:solidFill>
            <a:srgbClr val="DBE6F2"/>
          </a:solidFill>
          <a:ln w="9525">
            <a:solidFill>
              <a:srgbClr val="2A78D6"/>
            </a:solidFill>
          </a:ln>
          <a:effectLst/>
        </p:spPr>
        <p:txBody>
          <a:bodyPr rtlCol="0" anchor="ctr" wrap="none"/>
          <a:lstStyle/>
          <a:p>
            <a:pPr algn="ctr"/>
          </a:p>
        </p:txBody>
      </p:sp>
      <p:sp>
        <p:nvSpPr>
          <p:cNvPr id="15" name="TextBox 14"/>
          <p:cNvSpPr txBox="1"/>
          <p:nvPr/>
        </p:nvSpPr>
        <p:spPr>
          <a:xfrm>
            <a:off x="558800" y="812800"/>
            <a:ext cx="2540000" cy="241300"/>
          </a:xfrm>
          <a:prstGeom prst="rect">
            <a:avLst/>
          </a:prstGeom>
          <a:noFill/>
        </p:spPr>
        <p:txBody>
          <a:bodyPr wrap="none" lIns="0" rIns="0" tIns="0" bIns="0" anchor="ctr">
            <a:noAutofit/>
          </a:bodyPr>
          <a:lstStyle/>
          <a:p>
            <a:pPr rtl="1" algn="r"/>
            <a:r>
              <a:rPr sz="1500" b="1" lang="fa-IR">
                <a:solidFill>
                  <a:srgbClr val="0B0B0B"/>
                </a:solidFill>
                <a:latin typeface="Tahoma"/>
                <a:cs typeface="Tahoma"/>
                <a:ea typeface="Tahoma"/>
              </a:rPr>
              <a:t>۸٬۸۰۱٬۷۷۲</a:t>
            </a:r>
          </a:p>
        </p:txBody>
      </p:sp>
      <p:sp>
        <p:nvSpPr>
          <p:cNvPr id="16" name="TextBox 15"/>
          <p:cNvSpPr txBox="1"/>
          <p:nvPr/>
        </p:nvSpPr>
        <p:spPr>
          <a:xfrm>
            <a:off x="558800" y="1054100"/>
            <a:ext cx="2540000" cy="165100"/>
          </a:xfrm>
          <a:prstGeom prst="rect">
            <a:avLst/>
          </a:prstGeom>
          <a:noFill/>
        </p:spPr>
        <p:txBody>
          <a:bodyPr wrap="none" lIns="0" rIns="0" tIns="0" bIns="0" anchor="ctr">
            <a:noAutofit/>
          </a:bodyPr>
          <a:lstStyle/>
          <a:p>
            <a:pPr rtl="1" algn="r"/>
            <a:r>
              <a:rPr sz="850" b="0" lang="fa-IR">
                <a:solidFill>
                  <a:srgbClr val="4E4D4A"/>
                </a:solidFill>
                <a:latin typeface="Tahoma"/>
                <a:cs typeface="Tahoma"/>
                <a:ea typeface="Tahoma"/>
              </a:rPr>
              <a:t>تأییدشده برای اعطای اعتبار</a:t>
            </a:r>
          </a:p>
        </p:txBody>
      </p:sp>
      <p:cxnSp>
        <p:nvCxnSpPr>
          <p:cNvPr id="17" name="Connector 16"/>
          <p:cNvCxnSpPr/>
          <p:nvPr/>
        </p:nvCxnSpPr>
        <p:spPr>
          <a:xfrm>
            <a:off x="9540240" y="1371600"/>
            <a:ext cx="2194560" cy="0"/>
          </a:xfrm>
          <a:prstGeom prst="line">
            <a:avLst/>
          </a:prstGeom>
          <a:ln w="17780">
            <a:solidFill>
              <a:srgbClr val="2A78D6"/>
            </a:solidFill>
          </a:ln>
          <a:effectLst/>
        </p:spPr>
      </p:cxnSp>
      <p:sp>
        <p:nvSpPr>
          <p:cNvPr id="18" name="TextBox 17"/>
          <p:cNvSpPr txBox="1"/>
          <p:nvPr/>
        </p:nvSpPr>
        <p:spPr>
          <a:xfrm>
            <a:off x="9540240" y="1422400"/>
            <a:ext cx="2194560" cy="152400"/>
          </a:xfrm>
          <a:prstGeom prst="rect">
            <a:avLst/>
          </a:prstGeom>
          <a:noFill/>
        </p:spPr>
        <p:txBody>
          <a:bodyPr wrap="none" lIns="0" rIns="0" tIns="0" bIns="0" anchor="ctr">
            <a:noAutofit/>
          </a:bodyPr>
          <a:lstStyle/>
          <a:p>
            <a:pPr rtl="1" algn="r"/>
            <a:r>
              <a:rPr sz="950" b="1" lang="fa-IR">
                <a:solidFill>
                  <a:srgbClr val="0B0B0B"/>
                </a:solidFill>
                <a:latin typeface="Tahoma"/>
                <a:cs typeface="Tahoma"/>
                <a:ea typeface="Tahoma"/>
              </a:rPr>
              <a:t>مصرف و درآمد</a:t>
            </a:r>
          </a:p>
        </p:txBody>
      </p:sp>
      <p:sp>
        <p:nvSpPr>
          <p:cNvPr id="19" name="TextBox 18"/>
          <p:cNvSpPr txBox="1"/>
          <p:nvPr/>
        </p:nvSpPr>
        <p:spPr>
          <a:xfrm>
            <a:off x="9540240" y="1587500"/>
            <a:ext cx="2194560" cy="152400"/>
          </a:xfrm>
          <a:prstGeom prst="rect">
            <a:avLst/>
          </a:prstGeom>
          <a:noFill/>
        </p:spPr>
        <p:txBody>
          <a:bodyPr wrap="none" lIns="0" rIns="0" tIns="0" bIns="0" anchor="ctr">
            <a:noAutofit/>
          </a:bodyPr>
          <a:lstStyle/>
          <a:p>
            <a:pPr rtl="1" algn="r"/>
            <a:r>
              <a:rPr sz="800" b="0" lang="fa-IR">
                <a:solidFill>
                  <a:srgbClr val="86857F"/>
                </a:solidFill>
                <a:latin typeface="Tahoma"/>
                <a:cs typeface="Tahoma"/>
                <a:ea typeface="Tahoma"/>
              </a:rPr>
              <a:t>درآمد هر ماه، روند، ماه‌های بدون مصرف</a:t>
            </a:r>
          </a:p>
        </p:txBody>
      </p:sp>
      <p:cxnSp>
        <p:nvCxnSpPr>
          <p:cNvPr id="20" name="Connector 19"/>
          <p:cNvCxnSpPr/>
          <p:nvPr/>
        </p:nvCxnSpPr>
        <p:spPr>
          <a:xfrm>
            <a:off x="7269480" y="1371600"/>
            <a:ext cx="2194560" cy="0"/>
          </a:xfrm>
          <a:prstGeom prst="line">
            <a:avLst/>
          </a:prstGeom>
          <a:ln w="17780">
            <a:solidFill>
              <a:srgbClr val="2A78D6"/>
            </a:solidFill>
          </a:ln>
          <a:effectLst/>
        </p:spPr>
      </p:cxnSp>
      <p:sp>
        <p:nvSpPr>
          <p:cNvPr id="21" name="TextBox 20"/>
          <p:cNvSpPr txBox="1"/>
          <p:nvPr/>
        </p:nvSpPr>
        <p:spPr>
          <a:xfrm>
            <a:off x="7269480" y="1422400"/>
            <a:ext cx="2194560" cy="152400"/>
          </a:xfrm>
          <a:prstGeom prst="rect">
            <a:avLst/>
          </a:prstGeom>
          <a:noFill/>
        </p:spPr>
        <p:txBody>
          <a:bodyPr wrap="none" lIns="0" rIns="0" tIns="0" bIns="0" anchor="ctr">
            <a:noAutofit/>
          </a:bodyPr>
          <a:lstStyle/>
          <a:p>
            <a:pPr rtl="1" algn="r"/>
            <a:r>
              <a:rPr sz="950" b="1" lang="fa-IR">
                <a:solidFill>
                  <a:srgbClr val="0B0B0B"/>
                </a:solidFill>
                <a:latin typeface="Tahoma"/>
                <a:cs typeface="Tahoma"/>
                <a:ea typeface="Tahoma"/>
              </a:rPr>
              <a:t>رفتار پرداخت</a:t>
            </a:r>
          </a:p>
        </p:txBody>
      </p:sp>
      <p:sp>
        <p:nvSpPr>
          <p:cNvPr id="22" name="TextBox 21"/>
          <p:cNvSpPr txBox="1"/>
          <p:nvPr/>
        </p:nvSpPr>
        <p:spPr>
          <a:xfrm>
            <a:off x="7269480" y="1587500"/>
            <a:ext cx="2194560" cy="152400"/>
          </a:xfrm>
          <a:prstGeom prst="rect">
            <a:avLst/>
          </a:prstGeom>
          <a:noFill/>
        </p:spPr>
        <p:txBody>
          <a:bodyPr wrap="none" lIns="0" rIns="0" tIns="0" bIns="0" anchor="ctr">
            <a:noAutofit/>
          </a:bodyPr>
          <a:lstStyle/>
          <a:p>
            <a:pPr rtl="1" algn="r"/>
            <a:r>
              <a:rPr sz="800" b="0" lang="fa-IR">
                <a:solidFill>
                  <a:srgbClr val="86857F"/>
                </a:solidFill>
                <a:latin typeface="Tahoma"/>
                <a:cs typeface="Tahoma"/>
                <a:ea typeface="Tahoma"/>
              </a:rPr>
              <a:t>مجموع پرداختی و تعداد ماه‌های پرداخت</a:t>
            </a:r>
          </a:p>
        </p:txBody>
      </p:sp>
      <p:cxnSp>
        <p:nvCxnSpPr>
          <p:cNvPr id="23" name="Connector 22"/>
          <p:cNvCxnSpPr/>
          <p:nvPr/>
        </p:nvCxnSpPr>
        <p:spPr>
          <a:xfrm>
            <a:off x="4998720" y="1371600"/>
            <a:ext cx="2194560" cy="0"/>
          </a:xfrm>
          <a:prstGeom prst="line">
            <a:avLst/>
          </a:prstGeom>
          <a:ln w="17780">
            <a:solidFill>
              <a:srgbClr val="2A78D6"/>
            </a:solidFill>
          </a:ln>
          <a:effectLst/>
        </p:spPr>
      </p:cxnSp>
      <p:sp>
        <p:nvSpPr>
          <p:cNvPr id="24" name="TextBox 23"/>
          <p:cNvSpPr txBox="1"/>
          <p:nvPr/>
        </p:nvSpPr>
        <p:spPr>
          <a:xfrm>
            <a:off x="4998720" y="1422400"/>
            <a:ext cx="2194560" cy="152400"/>
          </a:xfrm>
          <a:prstGeom prst="rect">
            <a:avLst/>
          </a:prstGeom>
          <a:noFill/>
        </p:spPr>
        <p:txBody>
          <a:bodyPr wrap="none" lIns="0" rIns="0" tIns="0" bIns="0" anchor="ctr">
            <a:noAutofit/>
          </a:bodyPr>
          <a:lstStyle/>
          <a:p>
            <a:pPr rtl="1" algn="r"/>
            <a:r>
              <a:rPr sz="950" b="1" lang="fa-IR">
                <a:solidFill>
                  <a:srgbClr val="0B0B0B"/>
                </a:solidFill>
                <a:latin typeface="Tahoma"/>
                <a:cs typeface="Tahoma"/>
                <a:ea typeface="Tahoma"/>
              </a:rPr>
              <a:t>بدهی و اعتبار باز</a:t>
            </a:r>
          </a:p>
        </p:txBody>
      </p:sp>
      <p:sp>
        <p:nvSpPr>
          <p:cNvPr id="25" name="TextBox 24"/>
          <p:cNvSpPr txBox="1"/>
          <p:nvPr/>
        </p:nvSpPr>
        <p:spPr>
          <a:xfrm>
            <a:off x="4998720" y="1587500"/>
            <a:ext cx="2194560" cy="152400"/>
          </a:xfrm>
          <a:prstGeom prst="rect">
            <a:avLst/>
          </a:prstGeom>
          <a:noFill/>
        </p:spPr>
        <p:txBody>
          <a:bodyPr wrap="none" lIns="0" rIns="0" tIns="0" bIns="0" anchor="ctr">
            <a:noAutofit/>
          </a:bodyPr>
          <a:lstStyle/>
          <a:p>
            <a:pPr rtl="1" algn="r"/>
            <a:r>
              <a:rPr sz="800" b="0" lang="fa-IR">
                <a:solidFill>
                  <a:srgbClr val="86857F"/>
                </a:solidFill>
                <a:latin typeface="Tahoma"/>
                <a:cs typeface="Tahoma"/>
                <a:ea typeface="Tahoma"/>
              </a:rPr>
              <a:t>مانده بدهی و اعتبار در دسترس</a:t>
            </a:r>
          </a:p>
        </p:txBody>
      </p:sp>
      <p:cxnSp>
        <p:nvCxnSpPr>
          <p:cNvPr id="26" name="Connector 25"/>
          <p:cNvCxnSpPr/>
          <p:nvPr/>
        </p:nvCxnSpPr>
        <p:spPr>
          <a:xfrm>
            <a:off x="2727960" y="1371600"/>
            <a:ext cx="2194560" cy="0"/>
          </a:xfrm>
          <a:prstGeom prst="line">
            <a:avLst/>
          </a:prstGeom>
          <a:ln w="17780">
            <a:solidFill>
              <a:srgbClr val="2A78D6"/>
            </a:solidFill>
          </a:ln>
          <a:effectLst/>
        </p:spPr>
      </p:cxnSp>
      <p:sp>
        <p:nvSpPr>
          <p:cNvPr id="27" name="TextBox 26"/>
          <p:cNvSpPr txBox="1"/>
          <p:nvPr/>
        </p:nvSpPr>
        <p:spPr>
          <a:xfrm>
            <a:off x="2727960" y="1422400"/>
            <a:ext cx="2194560" cy="152400"/>
          </a:xfrm>
          <a:prstGeom prst="rect">
            <a:avLst/>
          </a:prstGeom>
          <a:noFill/>
        </p:spPr>
        <p:txBody>
          <a:bodyPr wrap="none" lIns="0" rIns="0" tIns="0" bIns="0" anchor="ctr">
            <a:noAutofit/>
          </a:bodyPr>
          <a:lstStyle/>
          <a:p>
            <a:pPr rtl="1" algn="r"/>
            <a:r>
              <a:rPr sz="950" b="1" lang="fa-IR">
                <a:solidFill>
                  <a:srgbClr val="0B0B0B"/>
                </a:solidFill>
                <a:latin typeface="Tahoma"/>
                <a:cs typeface="Tahoma"/>
                <a:ea typeface="Tahoma"/>
              </a:rPr>
              <a:t>سابقه قطع سرویس</a:t>
            </a:r>
          </a:p>
        </p:txBody>
      </p:sp>
      <p:sp>
        <p:nvSpPr>
          <p:cNvPr id="28" name="TextBox 27"/>
          <p:cNvSpPr txBox="1"/>
          <p:nvPr/>
        </p:nvSpPr>
        <p:spPr>
          <a:xfrm>
            <a:off x="2727960" y="1587500"/>
            <a:ext cx="2194560" cy="152400"/>
          </a:xfrm>
          <a:prstGeom prst="rect">
            <a:avLst/>
          </a:prstGeom>
          <a:noFill/>
        </p:spPr>
        <p:txBody>
          <a:bodyPr wrap="none" lIns="0" rIns="0" tIns="0" bIns="0" anchor="ctr">
            <a:noAutofit/>
          </a:bodyPr>
          <a:lstStyle/>
          <a:p>
            <a:pPr rtl="1" algn="r"/>
            <a:r>
              <a:rPr sz="800" b="0" lang="fa-IR">
                <a:solidFill>
                  <a:srgbClr val="86857F"/>
                </a:solidFill>
                <a:latin typeface="Tahoma"/>
                <a:cs typeface="Tahoma"/>
                <a:ea typeface="Tahoma"/>
              </a:rPr>
              <a:t>قطع یک‌طرفه و دوطرفه در سال قبل</a:t>
            </a:r>
          </a:p>
        </p:txBody>
      </p:sp>
      <p:cxnSp>
        <p:nvCxnSpPr>
          <p:cNvPr id="29" name="Connector 28"/>
          <p:cNvCxnSpPr/>
          <p:nvPr/>
        </p:nvCxnSpPr>
        <p:spPr>
          <a:xfrm>
            <a:off x="457200" y="1371600"/>
            <a:ext cx="2194560" cy="0"/>
          </a:xfrm>
          <a:prstGeom prst="line">
            <a:avLst/>
          </a:prstGeom>
          <a:ln w="17780">
            <a:solidFill>
              <a:srgbClr val="2A78D6"/>
            </a:solidFill>
          </a:ln>
          <a:effectLst/>
        </p:spPr>
      </p:cxnSp>
      <p:sp>
        <p:nvSpPr>
          <p:cNvPr id="30" name="TextBox 29"/>
          <p:cNvSpPr txBox="1"/>
          <p:nvPr/>
        </p:nvSpPr>
        <p:spPr>
          <a:xfrm>
            <a:off x="457200" y="1422400"/>
            <a:ext cx="2194560" cy="152400"/>
          </a:xfrm>
          <a:prstGeom prst="rect">
            <a:avLst/>
          </a:prstGeom>
          <a:noFill/>
        </p:spPr>
        <p:txBody>
          <a:bodyPr wrap="none" lIns="0" rIns="0" tIns="0" bIns="0" anchor="ctr">
            <a:noAutofit/>
          </a:bodyPr>
          <a:lstStyle/>
          <a:p>
            <a:pPr rtl="1" algn="r"/>
            <a:r>
              <a:rPr sz="950" b="1" lang="fa-IR">
                <a:solidFill>
                  <a:srgbClr val="0B0B0B"/>
                </a:solidFill>
                <a:latin typeface="Tahoma"/>
                <a:cs typeface="Tahoma"/>
                <a:ea typeface="Tahoma"/>
              </a:rPr>
              <a:t>قدمت خط</a:t>
            </a:r>
          </a:p>
        </p:txBody>
      </p:sp>
      <p:sp>
        <p:nvSpPr>
          <p:cNvPr id="31" name="TextBox 30"/>
          <p:cNvSpPr txBox="1"/>
          <p:nvPr/>
        </p:nvSpPr>
        <p:spPr>
          <a:xfrm>
            <a:off x="457200" y="1587500"/>
            <a:ext cx="2194560" cy="152400"/>
          </a:xfrm>
          <a:prstGeom prst="rect">
            <a:avLst/>
          </a:prstGeom>
          <a:noFill/>
        </p:spPr>
        <p:txBody>
          <a:bodyPr wrap="none" lIns="0" rIns="0" tIns="0" bIns="0" anchor="ctr">
            <a:noAutofit/>
          </a:bodyPr>
          <a:lstStyle/>
          <a:p>
            <a:pPr rtl="1" algn="r"/>
            <a:r>
              <a:rPr sz="800" b="0" lang="fa-IR">
                <a:solidFill>
                  <a:srgbClr val="86857F"/>
                </a:solidFill>
                <a:latin typeface="Tahoma"/>
                <a:cs typeface="Tahoma"/>
                <a:ea typeface="Tahoma"/>
              </a:rPr>
              <a:t>سن خط و ماه‌هایی که فعال بوده</a:t>
            </a:r>
          </a:p>
        </p:txBody>
      </p:sp>
      <p:sp>
        <p:nvSpPr>
          <p:cNvPr id="32" name="TextBox 31"/>
          <p:cNvSpPr txBox="1"/>
          <p:nvPr/>
        </p:nvSpPr>
        <p:spPr>
          <a:xfrm>
            <a:off x="457200" y="1803400"/>
            <a:ext cx="11277600" cy="152400"/>
          </a:xfrm>
          <a:prstGeom prst="rect">
            <a:avLst/>
          </a:prstGeom>
          <a:noFill/>
        </p:spPr>
        <p:txBody>
          <a:bodyPr wrap="none" lIns="0" rIns="0" tIns="0" bIns="0" anchor="ctr">
            <a:noAutofit/>
          </a:bodyPr>
          <a:lstStyle/>
          <a:p>
            <a:pPr rtl="1" algn="r"/>
            <a:r>
              <a:rPr sz="850" b="0" lang="fa-IR">
                <a:solidFill>
                  <a:srgbClr val="4E4D4A"/>
                </a:solidFill>
                <a:latin typeface="Tahoma"/>
                <a:cs typeface="Tahoma"/>
                <a:ea typeface="Tahoma"/>
              </a:rPr>
              <a:t>۳۹ ویژگی، همه از رفتار حساب خود مشترک — هیچ داده شخصی، مکانی یا جمعیتی در مدل نیست. دقت روی داده آزمون ۰٫۸۳. سابقه قطع سرویس سال قبل به‌تنهایی ۹۲ درصد بهبود مدل را می‌دهد.</a:t>
            </a:r>
          </a:p>
        </p:txBody>
      </p:sp>
      <p:graphicFrame>
        <p:nvGraphicFramePr>
          <p:cNvPr id="33" name="Table 32"/>
          <p:cNvGraphicFramePr>
            <a:graphicFrameLocks noGrp="1"/>
          </p:cNvGraphicFramePr>
          <p:nvPr/>
        </p:nvGraphicFramePr>
        <p:xfrm>
          <a:off x="457200" y="2006600"/>
          <a:ext cx="11277600" cy="2489200"/>
        </p:xfrm>
        <a:graphic>
          <a:graphicData uri="http://schemas.openxmlformats.org/drawingml/2006/table">
            <a:tbl>
              <a:tblPr/>
              <a:tblGrid>
                <a:gridCol w="711200"/>
                <a:gridCol w="1384300"/>
                <a:gridCol w="939800"/>
                <a:gridCol w="812800"/>
                <a:gridCol w="1016000"/>
                <a:gridCol w="1066800"/>
                <a:gridCol w="1219200"/>
                <a:gridCol w="1041400"/>
                <a:gridCol w="1117600"/>
                <a:gridCol w="1968500"/>
              </a:tblGrid>
              <a:tr h="254000">
                <a:tc gridSpan="3">
                  <a:txBody>
                    <a:bodyPr wrap="none">
                      <a:noAutofit/>
                    </a:bodyPr>
                    <a:lstStyle/>
                    <a:p>
                      <a:pPr rtl="1" algn="ctr"/>
                      <a:r>
                        <a:rPr sz="850" b="1" lang="fa-IR">
                          <a:solidFill>
                            <a:srgbClr val="4E4D4A"/>
                          </a:solidFill>
                          <a:latin typeface="Tahoma"/>
                          <a:cs typeface="Tahoma"/>
                          <a:ea typeface="Tahoma"/>
                        </a:rPr>
                        <a:t>در یک سال — ۳ بار</a:t>
                      </a:r>
                    </a:p>
                  </a:txBody>
                  <a:tcPr marT="25400" marR="38100" marB="25400" marL="38100" anchor="ctr">
                    <a:lnL w="9525" cap="flat" cmpd="sng" algn="ctr">
                      <a:noFill/>
                    </a:lnL>
                    <a:lnR w="9525" cap="flat" cmpd="sng" algn="ctr">
                      <a:noFill/>
                    </a:lnR>
                    <a:lnT w="9525" cap="flat" cmpd="sng" algn="ctr">
                      <a:noFill/>
                    </a:lnT>
                    <a:lnB w="9525" cap="flat" cmpd="sng" algn="ctr">
                      <a:solidFill>
                        <a:srgbClr val="E2E1DB"/>
                      </a:solidFill>
                    </a:lnB>
                    <a:noFill/>
                  </a:tcPr>
                </a:tc>
                <a:tc hMerge="1">
                  <a:txBody>
                    <a:bodyPr/>
                    <a:lstStyle/>
                    <a:p/>
                  </a:txBody>
                  <a:tcPr>
                    <a:lnL w="9525" cap="flat" cmpd="sng" algn="ctr">
                      <a:noFill/>
                    </a:lnL>
                    <a:lnR w="9525" cap="flat" cmpd="sng" algn="ctr">
                      <a:noFill/>
                    </a:lnR>
                    <a:lnT w="9525" cap="flat" cmpd="sng" algn="ctr">
                      <a:noFill/>
                    </a:lnT>
                    <a:lnB w="9525" cap="flat" cmpd="sng" algn="ctr">
                      <a:noFill/>
                    </a:lnB>
                    <a:noFill/>
                  </a:tcPr>
                </a:tc>
                <a:tc hMerge="1">
                  <a:txBody>
                    <a:bodyPr/>
                    <a:lstStyle/>
                    <a:p/>
                  </a:txBody>
                  <a:tcPr>
                    <a:lnL w="9525" cap="flat" cmpd="sng" algn="ctr">
                      <a:noFill/>
                    </a:lnL>
                    <a:lnR w="9525" cap="flat" cmpd="sng" algn="ctr">
                      <a:noFill/>
                    </a:lnR>
                    <a:lnT w="9525" cap="flat" cmpd="sng" algn="ctr">
                      <a:noFill/>
                    </a:lnT>
                    <a:lnB w="9525" cap="flat" cmpd="sng" algn="ctr">
                      <a:noFill/>
                    </a:lnB>
                    <a:noFill/>
                  </a:tcPr>
                </a:tc>
                <a:tc gridSpan="3">
                  <a:txBody>
                    <a:bodyPr wrap="none">
                      <a:noAutofit/>
                    </a:bodyPr>
                    <a:lstStyle/>
                    <a:p>
                      <a:pPr rtl="1" algn="ctr"/>
                      <a:r>
                        <a:rPr sz="850" b="1" lang="fa-IR">
                          <a:solidFill>
                            <a:srgbClr val="4E4D4A"/>
                          </a:solidFill>
                          <a:latin typeface="Tahoma"/>
                          <a:cs typeface="Tahoma"/>
                          <a:ea typeface="Tahoma"/>
                        </a:rPr>
                        <a:t>در هر بار اعطا</a:t>
                      </a:r>
                    </a:p>
                  </a:txBody>
                  <a:tcPr marT="25400" marR="38100" marB="25400" marL="38100" anchor="ctr">
                    <a:lnL w="9525" cap="flat" cmpd="sng" algn="ctr">
                      <a:noFill/>
                    </a:lnL>
                    <a:lnR w="9525" cap="flat" cmpd="sng" algn="ctr">
                      <a:noFill/>
                    </a:lnR>
                    <a:lnT w="9525" cap="flat" cmpd="sng" algn="ctr">
                      <a:noFill/>
                    </a:lnT>
                    <a:lnB w="9525" cap="flat" cmpd="sng" algn="ctr">
                      <a:solidFill>
                        <a:srgbClr val="E2E1DB"/>
                      </a:solidFill>
                    </a:lnB>
                    <a:noFill/>
                  </a:tcPr>
                </a:tc>
                <a:tc hMerge="1">
                  <a:txBody>
                    <a:bodyPr/>
                    <a:lstStyle/>
                    <a:p/>
                  </a:txBody>
                  <a:tcPr>
                    <a:lnL w="9525" cap="flat" cmpd="sng" algn="ctr">
                      <a:noFill/>
                    </a:lnL>
                    <a:lnR w="9525" cap="flat" cmpd="sng" algn="ctr">
                      <a:noFill/>
                    </a:lnR>
                    <a:lnT w="9525" cap="flat" cmpd="sng" algn="ctr">
                      <a:noFill/>
                    </a:lnT>
                    <a:lnB w="9525" cap="flat" cmpd="sng" algn="ctr">
                      <a:noFill/>
                    </a:lnB>
                    <a:noFill/>
                  </a:tcPr>
                </a:tc>
                <a:tc hMerge="1">
                  <a:txBody>
                    <a:bodyPr/>
                    <a:lstStyle/>
                    <a:p/>
                  </a:txBody>
                  <a:tcPr>
                    <a:lnL w="9525" cap="flat" cmpd="sng" algn="ctr">
                      <a:noFill/>
                    </a:lnL>
                    <a:lnR w="9525" cap="flat" cmpd="sng" algn="ctr">
                      <a:noFill/>
                    </a:lnR>
                    <a:lnT w="9525" cap="flat" cmpd="sng" algn="ctr">
                      <a:noFill/>
                    </a:lnT>
                    <a:lnB w="9525" cap="flat" cmpd="sng" algn="ctr">
                      <a:noFill/>
                    </a:lnB>
                    <a:noFill/>
                  </a:tcPr>
                </a:tc>
                <a:tc gridSpan="3">
                  <a:txBody>
                    <a:bodyPr wrap="none">
                      <a:noAutofit/>
                    </a:bodyPr>
                    <a:lstStyle/>
                    <a:p>
                      <a:pPr rtl="1" algn="ctr"/>
                      <a:r>
                        <a:rPr sz="850" b="1" lang="fa-IR">
                          <a:solidFill>
                            <a:srgbClr val="4E4D4A"/>
                          </a:solidFill>
                          <a:latin typeface="Tahoma"/>
                          <a:cs typeface="Tahoma"/>
                          <a:ea typeface="Tahoma"/>
                        </a:rPr>
                        <a:t>مشترکین تأییدشده و ضریب نفوذ هر باند</a:t>
                      </a:r>
                    </a:p>
                  </a:txBody>
                  <a:tcPr marT="25400" marR="38100" marB="25400" marL="38100" anchor="ctr">
                    <a:lnL w="9525" cap="flat" cmpd="sng" algn="ctr">
                      <a:noFill/>
                    </a:lnL>
                    <a:lnR w="9525" cap="flat" cmpd="sng" algn="ctr">
                      <a:noFill/>
                    </a:lnR>
                    <a:lnT w="9525" cap="flat" cmpd="sng" algn="ctr">
                      <a:noFill/>
                    </a:lnT>
                    <a:lnB w="9525" cap="flat" cmpd="sng" algn="ctr">
                      <a:solidFill>
                        <a:srgbClr val="E2E1DB"/>
                      </a:solidFill>
                    </a:lnB>
                    <a:noFill/>
                  </a:tcPr>
                </a:tc>
                <a:tc hMerge="1">
                  <a:txBody>
                    <a:bodyPr/>
                    <a:lstStyle/>
                    <a:p/>
                  </a:txBody>
                  <a:tcPr>
                    <a:lnL w="9525" cap="flat" cmpd="sng" algn="ctr">
                      <a:noFill/>
                    </a:lnL>
                    <a:lnR w="9525" cap="flat" cmpd="sng" algn="ctr">
                      <a:noFill/>
                    </a:lnR>
                    <a:lnT w="9525" cap="flat" cmpd="sng" algn="ctr">
                      <a:noFill/>
                    </a:lnT>
                    <a:lnB w="9525" cap="flat" cmpd="sng" algn="ctr">
                      <a:noFill/>
                    </a:lnB>
                    <a:noFill/>
                  </a:tcPr>
                </a:tc>
                <a:tc hMerge="1">
                  <a:txBody>
                    <a:bodyPr/>
                    <a:lstStyle/>
                    <a:p/>
                  </a:txBody>
                  <a:tcPr>
                    <a:lnL w="9525" cap="flat" cmpd="sng" algn="ctr">
                      <a:noFill/>
                    </a:lnL>
                    <a:lnR w="9525" cap="flat" cmpd="sng" algn="ctr">
                      <a:noFill/>
                    </a:lnR>
                    <a:lnT w="9525" cap="flat" cmpd="sng" algn="ctr">
                      <a:noFill/>
                    </a:lnT>
                    <a:lnB w="9525" cap="flat" cmpd="sng" algn="ctr">
                      <a:noFill/>
                    </a:lnB>
                    <a:noFill/>
                  </a:tcPr>
                </a:tc>
                <a:tc rowSpan="2">
                  <a:txBody>
                    <a:bodyPr wrap="none">
                      <a:noAutofit/>
                    </a:bodyPr>
                    <a:lstStyle/>
                    <a:p>
                      <a:pPr rtl="1" algn="r"/>
                      <a:r>
                        <a:rPr sz="900" b="1" lang="fa-IR">
                          <a:solidFill>
                            <a:srgbClr val="86857F"/>
                          </a:solidFill>
                          <a:latin typeface="Tahoma"/>
                          <a:cs typeface="Tahoma"/>
                          <a:ea typeface="Tahoma"/>
                        </a:rPr>
                        <a:t>گزینه</a:t>
                      </a:r>
                    </a:p>
                  </a:txBody>
                  <a:tcPr marT="25400" marR="0" marB="25400" marL="76200" anchor="ctr">
                    <a:lnL w="9525" cap="flat" cmpd="sng" algn="ctr">
                      <a:noFill/>
                    </a:lnL>
                    <a:lnR w="9525" cap="flat" cmpd="sng" algn="ctr">
                      <a:noFill/>
                    </a:lnR>
                    <a:lnT w="9525" cap="flat" cmpd="sng" algn="ctr">
                      <a:noFill/>
                    </a:lnT>
                    <a:lnB w="9525" cap="flat" cmpd="sng" algn="ctr">
                      <a:solidFill>
                        <a:srgbClr val="86857F"/>
                      </a:solidFill>
                    </a:lnB>
                    <a:noFill/>
                  </a:tcPr>
                </a:tc>
              </a:tr>
              <a:tr h="482600">
                <a:tc>
                  <a:txBody>
                    <a:bodyPr wrap="none">
                      <a:noAutofit/>
                    </a:bodyPr>
                    <a:lstStyle/>
                    <a:p>
                      <a:pPr rtl="1" algn="ctr"/>
                      <a:r>
                        <a:rPr sz="800" b="0" lang="fa-IR">
                          <a:solidFill>
                            <a:srgbClr val="86857F"/>
                          </a:solidFill>
                          <a:latin typeface="Tahoma"/>
                          <a:cs typeface="Tahoma"/>
                          <a:ea typeface="Tahoma"/>
                        </a:rPr>
                        <a:t>زیان</a:t>
                      </a:r>
                    </a:p>
                    <a:p>
                      <a:pPr rtl="1" algn="ctr"/>
                      <a:r>
                        <a:rPr sz="700" b="0" lang="fa-IR">
                          <a:solidFill>
                            <a:srgbClr val="86857F"/>
                          </a:solidFill>
                          <a:latin typeface="Tahoma"/>
                          <a:cs typeface="Tahoma"/>
                          <a:ea typeface="Tahoma"/>
                        </a:rPr>
                        <a:t>میلیارد</a:t>
                      </a:r>
                    </a:p>
                  </a:txBody>
                  <a:tcPr marT="25400" marR="38100" marB="25400" marL="38100" anchor="ctr">
                    <a:lnL w="9525" cap="flat" cmpd="sng" algn="ctr">
                      <a:noFill/>
                    </a:lnL>
                    <a:lnR w="9525" cap="flat" cmpd="sng" algn="ctr">
                      <a:noFill/>
                    </a:lnR>
                    <a:lnT w="9525" cap="flat" cmpd="sng" algn="ctr">
                      <a:noFill/>
                    </a:lnT>
                    <a:lnB w="9525" cap="flat" cmpd="sng" algn="ctr">
                      <a:solidFill>
                        <a:srgbClr val="86857F"/>
                      </a:solidFill>
                    </a:lnB>
                    <a:noFill/>
                  </a:tcPr>
                </a:tc>
                <a:tc>
                  <a:txBody>
                    <a:bodyPr wrap="none">
                      <a:noAutofit/>
                    </a:bodyPr>
                    <a:lstStyle/>
                    <a:p>
                      <a:pPr rtl="1" algn="ctr"/>
                      <a:r>
                        <a:rPr sz="800" b="0" lang="fa-IR">
                          <a:solidFill>
                            <a:srgbClr val="86857F"/>
                          </a:solidFill>
                          <a:latin typeface="Tahoma"/>
                          <a:cs typeface="Tahoma"/>
                          <a:ea typeface="Tahoma"/>
                        </a:rPr>
                        <a:t>نرخ نکول</a:t>
                      </a:r>
                    </a:p>
                    <a:p>
                      <a:pPr rtl="1" algn="ctr"/>
                      <a:r>
                        <a:rPr sz="700" b="0" lang="fa-IR">
                          <a:solidFill>
                            <a:srgbClr val="86857F"/>
                          </a:solidFill>
                          <a:latin typeface="Tahoma"/>
                          <a:cs typeface="Tahoma"/>
                          <a:ea typeface="Tahoma"/>
                        </a:rPr>
                        <a:t>وزن‌دار بر مبلغ</a:t>
                      </a:r>
                    </a:p>
                  </a:txBody>
                  <a:tcPr marT="25400" marR="38100" marB="25400" marL="38100" anchor="ctr">
                    <a:lnL w="9525" cap="flat" cmpd="sng" algn="ctr">
                      <a:noFill/>
                    </a:lnL>
                    <a:lnR w="9525" cap="flat" cmpd="sng" algn="ctr">
                      <a:noFill/>
                    </a:lnR>
                    <a:lnT w="9525" cap="flat" cmpd="sng" algn="ctr">
                      <a:noFill/>
                    </a:lnT>
                    <a:lnB w="9525" cap="flat" cmpd="sng" algn="ctr">
                      <a:solidFill>
                        <a:srgbClr val="86857F"/>
                      </a:solidFill>
                    </a:lnB>
                    <a:noFill/>
                  </a:tcPr>
                </a:tc>
                <a:tc>
                  <a:txBody>
                    <a:bodyPr wrap="none">
                      <a:noAutofit/>
                    </a:bodyPr>
                    <a:lstStyle/>
                    <a:p>
                      <a:pPr rtl="1" algn="ctr"/>
                      <a:r>
                        <a:rPr sz="800" b="0" lang="fa-IR">
                          <a:solidFill>
                            <a:srgbClr val="86857F"/>
                          </a:solidFill>
                          <a:latin typeface="Tahoma"/>
                          <a:cs typeface="Tahoma"/>
                          <a:ea typeface="Tahoma"/>
                        </a:rPr>
                        <a:t>اعطایی</a:t>
                      </a:r>
                    </a:p>
                    <a:p>
                      <a:pPr rtl="1" algn="ctr"/>
                      <a:r>
                        <a:rPr sz="700" b="0" lang="fa-IR">
                          <a:solidFill>
                            <a:srgbClr val="86857F"/>
                          </a:solidFill>
                          <a:latin typeface="Tahoma"/>
                          <a:cs typeface="Tahoma"/>
                          <a:ea typeface="Tahoma"/>
                        </a:rPr>
                        <a:t>میلیارد</a:t>
                      </a:r>
                    </a:p>
                  </a:txBody>
                  <a:tcPr marT="25400" marR="38100" marB="25400" marL="38100" anchor="ctr">
                    <a:lnL w="9525" cap="flat" cmpd="sng" algn="ctr">
                      <a:noFill/>
                    </a:lnL>
                    <a:lnR w="9525" cap="flat" cmpd="sng" algn="ctr">
                      <a:noFill/>
                    </a:lnR>
                    <a:lnT w="9525" cap="flat" cmpd="sng" algn="ctr">
                      <a:noFill/>
                    </a:lnT>
                    <a:lnB w="9525" cap="flat" cmpd="sng" algn="ctr">
                      <a:solidFill>
                        <a:srgbClr val="86857F"/>
                      </a:solidFill>
                    </a:lnB>
                    <a:noFill/>
                  </a:tcPr>
                </a:tc>
                <a:tc>
                  <a:txBody>
                    <a:bodyPr wrap="none">
                      <a:noAutofit/>
                    </a:bodyPr>
                    <a:lstStyle/>
                    <a:p>
                      <a:pPr rtl="1" algn="ctr"/>
                      <a:r>
                        <a:rPr sz="800" b="0" lang="fa-IR">
                          <a:solidFill>
                            <a:srgbClr val="86857F"/>
                          </a:solidFill>
                          <a:latin typeface="Tahoma"/>
                          <a:cs typeface="Tahoma"/>
                          <a:ea typeface="Tahoma"/>
                        </a:rPr>
                        <a:t>مبلغ کل</a:t>
                      </a:r>
                    </a:p>
                    <a:p>
                      <a:pPr rtl="1" algn="ctr"/>
                      <a:r>
                        <a:rPr sz="700" b="0" lang="fa-IR">
                          <a:solidFill>
                            <a:srgbClr val="86857F"/>
                          </a:solidFill>
                          <a:latin typeface="Tahoma"/>
                          <a:cs typeface="Tahoma"/>
                          <a:ea typeface="Tahoma"/>
                        </a:rPr>
                        <a:t>میلیارد</a:t>
                      </a:r>
                    </a:p>
                  </a:txBody>
                  <a:tcPr marT="25400" marR="38100" marB="25400" marL="38100" anchor="ctr">
                    <a:lnL w="9525" cap="flat" cmpd="sng" algn="ctr">
                      <a:noFill/>
                    </a:lnL>
                    <a:lnR w="9525" cap="flat" cmpd="sng" algn="ctr">
                      <a:noFill/>
                    </a:lnR>
                    <a:lnT w="9525" cap="flat" cmpd="sng" algn="ctr">
                      <a:noFill/>
                    </a:lnT>
                    <a:lnB w="9525" cap="flat" cmpd="sng" algn="ctr">
                      <a:solidFill>
                        <a:srgbClr val="86857F"/>
                      </a:solidFill>
                    </a:lnB>
                    <a:noFill/>
                  </a:tcPr>
                </a:tc>
                <a:tc>
                  <a:txBody>
                    <a:bodyPr wrap="none">
                      <a:noAutofit/>
                    </a:bodyPr>
                    <a:lstStyle/>
                    <a:p>
                      <a:pPr rtl="1" algn="ctr"/>
                      <a:r>
                        <a:rPr sz="800" b="0" lang="fa-IR">
                          <a:solidFill>
                            <a:srgbClr val="86857F"/>
                          </a:solidFill>
                          <a:latin typeface="Tahoma"/>
                          <a:cs typeface="Tahoma"/>
                          <a:ea typeface="Tahoma"/>
                        </a:rPr>
                        <a:t>میانگین وام</a:t>
                      </a:r>
                    </a:p>
                    <a:p>
                      <a:pPr rtl="1" algn="ctr"/>
                      <a:r>
                        <a:rPr sz="700" b="0" lang="fa-IR">
                          <a:solidFill>
                            <a:srgbClr val="86857F"/>
                          </a:solidFill>
                          <a:latin typeface="Tahoma"/>
                          <a:cs typeface="Tahoma"/>
                          <a:ea typeface="Tahoma"/>
                        </a:rPr>
                        <a:t>تومان</a:t>
                      </a:r>
                    </a:p>
                  </a:txBody>
                  <a:tcPr marT="25400" marR="38100" marB="25400" marL="38100" anchor="ctr">
                    <a:lnL w="9525" cap="flat" cmpd="sng" algn="ctr">
                      <a:noFill/>
                    </a:lnL>
                    <a:lnR w="9525" cap="flat" cmpd="sng" algn="ctr">
                      <a:noFill/>
                    </a:lnR>
                    <a:lnT w="9525" cap="flat" cmpd="sng" algn="ctr">
                      <a:noFill/>
                    </a:lnT>
                    <a:lnB w="9525" cap="flat" cmpd="sng" algn="ctr">
                      <a:solidFill>
                        <a:srgbClr val="86857F"/>
                      </a:solidFill>
                    </a:lnB>
                    <a:noFill/>
                  </a:tcPr>
                </a:tc>
                <a:tc>
                  <a:txBody>
                    <a:bodyPr wrap="none">
                      <a:noAutofit/>
                    </a:bodyPr>
                    <a:lstStyle/>
                    <a:p>
                      <a:pPr rtl="1" algn="ctr"/>
                      <a:r>
                        <a:rPr sz="800" b="0" lang="fa-IR">
                          <a:solidFill>
                            <a:srgbClr val="86857F"/>
                          </a:solidFill>
                          <a:latin typeface="Tahoma"/>
                          <a:cs typeface="Tahoma"/>
                          <a:ea typeface="Tahoma"/>
                        </a:rPr>
                        <a:t>وام‌گیرنده</a:t>
                      </a:r>
                    </a:p>
                  </a:txBody>
                  <a:tcPr marT="25400" marR="38100" marB="25400" marL="38100" anchor="ctr">
                    <a:lnL w="9525" cap="flat" cmpd="sng" algn="ctr">
                      <a:noFill/>
                    </a:lnL>
                    <a:lnR w="9525" cap="flat" cmpd="sng" algn="ctr">
                      <a:noFill/>
                    </a:lnR>
                    <a:lnT w="9525" cap="flat" cmpd="sng" algn="ctr">
                      <a:noFill/>
                    </a:lnT>
                    <a:lnB w="9525" cap="flat" cmpd="sng" algn="ctr">
                      <a:solidFill>
                        <a:srgbClr val="86857F"/>
                      </a:solidFill>
                    </a:lnB>
                    <a:noFill/>
                  </a:tcPr>
                </a:tc>
                <a:tc>
                  <a:txBody>
                    <a:bodyPr wrap="none">
                      <a:noAutofit/>
                    </a:bodyPr>
                    <a:lstStyle/>
                    <a:p>
                      <a:pPr rtl="1" algn="ctr"/>
                      <a:r>
                        <a:rPr sz="800" b="0" lang="fa-IR">
                          <a:solidFill>
                            <a:srgbClr val="86857F"/>
                          </a:solidFill>
                          <a:latin typeface="Tahoma"/>
                          <a:cs typeface="Tahoma"/>
                          <a:ea typeface="Tahoma"/>
                        </a:rPr>
                        <a:t>۵۰۰ هزار تا ۱ میلیون</a:t>
                      </a:r>
                    </a:p>
                    <a:p>
                      <a:pPr rtl="1" algn="ctr"/>
                      <a:r>
                        <a:rPr sz="700" b="0" lang="fa-IR">
                          <a:solidFill>
                            <a:srgbClr val="86857F"/>
                          </a:solidFill>
                          <a:latin typeface="Tahoma"/>
                          <a:cs typeface="Tahoma"/>
                          <a:ea typeface="Tahoma"/>
                        </a:rPr>
                        <a:t>نفوذ ۱۰ درصد</a:t>
                      </a:r>
                    </a:p>
                  </a:txBody>
                  <a:tcPr marT="25400" marR="38100" marB="25400" marL="38100" anchor="ctr">
                    <a:lnL w="9525" cap="flat" cmpd="sng" algn="ctr">
                      <a:noFill/>
                    </a:lnL>
                    <a:lnR w="9525" cap="flat" cmpd="sng" algn="ctr">
                      <a:noFill/>
                    </a:lnR>
                    <a:lnT w="9525" cap="flat" cmpd="sng" algn="ctr">
                      <a:noFill/>
                    </a:lnT>
                    <a:lnB w="9525" cap="flat" cmpd="sng" algn="ctr">
                      <a:solidFill>
                        <a:srgbClr val="86857F"/>
                      </a:solidFill>
                    </a:lnB>
                    <a:noFill/>
                  </a:tcPr>
                </a:tc>
                <a:tc>
                  <a:txBody>
                    <a:bodyPr wrap="none">
                      <a:noAutofit/>
                    </a:bodyPr>
                    <a:lstStyle/>
                    <a:p>
                      <a:pPr rtl="1" algn="ctr"/>
                      <a:r>
                        <a:rPr sz="800" b="0" lang="fa-IR">
                          <a:solidFill>
                            <a:srgbClr val="86857F"/>
                          </a:solidFill>
                          <a:latin typeface="Tahoma"/>
                          <a:cs typeface="Tahoma"/>
                          <a:ea typeface="Tahoma"/>
                        </a:rPr>
                        <a:t>۳۰۰ تا ۵۰۰ هزار</a:t>
                      </a:r>
                    </a:p>
                    <a:p>
                      <a:pPr rtl="1" algn="ctr"/>
                      <a:r>
                        <a:rPr sz="700" b="0" lang="fa-IR">
                          <a:solidFill>
                            <a:srgbClr val="86857F"/>
                          </a:solidFill>
                          <a:latin typeface="Tahoma"/>
                          <a:cs typeface="Tahoma"/>
                          <a:ea typeface="Tahoma"/>
                        </a:rPr>
                        <a:t>نفوذ ۱۳ درصد</a:t>
                      </a:r>
                    </a:p>
                  </a:txBody>
                  <a:tcPr marT="25400" marR="38100" marB="25400" marL="38100" anchor="ctr">
                    <a:lnL w="9525" cap="flat" cmpd="sng" algn="ctr">
                      <a:noFill/>
                    </a:lnL>
                    <a:lnR w="9525" cap="flat" cmpd="sng" algn="ctr">
                      <a:noFill/>
                    </a:lnR>
                    <a:lnT w="9525" cap="flat" cmpd="sng" algn="ctr">
                      <a:noFill/>
                    </a:lnT>
                    <a:lnB w="9525" cap="flat" cmpd="sng" algn="ctr">
                      <a:solidFill>
                        <a:srgbClr val="86857F"/>
                      </a:solidFill>
                    </a:lnB>
                    <a:noFill/>
                  </a:tcPr>
                </a:tc>
                <a:tc>
                  <a:txBody>
                    <a:bodyPr wrap="none">
                      <a:noAutofit/>
                    </a:bodyPr>
                    <a:lstStyle/>
                    <a:p>
                      <a:pPr rtl="1" algn="ctr"/>
                      <a:r>
                        <a:rPr sz="800" b="0" lang="fa-IR">
                          <a:solidFill>
                            <a:srgbClr val="86857F"/>
                          </a:solidFill>
                          <a:latin typeface="Tahoma"/>
                          <a:cs typeface="Tahoma"/>
                          <a:ea typeface="Tahoma"/>
                        </a:rPr>
                        <a:t>۱۰۰ تا ۳۰۰ هزار</a:t>
                      </a:r>
                    </a:p>
                    <a:p>
                      <a:pPr rtl="1" algn="ctr"/>
                      <a:r>
                        <a:rPr sz="700" b="0" lang="fa-IR">
                          <a:solidFill>
                            <a:srgbClr val="86857F"/>
                          </a:solidFill>
                          <a:latin typeface="Tahoma"/>
                          <a:cs typeface="Tahoma"/>
                          <a:ea typeface="Tahoma"/>
                        </a:rPr>
                        <a:t>نفوذ ۱۵ درصد</a:t>
                      </a:r>
                    </a:p>
                  </a:txBody>
                  <a:tcPr marT="25400" marR="38100" marB="25400" marL="38100" anchor="ctr">
                    <a:lnL w="9525" cap="flat" cmpd="sng" algn="ctr">
                      <a:noFill/>
                    </a:lnL>
                    <a:lnR w="9525" cap="flat" cmpd="sng" algn="ctr">
                      <a:noFill/>
                    </a:lnR>
                    <a:lnT w="9525" cap="flat" cmpd="sng" algn="ctr">
                      <a:noFill/>
                    </a:lnT>
                    <a:lnB w="9525" cap="flat" cmpd="sng" algn="ctr">
                      <a:solidFill>
                        <a:srgbClr val="86857F"/>
                      </a:solidFill>
                    </a:lnB>
                    <a:noFill/>
                  </a:tcPr>
                </a:tc>
                <a:tc vMerge="1">
                  <a:txBody>
                    <a:bodyPr/>
                    <a:lstStyle/>
                    <a:p/>
                  </a:txBody>
                  <a:tcPr>
                    <a:lnL w="9525" cap="flat" cmpd="sng" algn="ctr">
                      <a:noFill/>
                    </a:lnL>
                    <a:lnR w="9525" cap="flat" cmpd="sng" algn="ctr">
                      <a:noFill/>
                    </a:lnR>
                    <a:lnT w="9525" cap="flat" cmpd="sng" algn="ctr">
                      <a:noFill/>
                    </a:lnT>
                    <a:lnB w="9525" cap="flat" cmpd="sng" algn="ctr">
                      <a:noFill/>
                    </a:lnB>
                    <a:noFill/>
                  </a:tcPr>
                </a:tc>
              </a:tr>
              <a:tr h="584200">
                <a:tc>
                  <a:txBody>
                    <a:bodyPr wrap="none">
                      <a:noAutofit/>
                    </a:bodyPr>
                    <a:lstStyle/>
                    <a:p>
                      <a:pPr rtl="1" algn="ctr"/>
                      <a:r>
                        <a:rPr sz="900" b="0" lang="fa-IR">
                          <a:solidFill>
                            <a:srgbClr val="4E4D4A"/>
                          </a:solidFill>
                          <a:latin typeface="Tahoma"/>
                          <a:cs typeface="Tahoma"/>
                          <a:ea typeface="Tahoma"/>
                        </a:rPr>
                        <a:t>۱٫۱</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900" b="0" lang="fa-IR">
                          <a:solidFill>
                            <a:srgbClr val="4E4D4A"/>
                          </a:solidFill>
                          <a:latin typeface="Tahoma"/>
                          <a:cs typeface="Tahoma"/>
                          <a:ea typeface="Tahoma"/>
                        </a:rPr>
                        <a:t>۰٫۱۱۷ درصد</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1100" b="1" lang="fa-IR">
                          <a:solidFill>
                            <a:srgbClr val="0B0B0B"/>
                          </a:solidFill>
                          <a:latin typeface="Tahoma"/>
                          <a:cs typeface="Tahoma"/>
                          <a:ea typeface="Tahoma"/>
                        </a:rPr>
                        <a:t>۹۱۶</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900" b="0" lang="fa-IR">
                          <a:solidFill>
                            <a:srgbClr val="4E4D4A"/>
                          </a:solidFill>
                          <a:latin typeface="Tahoma"/>
                          <a:cs typeface="Tahoma"/>
                          <a:ea typeface="Tahoma"/>
                        </a:rPr>
                        <a:t>۳۰۵</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900" b="0" lang="fa-IR">
                          <a:solidFill>
                            <a:srgbClr val="4E4D4A"/>
                          </a:solidFill>
                          <a:latin typeface="Tahoma"/>
                          <a:cs typeface="Tahoma"/>
                          <a:ea typeface="Tahoma"/>
                        </a:rPr>
                        <a:t>۲۳۷٬۸۷۷</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900" b="0" lang="fa-IR">
                          <a:solidFill>
                            <a:srgbClr val="4E4D4A"/>
                          </a:solidFill>
                          <a:latin typeface="Tahoma"/>
                          <a:cs typeface="Tahoma"/>
                          <a:ea typeface="Tahoma"/>
                        </a:rPr>
                        <a:t>۱٬۲۸۲٬۸۸۷</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900" b="0" lang="fa-IR">
                          <a:solidFill>
                            <a:srgbClr val="4E4D4A"/>
                          </a:solidFill>
                          <a:latin typeface="Tahoma"/>
                          <a:cs typeface="Tahoma"/>
                          <a:ea typeface="Tahoma"/>
                        </a:rPr>
                        <a:t>—</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900" b="0" lang="fa-IR">
                          <a:solidFill>
                            <a:srgbClr val="4E4D4A"/>
                          </a:solidFill>
                          <a:latin typeface="Tahoma"/>
                          <a:cs typeface="Tahoma"/>
                          <a:ea typeface="Tahoma"/>
                        </a:rPr>
                        <a:t>۱٬۸۶۸٬۹۴۴</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900" b="0" lang="fa-IR">
                          <a:solidFill>
                            <a:srgbClr val="4E4D4A"/>
                          </a:solidFill>
                          <a:latin typeface="Tahoma"/>
                          <a:cs typeface="Tahoma"/>
                          <a:ea typeface="Tahoma"/>
                        </a:rPr>
                        <a:t>۶٬۹۳۲٬۸۲۸</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square">
                      <a:noAutofit/>
                    </a:bodyPr>
                    <a:lstStyle/>
                    <a:p>
                      <a:pPr rtl="1" algn="r"/>
                      <a:r>
                        <a:rPr sz="1100" b="1" lang="fa-IR">
                          <a:solidFill>
                            <a:srgbClr val="0B0B0B"/>
                          </a:solidFill>
                          <a:latin typeface="Tahoma"/>
                          <a:cs typeface="Tahoma"/>
                          <a:ea typeface="Tahoma"/>
                        </a:rPr>
                        <a:t>کم‌ریسک</a:t>
                      </a:r>
                    </a:p>
                    <a:p>
                      <a:pPr rtl="1" algn="r"/>
                      <a:r>
                        <a:rPr sz="800" b="0" lang="fa-IR">
                          <a:solidFill>
                            <a:srgbClr val="86857F"/>
                          </a:solidFill>
                          <a:latin typeface="Tahoma"/>
                          <a:cs typeface="Tahoma"/>
                          <a:ea typeface="Tahoma"/>
                        </a:rPr>
                        <a:t>سقف‌ها پایین، تمرکز روی باند اول</a:t>
                      </a:r>
                    </a:p>
                  </a:txBody>
                  <a:tcPr marT="38100" marR="0" marB="38100" marL="76200" anchor="ctr">
                    <a:lnL w="9525" cap="flat" cmpd="sng" algn="ctr">
                      <a:noFill/>
                    </a:lnL>
                    <a:lnR w="9525" cap="flat" cmpd="sng" algn="ctr">
                      <a:noFill/>
                    </a:lnR>
                    <a:lnT w="9525" cap="flat" cmpd="sng" algn="ctr">
                      <a:noFill/>
                    </a:lnT>
                    <a:lnB w="9525" cap="flat" cmpd="sng" algn="ctr">
                      <a:solidFill>
                        <a:srgbClr val="D4D3CC"/>
                      </a:solidFill>
                    </a:lnB>
                    <a:noFill/>
                  </a:tcPr>
                </a:tc>
              </a:tr>
              <a:tr h="584200">
                <a:tc>
                  <a:txBody>
                    <a:bodyPr wrap="none">
                      <a:noAutofit/>
                    </a:bodyPr>
                    <a:lstStyle/>
                    <a:p>
                      <a:pPr rtl="1" algn="ctr"/>
                      <a:r>
                        <a:rPr sz="900" b="0" lang="fa-IR">
                          <a:solidFill>
                            <a:srgbClr val="4E4D4A"/>
                          </a:solidFill>
                          <a:latin typeface="Tahoma"/>
                          <a:cs typeface="Tahoma"/>
                          <a:ea typeface="Tahoma"/>
                        </a:rPr>
                        <a:t>۱٫۲</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900" b="0" lang="fa-IR">
                          <a:solidFill>
                            <a:srgbClr val="4E4D4A"/>
                          </a:solidFill>
                          <a:latin typeface="Tahoma"/>
                          <a:cs typeface="Tahoma"/>
                          <a:ea typeface="Tahoma"/>
                        </a:rPr>
                        <a:t>۰٫۱۰۶ درصد</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1100" b="1" lang="fa-IR">
                          <a:solidFill>
                            <a:srgbClr val="0B0B0B"/>
                          </a:solidFill>
                          <a:latin typeface="Tahoma"/>
                          <a:cs typeface="Tahoma"/>
                          <a:ea typeface="Tahoma"/>
                        </a:rPr>
                        <a:t>۱٬۱۰۳</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900" b="0" lang="fa-IR">
                          <a:solidFill>
                            <a:srgbClr val="4E4D4A"/>
                          </a:solidFill>
                          <a:latin typeface="Tahoma"/>
                          <a:cs typeface="Tahoma"/>
                          <a:ea typeface="Tahoma"/>
                        </a:rPr>
                        <a:t>۳۶۸</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900" b="0" lang="fa-IR">
                          <a:solidFill>
                            <a:srgbClr val="4E4D4A"/>
                          </a:solidFill>
                          <a:latin typeface="Tahoma"/>
                          <a:cs typeface="Tahoma"/>
                          <a:ea typeface="Tahoma"/>
                        </a:rPr>
                        <a:t>۳۰۲٬۰۸۴</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900" b="0" lang="fa-IR">
                          <a:solidFill>
                            <a:srgbClr val="4E4D4A"/>
                          </a:solidFill>
                          <a:latin typeface="Tahoma"/>
                          <a:cs typeface="Tahoma"/>
                          <a:ea typeface="Tahoma"/>
                        </a:rPr>
                        <a:t>۱٬۲۱۷٬۴۷۴</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900" b="0" lang="fa-IR">
                          <a:solidFill>
                            <a:srgbClr val="4E4D4A"/>
                          </a:solidFill>
                          <a:latin typeface="Tahoma"/>
                          <a:cs typeface="Tahoma"/>
                          <a:ea typeface="Tahoma"/>
                        </a:rPr>
                        <a:t>۹۳۴٬۴۷۲</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solidFill>
                      <a:srgbClr val="FBEDED"/>
                    </a:solidFill>
                  </a:tcPr>
                </a:tc>
                <a:tc>
                  <a:txBody>
                    <a:bodyPr wrap="none">
                      <a:noAutofit/>
                    </a:bodyPr>
                    <a:lstStyle/>
                    <a:p>
                      <a:pPr rtl="1" algn="ctr"/>
                      <a:r>
                        <a:rPr sz="900" b="0" lang="fa-IR">
                          <a:solidFill>
                            <a:srgbClr val="4E4D4A"/>
                          </a:solidFill>
                          <a:latin typeface="Tahoma"/>
                          <a:cs typeface="Tahoma"/>
                          <a:ea typeface="Tahoma"/>
                        </a:rPr>
                        <a:t>۲٬۸۰۳٬۴۱۷</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none">
                      <a:noAutofit/>
                    </a:bodyPr>
                    <a:lstStyle/>
                    <a:p>
                      <a:pPr rtl="1" algn="ctr"/>
                      <a:r>
                        <a:rPr sz="900" b="0" lang="fa-IR">
                          <a:solidFill>
                            <a:srgbClr val="4E4D4A"/>
                          </a:solidFill>
                          <a:latin typeface="Tahoma"/>
                          <a:cs typeface="Tahoma"/>
                          <a:ea typeface="Tahoma"/>
                        </a:rPr>
                        <a:t>۵٬۰۶۳٬۸۸۳</a:t>
                      </a:r>
                    </a:p>
                  </a:txBody>
                  <a:tcPr marT="25400" marR="38100" marB="25400" marL="38100" anchor="ctr">
                    <a:lnL w="9525" cap="flat" cmpd="sng" algn="ctr">
                      <a:noFill/>
                    </a:lnL>
                    <a:lnR w="9525" cap="flat" cmpd="sng" algn="ctr">
                      <a:noFill/>
                    </a:lnR>
                    <a:lnT w="9525" cap="flat" cmpd="sng" algn="ctr">
                      <a:noFill/>
                    </a:lnT>
                    <a:lnB w="9525" cap="flat" cmpd="sng" algn="ctr">
                      <a:solidFill>
                        <a:srgbClr val="D4D3CC"/>
                      </a:solidFill>
                    </a:lnB>
                    <a:noFill/>
                  </a:tcPr>
                </a:tc>
                <a:tc>
                  <a:txBody>
                    <a:bodyPr wrap="square">
                      <a:noAutofit/>
                    </a:bodyPr>
                    <a:lstStyle/>
                    <a:p>
                      <a:pPr rtl="1" algn="r"/>
                      <a:r>
                        <a:rPr sz="1100" b="1" lang="fa-IR">
                          <a:solidFill>
                            <a:srgbClr val="0B0B0B"/>
                          </a:solidFill>
                          <a:latin typeface="Tahoma"/>
                          <a:cs typeface="Tahoma"/>
                          <a:ea typeface="Tahoma"/>
                        </a:rPr>
                        <a:t>محتاطانه</a:t>
                      </a:r>
                    </a:p>
                    <a:p>
                      <a:pPr rtl="1" algn="r"/>
                      <a:r>
                        <a:rPr sz="800" b="0" lang="fa-IR">
                          <a:solidFill>
                            <a:srgbClr val="86857F"/>
                          </a:solidFill>
                          <a:latin typeface="Tahoma"/>
                          <a:cs typeface="Tahoma"/>
                          <a:ea typeface="Tahoma"/>
                        </a:rPr>
                        <a:t>یک دهک در باند بالا</a:t>
                      </a:r>
                    </a:p>
                  </a:txBody>
                  <a:tcPr marT="38100" marR="0" marB="38100" marL="76200" anchor="ctr">
                    <a:lnL w="9525" cap="flat" cmpd="sng" algn="ctr">
                      <a:noFill/>
                    </a:lnL>
                    <a:lnR w="9525" cap="flat" cmpd="sng" algn="ctr">
                      <a:noFill/>
                    </a:lnR>
                    <a:lnT w="9525" cap="flat" cmpd="sng" algn="ctr">
                      <a:noFill/>
                    </a:lnT>
                    <a:lnB w="9525" cap="flat" cmpd="sng" algn="ctr">
                      <a:solidFill>
                        <a:srgbClr val="D4D3CC"/>
                      </a:solidFill>
                    </a:lnB>
                    <a:noFill/>
                  </a:tcPr>
                </a:tc>
              </a:tr>
              <a:tr h="584200">
                <a:tc>
                  <a:txBody>
                    <a:bodyPr wrap="none">
                      <a:noAutofit/>
                    </a:bodyPr>
                    <a:lstStyle/>
                    <a:p>
                      <a:pPr rtl="1" algn="ctr"/>
                      <a:r>
                        <a:rPr sz="900" b="0" lang="fa-IR">
                          <a:solidFill>
                            <a:srgbClr val="4E4D4A"/>
                          </a:solidFill>
                          <a:latin typeface="Tahoma"/>
                          <a:cs typeface="Tahoma"/>
                          <a:ea typeface="Tahoma"/>
                        </a:rPr>
                        <a:t>۱٫۴</a:t>
                      </a:r>
                    </a:p>
                  </a:txBody>
                  <a:tcPr marT="25400" marR="38100" marB="25400" marL="38100" anchor="ctr">
                    <a:lnL w="9525" cap="flat" cmpd="sng" algn="ctr">
                      <a:noFill/>
                    </a:lnL>
                    <a:lnR w="9525" cap="flat" cmpd="sng" algn="ctr">
                      <a:noFill/>
                    </a:lnR>
                    <a:lnT w="9525" cap="flat" cmpd="sng" algn="ctr">
                      <a:noFill/>
                    </a:lnT>
                    <a:lnB w="9525" cap="flat" cmpd="sng" algn="ctr">
                      <a:noFill/>
                    </a:lnB>
                    <a:noFill/>
                  </a:tcPr>
                </a:tc>
                <a:tc>
                  <a:txBody>
                    <a:bodyPr wrap="none">
                      <a:noAutofit/>
                    </a:bodyPr>
                    <a:lstStyle/>
                    <a:p>
                      <a:pPr rtl="1" algn="ctr"/>
                      <a:r>
                        <a:rPr sz="900" b="0" lang="fa-IR">
                          <a:solidFill>
                            <a:srgbClr val="4E4D4A"/>
                          </a:solidFill>
                          <a:latin typeface="Tahoma"/>
                          <a:cs typeface="Tahoma"/>
                          <a:ea typeface="Tahoma"/>
                        </a:rPr>
                        <a:t>۰٫۱۰۱ درصد</a:t>
                      </a:r>
                    </a:p>
                  </a:txBody>
                  <a:tcPr marT="25400" marR="38100" marB="25400" marL="38100" anchor="ctr">
                    <a:lnL w="9525" cap="flat" cmpd="sng" algn="ctr">
                      <a:noFill/>
                    </a:lnL>
                    <a:lnR w="9525" cap="flat" cmpd="sng" algn="ctr">
                      <a:noFill/>
                    </a:lnR>
                    <a:lnT w="9525" cap="flat" cmpd="sng" algn="ctr">
                      <a:noFill/>
                    </a:lnT>
                    <a:lnB w="9525" cap="flat" cmpd="sng" algn="ctr">
                      <a:noFill/>
                    </a:lnB>
                    <a:noFill/>
                  </a:tcPr>
                </a:tc>
                <a:tc>
                  <a:txBody>
                    <a:bodyPr wrap="none">
                      <a:noAutofit/>
                    </a:bodyPr>
                    <a:lstStyle/>
                    <a:p>
                      <a:pPr rtl="1" algn="ctr"/>
                      <a:r>
                        <a:rPr sz="1100" b="1" lang="fa-IR">
                          <a:solidFill>
                            <a:srgbClr val="0B0B0B"/>
                          </a:solidFill>
                          <a:latin typeface="Tahoma"/>
                          <a:cs typeface="Tahoma"/>
                          <a:ea typeface="Tahoma"/>
                        </a:rPr>
                        <a:t>۱٬۴۱۷</a:t>
                      </a:r>
                    </a:p>
                  </a:txBody>
                  <a:tcPr marT="25400" marR="38100" marB="25400" marL="38100" anchor="ctr">
                    <a:lnL w="9525" cap="flat" cmpd="sng" algn="ctr">
                      <a:noFill/>
                    </a:lnL>
                    <a:lnR w="9525" cap="flat" cmpd="sng" algn="ctr">
                      <a:noFill/>
                    </a:lnR>
                    <a:lnT w="9525" cap="flat" cmpd="sng" algn="ctr">
                      <a:noFill/>
                    </a:lnT>
                    <a:lnB w="9525" cap="flat" cmpd="sng" algn="ctr">
                      <a:noFill/>
                    </a:lnB>
                    <a:noFill/>
                  </a:tcPr>
                </a:tc>
                <a:tc>
                  <a:txBody>
                    <a:bodyPr wrap="none">
                      <a:noAutofit/>
                    </a:bodyPr>
                    <a:lstStyle/>
                    <a:p>
                      <a:pPr rtl="1" algn="ctr"/>
                      <a:r>
                        <a:rPr sz="900" b="0" lang="fa-IR">
                          <a:solidFill>
                            <a:srgbClr val="4E4D4A"/>
                          </a:solidFill>
                          <a:latin typeface="Tahoma"/>
                          <a:cs typeface="Tahoma"/>
                          <a:ea typeface="Tahoma"/>
                        </a:rPr>
                        <a:t>۴۷۲</a:t>
                      </a:r>
                    </a:p>
                  </a:txBody>
                  <a:tcPr marT="25400" marR="38100" marB="25400" marL="38100" anchor="ctr">
                    <a:lnL w="9525" cap="flat" cmpd="sng" algn="ctr">
                      <a:noFill/>
                    </a:lnL>
                    <a:lnR w="9525" cap="flat" cmpd="sng" algn="ctr">
                      <a:noFill/>
                    </a:lnR>
                    <a:lnT w="9525" cap="flat" cmpd="sng" algn="ctr">
                      <a:noFill/>
                    </a:lnT>
                    <a:lnB w="9525" cap="flat" cmpd="sng" algn="ctr">
                      <a:noFill/>
                    </a:lnB>
                    <a:noFill/>
                  </a:tcPr>
                </a:tc>
                <a:tc>
                  <a:txBody>
                    <a:bodyPr wrap="none">
                      <a:noAutofit/>
                    </a:bodyPr>
                    <a:lstStyle/>
                    <a:p>
                      <a:pPr rtl="1" algn="ctr"/>
                      <a:r>
                        <a:rPr sz="900" b="0" lang="fa-IR">
                          <a:solidFill>
                            <a:srgbClr val="4E4D4A"/>
                          </a:solidFill>
                          <a:latin typeface="Tahoma"/>
                          <a:cs typeface="Tahoma"/>
                          <a:ea typeface="Tahoma"/>
                        </a:rPr>
                        <a:t>۴۲۷٬۴۱۷</a:t>
                      </a:r>
                    </a:p>
                  </a:txBody>
                  <a:tcPr marT="25400" marR="38100" marB="25400" marL="38100" anchor="ctr">
                    <a:lnL w="9525" cap="flat" cmpd="sng" algn="ctr">
                      <a:noFill/>
                    </a:lnL>
                    <a:lnR w="9525" cap="flat" cmpd="sng" algn="ctr">
                      <a:noFill/>
                    </a:lnR>
                    <a:lnT w="9525" cap="flat" cmpd="sng" algn="ctr">
                      <a:noFill/>
                    </a:lnT>
                    <a:lnB w="9525" cap="flat" cmpd="sng" algn="ctr">
                      <a:noFill/>
                    </a:lnB>
                    <a:noFill/>
                  </a:tcPr>
                </a:tc>
                <a:tc>
                  <a:txBody>
                    <a:bodyPr wrap="none">
                      <a:noAutofit/>
                    </a:bodyPr>
                    <a:lstStyle/>
                    <a:p>
                      <a:pPr rtl="1" algn="ctr"/>
                      <a:r>
                        <a:rPr sz="900" b="0" lang="fa-IR">
                          <a:solidFill>
                            <a:srgbClr val="4E4D4A"/>
                          </a:solidFill>
                          <a:latin typeface="Tahoma"/>
                          <a:cs typeface="Tahoma"/>
                          <a:ea typeface="Tahoma"/>
                        </a:rPr>
                        <a:t>۱٬۱۰۵٬۳۳۷</a:t>
                      </a:r>
                    </a:p>
                  </a:txBody>
                  <a:tcPr marT="25400" marR="38100" marB="25400" marL="38100" anchor="ctr">
                    <a:lnL w="9525" cap="flat" cmpd="sng" algn="ctr">
                      <a:noFill/>
                    </a:lnL>
                    <a:lnR w="9525" cap="flat" cmpd="sng" algn="ctr">
                      <a:noFill/>
                    </a:lnR>
                    <a:lnT w="9525" cap="flat" cmpd="sng" algn="ctr">
                      <a:noFill/>
                    </a:lnT>
                    <a:lnB w="9525" cap="flat" cmpd="sng" algn="ctr">
                      <a:noFill/>
                    </a:lnB>
                    <a:noFill/>
                  </a:tcPr>
                </a:tc>
                <a:tc>
                  <a:txBody>
                    <a:bodyPr wrap="none">
                      <a:noAutofit/>
                    </a:bodyPr>
                    <a:lstStyle/>
                    <a:p>
                      <a:pPr rtl="1" algn="ctr"/>
                      <a:r>
                        <a:rPr sz="900" b="0" lang="fa-IR">
                          <a:solidFill>
                            <a:srgbClr val="4E4D4A"/>
                          </a:solidFill>
                          <a:latin typeface="Tahoma"/>
                          <a:cs typeface="Tahoma"/>
                          <a:ea typeface="Tahoma"/>
                        </a:rPr>
                        <a:t>۲٬۸۰۳٬۴۱۶</a:t>
                      </a:r>
                    </a:p>
                  </a:txBody>
                  <a:tcPr marT="25400" marR="38100" marB="25400" marL="38100" anchor="ctr">
                    <a:lnL w="9525" cap="flat" cmpd="sng" algn="ctr">
                      <a:noFill/>
                    </a:lnL>
                    <a:lnR w="9525" cap="flat" cmpd="sng" algn="ctr">
                      <a:noFill/>
                    </a:lnR>
                    <a:lnT w="9525" cap="flat" cmpd="sng" algn="ctr">
                      <a:noFill/>
                    </a:lnT>
                    <a:lnB w="9525" cap="flat" cmpd="sng" algn="ctr">
                      <a:noFill/>
                    </a:lnB>
                    <a:solidFill>
                      <a:srgbClr val="FBEDED"/>
                    </a:solidFill>
                  </a:tcPr>
                </a:tc>
                <a:tc>
                  <a:txBody>
                    <a:bodyPr wrap="none">
                      <a:noAutofit/>
                    </a:bodyPr>
                    <a:lstStyle/>
                    <a:p>
                      <a:pPr rtl="1" algn="ctr"/>
                      <a:r>
                        <a:rPr sz="900" b="0" lang="fa-IR">
                          <a:solidFill>
                            <a:srgbClr val="4E4D4A"/>
                          </a:solidFill>
                          <a:latin typeface="Tahoma"/>
                          <a:cs typeface="Tahoma"/>
                          <a:ea typeface="Tahoma"/>
                        </a:rPr>
                        <a:t>۳٬۷۳۷٬۸۹۰</a:t>
                      </a:r>
                    </a:p>
                  </a:txBody>
                  <a:tcPr marT="25400" marR="38100" marB="25400" marL="38100" anchor="ctr">
                    <a:lnL w="9525" cap="flat" cmpd="sng" algn="ctr">
                      <a:noFill/>
                    </a:lnL>
                    <a:lnR w="9525" cap="flat" cmpd="sng" algn="ctr">
                      <a:noFill/>
                    </a:lnR>
                    <a:lnT w="9525" cap="flat" cmpd="sng" algn="ctr">
                      <a:noFill/>
                    </a:lnT>
                    <a:lnB w="9525" cap="flat" cmpd="sng" algn="ctr">
                      <a:noFill/>
                    </a:lnB>
                    <a:noFill/>
                  </a:tcPr>
                </a:tc>
                <a:tc>
                  <a:txBody>
                    <a:bodyPr wrap="none">
                      <a:noAutofit/>
                    </a:bodyPr>
                    <a:lstStyle/>
                    <a:p>
                      <a:pPr rtl="1" algn="ctr"/>
                      <a:r>
                        <a:rPr sz="900" b="0" lang="fa-IR">
                          <a:solidFill>
                            <a:srgbClr val="4E4D4A"/>
                          </a:solidFill>
                          <a:latin typeface="Tahoma"/>
                          <a:cs typeface="Tahoma"/>
                          <a:ea typeface="Tahoma"/>
                        </a:rPr>
                        <a:t>۲٬۲۶۰٬۴۶۶</a:t>
                      </a:r>
                    </a:p>
                  </a:txBody>
                  <a:tcPr marT="25400" marR="38100" marB="25400" marL="38100" anchor="ctr">
                    <a:lnL w="9525" cap="flat" cmpd="sng" algn="ctr">
                      <a:noFill/>
                    </a:lnL>
                    <a:lnR w="9525" cap="flat" cmpd="sng" algn="ctr">
                      <a:noFill/>
                    </a:lnR>
                    <a:lnT w="9525" cap="flat" cmpd="sng" algn="ctr">
                      <a:noFill/>
                    </a:lnT>
                    <a:lnB w="9525" cap="flat" cmpd="sng" algn="ctr">
                      <a:noFill/>
                    </a:lnB>
                    <a:noFill/>
                  </a:tcPr>
                </a:tc>
                <a:tc>
                  <a:txBody>
                    <a:bodyPr wrap="square">
                      <a:noAutofit/>
                    </a:bodyPr>
                    <a:lstStyle/>
                    <a:p>
                      <a:pPr rtl="1" algn="r"/>
                      <a:r>
                        <a:rPr sz="1100" b="1" lang="fa-IR">
                          <a:solidFill>
                            <a:srgbClr val="0B0B0B"/>
                          </a:solidFill>
                          <a:latin typeface="Tahoma"/>
                          <a:cs typeface="Tahoma"/>
                          <a:ea typeface="Tahoma"/>
                        </a:rPr>
                        <a:t>گسترده</a:t>
                      </a:r>
                    </a:p>
                    <a:p>
                      <a:pPr rtl="1" algn="r"/>
                      <a:r>
                        <a:rPr sz="800" b="0" lang="fa-IR">
                          <a:solidFill>
                            <a:srgbClr val="86857F"/>
                          </a:solidFill>
                          <a:latin typeface="Tahoma"/>
                          <a:cs typeface="Tahoma"/>
                          <a:ea typeface="Tahoma"/>
                        </a:rPr>
                        <a:t>سه دهک در باند بالا</a:t>
                      </a:r>
                    </a:p>
                  </a:txBody>
                  <a:tcPr marT="38100" marR="0" marB="38100" marL="76200" anchor="ctr">
                    <a:lnL w="9525" cap="flat" cmpd="sng" algn="ctr">
                      <a:noFill/>
                    </a:lnL>
                    <a:lnR w="9525" cap="flat" cmpd="sng" algn="ctr">
                      <a:noFill/>
                    </a:lnR>
                    <a:lnT w="9525" cap="flat" cmpd="sng" algn="ctr">
                      <a:noFill/>
                    </a:lnT>
                    <a:lnB w="9525" cap="flat" cmpd="sng" algn="ctr">
                      <a:noFill/>
                    </a:lnB>
                    <a:noFill/>
                  </a:tcPr>
                </a:tc>
              </a:tr>
            </a:tbl>
          </a:graphicData>
        </a:graphic>
      </p:graphicFrame>
      <p:sp>
        <p:nvSpPr>
          <p:cNvPr id="34" name="TextBox 33"/>
          <p:cNvSpPr txBox="1"/>
          <p:nvPr/>
        </p:nvSpPr>
        <p:spPr>
          <a:xfrm>
            <a:off x="457200" y="4597400"/>
            <a:ext cx="11277600" cy="482600"/>
          </a:xfrm>
          <a:prstGeom prst="rect">
            <a:avLst/>
          </a:prstGeom>
          <a:noFill/>
        </p:spPr>
        <p:txBody>
          <a:bodyPr wrap="square" lIns="0" rIns="0" tIns="0" bIns="0" anchor="t">
            <a:noAutofit/>
          </a:bodyPr>
          <a:lstStyle/>
          <a:p>
            <a:pPr rtl="1" algn="r">
              <a:lnSpc>
                <a:spcPct val="140000"/>
              </a:lnSpc>
            </a:pPr>
            <a:r>
              <a:rPr sz="850" b="0" lang="fa-IR">
                <a:solidFill>
                  <a:srgbClr val="4E4D4A"/>
                </a:solidFill>
                <a:latin typeface="Tahoma"/>
                <a:cs typeface="Tahoma"/>
                <a:ea typeface="Tahoma"/>
              </a:rPr>
              <a:t>وام بزرگ‌تر، نفوذ کمتر. برای همین گزینه گسترده کمترین وام‌گیرنده را دارد (۱٬۱۰۵٬۳۳۷ در برابر ۱٬۲۸۲٬۸۸۷ در کم‌ریسک) و با این حال بیشترین مبلغ را می‌دهد. نرخ نکول وزن‌دار بر حسب مبلغ است، نه تعداد نفرات، پس در گسترده پایین‌تر می‌آید چون پول بیشتری به دست کم‌ریسک‌ترین دهک‌ها می‌رسد؛ زیان مطلق با این حال بالاتر می‌رود.</a:t>
            </a:r>
          </a:p>
        </p:txBody>
      </p:sp>
      <p:sp>
        <p:nvSpPr>
          <p:cNvPr id="35" name="TextBox 34"/>
          <p:cNvSpPr txBox="1"/>
          <p:nvPr/>
        </p:nvSpPr>
        <p:spPr>
          <a:xfrm>
            <a:off x="457200" y="5130800"/>
            <a:ext cx="11277600" cy="203200"/>
          </a:xfrm>
          <a:prstGeom prst="rect">
            <a:avLst/>
          </a:prstGeom>
          <a:noFill/>
        </p:spPr>
        <p:txBody>
          <a:bodyPr wrap="none" lIns="0" rIns="0" tIns="0" bIns="0" anchor="ctr">
            <a:noAutofit/>
          </a:bodyPr>
          <a:lstStyle/>
          <a:p>
            <a:pPr rtl="1" algn="r"/>
            <a:r>
              <a:rPr sz="850" b="1" lang="fa-IR">
                <a:solidFill>
                  <a:srgbClr val="0B0B0B"/>
                </a:solidFill>
                <a:latin typeface="Tahoma"/>
                <a:cs typeface="Tahoma"/>
                <a:ea typeface="Tahoma"/>
              </a:rPr>
              <a:t>با این ضرایب، حتی گزینه گسترده فقط ۹ درصد هدف ۱۵٬۰۰۰ میلیاردی را پوشش می‌دهد — این فاصله با سقف اعتبار پر نمی‌شود، با نفوذ و دفعات وام پر می‌شود.</a:t>
            </a:r>
          </a:p>
        </p:txBody>
      </p:sp>
      <p:sp>
        <p:nvSpPr>
          <p:cNvPr id="36" name="Rounded Rectangle 35"/>
          <p:cNvSpPr/>
          <p:nvPr/>
        </p:nvSpPr>
        <p:spPr>
          <a:xfrm>
            <a:off x="7416800" y="5410200"/>
            <a:ext cx="4318000" cy="1016000"/>
          </a:xfrm>
          <a:prstGeom prst="roundRect">
            <a:avLst>
              <a:gd name="adj" fmla="val 7000"/>
            </a:avLst>
          </a:prstGeom>
          <a:solidFill>
            <a:srgbClr val="F6F6F3"/>
          </a:solidFill>
          <a:ln w="9525">
            <a:solidFill>
              <a:srgbClr val="E8E8E4"/>
            </a:solidFill>
          </a:ln>
          <a:effectLst/>
        </p:spPr>
        <p:txBody>
          <a:bodyPr rtlCol="0" anchor="ctr" wrap="none"/>
          <a:lstStyle/>
          <a:p>
            <a:pPr algn="ctr"/>
          </a:p>
        </p:txBody>
      </p:sp>
      <p:sp>
        <p:nvSpPr>
          <p:cNvPr id="37" name="TextBox 36"/>
          <p:cNvSpPr txBox="1"/>
          <p:nvPr/>
        </p:nvSpPr>
        <p:spPr>
          <a:xfrm>
            <a:off x="7569200" y="5511800"/>
            <a:ext cx="4013200" cy="152400"/>
          </a:xfrm>
          <a:prstGeom prst="rect">
            <a:avLst/>
          </a:prstGeom>
          <a:noFill/>
        </p:spPr>
        <p:txBody>
          <a:bodyPr wrap="none" lIns="0" rIns="0" tIns="0" bIns="0" anchor="ctr">
            <a:noAutofit/>
          </a:bodyPr>
          <a:lstStyle/>
          <a:p>
            <a:pPr rtl="1" algn="r"/>
            <a:r>
              <a:rPr sz="950" b="1" lang="fa-IR">
                <a:solidFill>
                  <a:srgbClr val="4E4D4A"/>
                </a:solidFill>
                <a:latin typeface="Tahoma"/>
                <a:cs typeface="Tahoma"/>
                <a:ea typeface="Tahoma"/>
              </a:rPr>
              <a:t>چطور حساب شده</a:t>
            </a:r>
          </a:p>
        </p:txBody>
      </p:sp>
      <p:sp>
        <p:nvSpPr>
          <p:cNvPr id="38" name="TextBox 37"/>
          <p:cNvSpPr txBox="1"/>
          <p:nvPr/>
        </p:nvSpPr>
        <p:spPr>
          <a:xfrm>
            <a:off x="9347200" y="5740400"/>
            <a:ext cx="2235200" cy="152400"/>
          </a:xfrm>
          <a:prstGeom prst="rect">
            <a:avLst/>
          </a:prstGeom>
          <a:noFill/>
        </p:spPr>
        <p:txBody>
          <a:bodyPr wrap="none" lIns="0" rIns="0" tIns="0" bIns="0" anchor="ctr">
            <a:noAutofit/>
          </a:bodyPr>
          <a:lstStyle/>
          <a:p>
            <a:pPr rtl="1" algn="r"/>
            <a:r>
              <a:rPr sz="850" b="0" lang="fa-IR">
                <a:solidFill>
                  <a:srgbClr val="4E4D4A"/>
                </a:solidFill>
                <a:latin typeface="Tahoma"/>
                <a:cs typeface="Tahoma"/>
                <a:ea typeface="Tahoma"/>
              </a:rPr>
              <a:t>ضریب نفوذ، از باند پایین به بالا</a:t>
            </a:r>
          </a:p>
        </p:txBody>
      </p:sp>
      <p:sp>
        <p:nvSpPr>
          <p:cNvPr id="39" name="TextBox 38"/>
          <p:cNvSpPr txBox="1"/>
          <p:nvPr/>
        </p:nvSpPr>
        <p:spPr>
          <a:xfrm>
            <a:off x="7569200" y="5740400"/>
            <a:ext cx="1651000" cy="152400"/>
          </a:xfrm>
          <a:prstGeom prst="rect">
            <a:avLst/>
          </a:prstGeom>
          <a:noFill/>
        </p:spPr>
        <p:txBody>
          <a:bodyPr wrap="none" lIns="0" rIns="0" tIns="0" bIns="0" anchor="ctr">
            <a:noAutofit/>
          </a:bodyPr>
          <a:lstStyle/>
          <a:p>
            <a:pPr rtl="1" algn="l"/>
            <a:r>
              <a:rPr sz="850" b="1" lang="fa-IR">
                <a:solidFill>
                  <a:srgbClr val="0B0B0B"/>
                </a:solidFill>
                <a:latin typeface="Tahoma"/>
                <a:cs typeface="Tahoma"/>
                <a:ea typeface="Tahoma"/>
              </a:rPr>
              <a:t>۱۵، ۱۳ و ۱۰ درصد</a:t>
            </a:r>
          </a:p>
        </p:txBody>
      </p:sp>
      <p:cxnSp>
        <p:nvCxnSpPr>
          <p:cNvPr id="40" name="Connector 39"/>
          <p:cNvCxnSpPr/>
          <p:nvPr/>
        </p:nvCxnSpPr>
        <p:spPr>
          <a:xfrm>
            <a:off x="7569200" y="5918200"/>
            <a:ext cx="4013200" cy="0"/>
          </a:xfrm>
          <a:prstGeom prst="line">
            <a:avLst/>
          </a:prstGeom>
          <a:ln w="6350">
            <a:solidFill>
              <a:srgbClr val="E2E1DB"/>
            </a:solidFill>
          </a:ln>
          <a:effectLst/>
        </p:spPr>
      </p:cxnSp>
      <p:sp>
        <p:nvSpPr>
          <p:cNvPr id="41" name="TextBox 40"/>
          <p:cNvSpPr txBox="1"/>
          <p:nvPr/>
        </p:nvSpPr>
        <p:spPr>
          <a:xfrm>
            <a:off x="9347200" y="5956300"/>
            <a:ext cx="2235200" cy="152400"/>
          </a:xfrm>
          <a:prstGeom prst="rect">
            <a:avLst/>
          </a:prstGeom>
          <a:noFill/>
        </p:spPr>
        <p:txBody>
          <a:bodyPr wrap="none" lIns="0" rIns="0" tIns="0" bIns="0" anchor="ctr">
            <a:noAutofit/>
          </a:bodyPr>
          <a:lstStyle/>
          <a:p>
            <a:pPr rtl="1" algn="r"/>
            <a:r>
              <a:rPr sz="850" b="0" lang="fa-IR">
                <a:solidFill>
                  <a:srgbClr val="4E4D4A"/>
                </a:solidFill>
                <a:latin typeface="Tahoma"/>
                <a:cs typeface="Tahoma"/>
                <a:ea typeface="Tahoma"/>
              </a:rPr>
              <a:t>دفعات وام در سال</a:t>
            </a:r>
          </a:p>
        </p:txBody>
      </p:sp>
      <p:sp>
        <p:nvSpPr>
          <p:cNvPr id="42" name="TextBox 41"/>
          <p:cNvSpPr txBox="1"/>
          <p:nvPr/>
        </p:nvSpPr>
        <p:spPr>
          <a:xfrm>
            <a:off x="7569200" y="5956300"/>
            <a:ext cx="1651000" cy="152400"/>
          </a:xfrm>
          <a:prstGeom prst="rect">
            <a:avLst/>
          </a:prstGeom>
          <a:noFill/>
        </p:spPr>
        <p:txBody>
          <a:bodyPr wrap="none" lIns="0" rIns="0" tIns="0" bIns="0" anchor="ctr">
            <a:noAutofit/>
          </a:bodyPr>
          <a:lstStyle/>
          <a:p>
            <a:pPr rtl="1" algn="l"/>
            <a:r>
              <a:rPr sz="850" b="1" lang="fa-IR">
                <a:solidFill>
                  <a:srgbClr val="0B0B0B"/>
                </a:solidFill>
                <a:latin typeface="Tahoma"/>
                <a:cs typeface="Tahoma"/>
                <a:ea typeface="Tahoma"/>
              </a:rPr>
              <a:t>۳ بار</a:t>
            </a:r>
          </a:p>
        </p:txBody>
      </p:sp>
      <p:cxnSp>
        <p:nvCxnSpPr>
          <p:cNvPr id="43" name="Connector 42"/>
          <p:cNvCxnSpPr/>
          <p:nvPr/>
        </p:nvCxnSpPr>
        <p:spPr>
          <a:xfrm>
            <a:off x="7569200" y="6134100"/>
            <a:ext cx="4013200" cy="0"/>
          </a:xfrm>
          <a:prstGeom prst="line">
            <a:avLst/>
          </a:prstGeom>
          <a:ln w="6350">
            <a:solidFill>
              <a:srgbClr val="E2E1DB"/>
            </a:solidFill>
          </a:ln>
          <a:effectLst/>
        </p:spPr>
      </p:cxnSp>
      <p:sp>
        <p:nvSpPr>
          <p:cNvPr id="44" name="TextBox 43"/>
          <p:cNvSpPr txBox="1"/>
          <p:nvPr/>
        </p:nvSpPr>
        <p:spPr>
          <a:xfrm>
            <a:off x="9347200" y="6172200"/>
            <a:ext cx="2235200" cy="152400"/>
          </a:xfrm>
          <a:prstGeom prst="rect">
            <a:avLst/>
          </a:prstGeom>
          <a:noFill/>
        </p:spPr>
        <p:txBody>
          <a:bodyPr wrap="none" lIns="0" rIns="0" tIns="0" bIns="0" anchor="ctr">
            <a:noAutofit/>
          </a:bodyPr>
          <a:lstStyle/>
          <a:p>
            <a:pPr rtl="1" algn="r"/>
            <a:r>
              <a:rPr sz="850" b="0" lang="fa-IR">
                <a:solidFill>
                  <a:srgbClr val="4E4D4A"/>
                </a:solidFill>
                <a:latin typeface="Tahoma"/>
                <a:cs typeface="Tahoma"/>
                <a:ea typeface="Tahoma"/>
              </a:rPr>
              <a:t>سقف میانی هر باند</a:t>
            </a:r>
          </a:p>
        </p:txBody>
      </p:sp>
      <p:sp>
        <p:nvSpPr>
          <p:cNvPr id="45" name="TextBox 44"/>
          <p:cNvSpPr txBox="1"/>
          <p:nvPr/>
        </p:nvSpPr>
        <p:spPr>
          <a:xfrm>
            <a:off x="7569200" y="6172200"/>
            <a:ext cx="1651000" cy="152400"/>
          </a:xfrm>
          <a:prstGeom prst="rect">
            <a:avLst/>
          </a:prstGeom>
          <a:noFill/>
        </p:spPr>
        <p:txBody>
          <a:bodyPr wrap="none" lIns="0" rIns="0" tIns="0" bIns="0" anchor="ctr">
            <a:noAutofit/>
          </a:bodyPr>
          <a:lstStyle/>
          <a:p>
            <a:pPr rtl="1" algn="l"/>
            <a:r>
              <a:rPr sz="850" b="1" lang="fa-IR">
                <a:solidFill>
                  <a:srgbClr val="0B0B0B"/>
                </a:solidFill>
                <a:latin typeface="Tahoma"/>
                <a:cs typeface="Tahoma"/>
                <a:ea typeface="Tahoma"/>
              </a:rPr>
              <a:t>۲۰۰، ۴۰۰ و ۷۵۰ هزار</a:t>
            </a:r>
          </a:p>
        </p:txBody>
      </p:sp>
      <p:sp>
        <p:nvSpPr>
          <p:cNvPr id="46" name="Rounded Rectangle 45"/>
          <p:cNvSpPr/>
          <p:nvPr/>
        </p:nvSpPr>
        <p:spPr>
          <a:xfrm>
            <a:off x="457200" y="5410200"/>
            <a:ext cx="6756400" cy="1016000"/>
          </a:xfrm>
          <a:prstGeom prst="roundRect">
            <a:avLst>
              <a:gd name="adj" fmla="val 7000"/>
            </a:avLst>
          </a:prstGeom>
          <a:solidFill>
            <a:srgbClr val="F6F6F3"/>
          </a:solidFill>
          <a:ln w="9525">
            <a:solidFill>
              <a:srgbClr val="E8E8E4"/>
            </a:solidFill>
          </a:ln>
          <a:effectLst/>
        </p:spPr>
        <p:txBody>
          <a:bodyPr rtlCol="0" anchor="ctr" wrap="none"/>
          <a:lstStyle/>
          <a:p>
            <a:pPr algn="ctr"/>
          </a:p>
        </p:txBody>
      </p:sp>
      <p:cxnSp>
        <p:nvCxnSpPr>
          <p:cNvPr id="47" name="Connector 46"/>
          <p:cNvCxnSpPr/>
          <p:nvPr/>
        </p:nvCxnSpPr>
        <p:spPr>
          <a:xfrm>
            <a:off x="7213600" y="5410200"/>
            <a:ext cx="0" cy="1016000"/>
          </a:xfrm>
          <a:prstGeom prst="line">
            <a:avLst/>
          </a:prstGeom>
          <a:ln w="31750">
            <a:solidFill>
              <a:srgbClr val="D03B3B"/>
            </a:solidFill>
          </a:ln>
          <a:effectLst/>
        </p:spPr>
      </p:cxnSp>
      <p:sp>
        <p:nvSpPr>
          <p:cNvPr id="48" name="TextBox 47"/>
          <p:cNvSpPr txBox="1"/>
          <p:nvPr/>
        </p:nvSpPr>
        <p:spPr>
          <a:xfrm>
            <a:off x="609600" y="5511800"/>
            <a:ext cx="6451600" cy="152400"/>
          </a:xfrm>
          <a:prstGeom prst="rect">
            <a:avLst/>
          </a:prstGeom>
          <a:noFill/>
        </p:spPr>
        <p:txBody>
          <a:bodyPr wrap="none" lIns="0" rIns="0" tIns="0" bIns="0" anchor="ctr">
            <a:noAutofit/>
          </a:bodyPr>
          <a:lstStyle/>
          <a:p>
            <a:pPr rtl="1" algn="r"/>
            <a:r>
              <a:rPr sz="950" b="1" lang="fa-IR">
                <a:solidFill>
                  <a:srgbClr val="D03B3B"/>
                </a:solidFill>
                <a:latin typeface="Tahoma"/>
                <a:cs typeface="Tahoma"/>
                <a:ea typeface="Tahoma"/>
              </a:rPr>
              <a:t>یک هشدار پیش از انتخاب</a:t>
            </a:r>
          </a:p>
        </p:txBody>
      </p:sp>
      <p:sp>
        <p:nvSpPr>
          <p:cNvPr id="49" name="TextBox 48"/>
          <p:cNvSpPr txBox="1"/>
          <p:nvPr/>
        </p:nvSpPr>
        <p:spPr>
          <a:xfrm>
            <a:off x="609600" y="5715000"/>
            <a:ext cx="6451600" cy="685800"/>
          </a:xfrm>
          <a:prstGeom prst="rect">
            <a:avLst/>
          </a:prstGeom>
          <a:noFill/>
        </p:spPr>
        <p:txBody>
          <a:bodyPr wrap="square" lIns="0" rIns="0" tIns="0" bIns="0" anchor="t">
            <a:noAutofit/>
          </a:bodyPr>
          <a:lstStyle/>
          <a:p>
            <a:pPr rtl="1" algn="r">
              <a:lnSpc>
                <a:spcPct val="145000"/>
              </a:lnSpc>
            </a:pPr>
            <a:r>
              <a:rPr sz="900" b="0" lang="fa-IR">
                <a:solidFill>
                  <a:srgbClr val="4E4D4A"/>
                </a:solidFill>
                <a:latin typeface="Tahoma"/>
                <a:cs typeface="Tahoma"/>
                <a:ea typeface="Tahoma"/>
              </a:rPr>
              <a:t>قاعده سقف می‌گوید وام باید از قبض یک ماه مشترک کمتر بماند، وگرنه احتمال نکول نزدیک دو برابر می‌شود. ولی فقط ۳۶۹٬۶۷۷ مشترک قبض بالای ۵۰۰ هزار تومان دارند. گزینه محتاطانه ۹۳۴٬۴۷۲ نفر و گزینه گسترده ۲٬۸۰۳٬۴۱۶ نفر را در باند ۵۰۰ هزار تا ۱ میلیون می‌گذارد.</a:t>
            </a:r>
          </a:p>
        </p:txBody>
      </p:sp>
      <p:cxnSp>
        <p:nvCxnSpPr>
          <p:cNvPr id="50" name="Connector 49"/>
          <p:cNvCxnSpPr/>
          <p:nvPr/>
        </p:nvCxnSpPr>
        <p:spPr>
          <a:xfrm>
            <a:off x="457200" y="6426200"/>
            <a:ext cx="11277600" cy="0"/>
          </a:xfrm>
          <a:prstGeom prst="line">
            <a:avLst/>
          </a:prstGeom>
          <a:ln w="9525">
            <a:solidFill>
              <a:srgbClr val="E8E8E4"/>
            </a:solidFill>
          </a:ln>
          <a:effectLst/>
        </p:spPr>
      </p:cxnSp>
      <p:sp>
        <p:nvSpPr>
          <p:cNvPr id="51" name="TextBox 50"/>
          <p:cNvSpPr txBox="1"/>
          <p:nvPr/>
        </p:nvSpPr>
        <p:spPr>
          <a:xfrm>
            <a:off x="457200" y="6502400"/>
            <a:ext cx="11277600" cy="279400"/>
          </a:xfrm>
          <a:prstGeom prst="rect">
            <a:avLst/>
          </a:prstGeom>
          <a:noFill/>
        </p:spPr>
        <p:txBody>
          <a:bodyPr wrap="square" lIns="0" rIns="0" tIns="0" bIns="0" anchor="t">
            <a:noAutofit/>
          </a:bodyPr>
          <a:lstStyle/>
          <a:p>
            <a:pPr rtl="1" algn="r"/>
            <a:r>
              <a:rPr sz="750" b="0" lang="fa-IR">
                <a:solidFill>
                  <a:srgbClr val="86857F"/>
                </a:solidFill>
                <a:latin typeface="Tahoma"/>
                <a:cs typeface="Tahoma"/>
                <a:ea typeface="Tahoma"/>
              </a:rPr>
              <a:t>تعداد مشترکین از صورتحساب ۱۴۰۵۰۱ تا ۱۴۰۵۰۶؛ امتیاز و ترتیب ریسک از مدل بازآموزی‌شده ۱۴۰۵/۰۷/۱۴؛ هر مقدار ریالی به‌صورت نسبت به میانه جمعیت هم وارد مدل می‌شود تا تورم امتیاز را جابه‌جا نکند؛ هر بار وام یک ماهه است؛ ضریب نفوذ و دفعات وام در سال، فرض است و اندازه‌گیری نشده.</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