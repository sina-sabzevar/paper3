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622800" y="228600"/>
            <a:ext cx="7112000" cy="381000"/>
          </a:xfrm>
          <a:prstGeom prst="rect">
            <a:avLst/>
          </a:prstGeom>
          <a:noFill/>
        </p:spPr>
        <p:txBody>
          <a:bodyPr wrap="none" lIns="0" rIns="0" tIns="0" bIns="0" anchor="ctr">
            <a:noAutofit/>
          </a:bodyPr>
          <a:lstStyle/>
          <a:p>
            <a:pPr rtl="1" algn="r"/>
            <a:r>
              <a:rPr sz="2000" b="1" lang="fa-IR">
                <a:solidFill>
                  <a:srgbClr val="0B0B0B"/>
                </a:solidFill>
                <a:latin typeface="Tahoma"/>
                <a:cs typeface="Tahoma"/>
                <a:ea typeface="Tahoma"/>
              </a:rPr>
              <a:t>مدل اعتبارسنجی — چطور کار می‌کند</a:t>
            </a:r>
          </a:p>
        </p:txBody>
      </p:sp>
      <p:sp>
        <p:nvSpPr>
          <p:cNvPr id="3" name="TextBox 2"/>
          <p:cNvSpPr txBox="1"/>
          <p:nvPr/>
        </p:nvSpPr>
        <p:spPr>
          <a:xfrm>
            <a:off x="457200" y="279400"/>
            <a:ext cx="3810000" cy="254000"/>
          </a:xfrm>
          <a:prstGeom prst="rect">
            <a:avLst/>
          </a:prstGeom>
          <a:noFill/>
        </p:spPr>
        <p:txBody>
          <a:bodyPr wrap="none" lIns="0" rIns="0" tIns="0" bIns="0" anchor="ctr">
            <a:noAutofit/>
          </a:bodyPr>
          <a:lstStyle/>
          <a:p>
            <a:pPr rtl="1" algn="l"/>
            <a:r>
              <a:rPr sz="900" b="0" lang="fa-IR">
                <a:solidFill>
                  <a:srgbClr val="86857F"/>
                </a:solidFill>
                <a:latin typeface="Tahoma"/>
                <a:cs typeface="Tahoma"/>
                <a:ea typeface="Tahoma"/>
              </a:rPr>
              <a:t>اعتبار روی قبض، یک‌ماهه، مهر ۱۴۰۵</a:t>
            </a:r>
          </a:p>
        </p:txBody>
      </p:sp>
      <p:cxnSp>
        <p:nvCxnSpPr>
          <p:cNvPr id="4" name="Connector 3"/>
          <p:cNvCxnSpPr/>
          <p:nvPr/>
        </p:nvCxnSpPr>
        <p:spPr>
          <a:xfrm>
            <a:off x="457200" y="685800"/>
            <a:ext cx="11277600" cy="0"/>
          </a:xfrm>
          <a:prstGeom prst="line">
            <a:avLst/>
          </a:prstGeom>
          <a:ln w="17780">
            <a:solidFill>
              <a:srgbClr val="0B0B0B"/>
            </a:solidFill>
          </a:ln>
          <a:effectLst/>
        </p:spPr>
      </p:cxnSp>
      <p:sp>
        <p:nvSpPr>
          <p:cNvPr id="5" name="TextBox 4"/>
          <p:cNvSpPr txBox="1"/>
          <p:nvPr/>
        </p:nvSpPr>
        <p:spPr>
          <a:xfrm>
            <a:off x="7924800" y="816864"/>
            <a:ext cx="3810000" cy="177800"/>
          </a:xfrm>
          <a:prstGeom prst="rect">
            <a:avLst/>
          </a:prstGeom>
          <a:noFill/>
        </p:spPr>
        <p:txBody>
          <a:bodyPr wrap="none" lIns="0" rIns="0" tIns="0" bIns="0" anchor="ctr">
            <a:noAutofit/>
          </a:bodyPr>
          <a:lstStyle/>
          <a:p>
            <a:pPr rtl="1" algn="r"/>
            <a:r>
              <a:rPr sz="1000" b="1" lang="fa-IR">
                <a:solidFill>
                  <a:srgbClr val="86857F"/>
                </a:solidFill>
                <a:latin typeface="Tahoma"/>
                <a:cs typeface="Tahoma"/>
                <a:ea typeface="Tahoma"/>
              </a:rPr>
              <a:t>۱   مدل چطور یاد گرفت</a:t>
            </a:r>
          </a:p>
        </p:txBody>
      </p:sp>
      <p:cxnSp>
        <p:nvCxnSpPr>
          <p:cNvPr id="6" name="Connector 5"/>
          <p:cNvCxnSpPr/>
          <p:nvPr/>
        </p:nvCxnSpPr>
        <p:spPr>
          <a:xfrm>
            <a:off x="457200" y="1050544"/>
            <a:ext cx="11277600" cy="0"/>
          </a:xfrm>
          <a:prstGeom prst="line">
            <a:avLst/>
          </a:prstGeom>
          <a:ln w="9525">
            <a:solidFill>
              <a:srgbClr val="E2E1DB"/>
            </a:solidFill>
          </a:ln>
          <a:effectLst/>
        </p:spPr>
      </p:cxnSp>
      <p:sp>
        <p:nvSpPr>
          <p:cNvPr id="7" name="Rounded Rectangle 6"/>
          <p:cNvSpPr/>
          <p:nvPr/>
        </p:nvSpPr>
        <p:spPr>
          <a:xfrm>
            <a:off x="8727440" y="1163320"/>
            <a:ext cx="3007360" cy="1165352"/>
          </a:xfrm>
          <a:prstGeom prst="roundRect">
            <a:avLst>
              <a:gd name="adj" fmla="val 7000"/>
            </a:avLst>
          </a:prstGeom>
          <a:solidFill>
            <a:srgbClr val="F6F6F3"/>
          </a:solidFill>
          <a:ln w="9525">
            <a:solidFill>
              <a:srgbClr val="E2E1DB"/>
            </a:solidFill>
          </a:ln>
          <a:effectLst/>
        </p:spPr>
        <p:txBody>
          <a:bodyPr rtlCol="0" anchor="ctr" wrap="none"/>
          <a:lstStyle/>
          <a:p>
            <a:pPr algn="ctr"/>
          </a:p>
        </p:txBody>
      </p:sp>
      <p:sp>
        <p:nvSpPr>
          <p:cNvPr id="8" name="TextBox 7"/>
          <p:cNvSpPr txBox="1"/>
          <p:nvPr/>
        </p:nvSpPr>
        <p:spPr>
          <a:xfrm>
            <a:off x="8727440" y="1163320"/>
            <a:ext cx="3007360" cy="1165352"/>
          </a:xfrm>
          <a:prstGeom prst="rect">
            <a:avLst/>
          </a:prstGeom>
          <a:noFill/>
        </p:spPr>
        <p:txBody>
          <a:bodyPr wrap="none" lIns="0" rIns="0" tIns="0" bIns="0" anchor="ctr">
            <a:noAutofit/>
          </a:bodyPr>
          <a:lstStyle/>
          <a:p>
            <a:pPr rtl="1" algn="ctr"/>
            <a:r>
              <a:rPr sz="1300" b="1" lang="fa-IR">
                <a:solidFill>
                  <a:srgbClr val="0B0B0B"/>
                </a:solidFill>
                <a:latin typeface="Tahoma"/>
                <a:cs typeface="Tahoma"/>
                <a:ea typeface="Tahoma"/>
              </a:rPr>
              <a:t>رفتار ۶ ماههٔ مشترک</a:t>
            </a:r>
          </a:p>
          <a:p>
            <a:pPr rtl="1" algn="ctr"/>
            <a:r>
              <a:rPr sz="1050" b="0" lang="fa-IR">
                <a:solidFill>
                  <a:srgbClr val="4E4D4A"/>
                </a:solidFill>
                <a:latin typeface="Tahoma"/>
                <a:cs typeface="Tahoma"/>
                <a:ea typeface="Tahoma"/>
              </a:rPr>
              <a:t>مهر تا اسفند ۱۴۰۴</a:t>
            </a:r>
          </a:p>
          <a:p>
            <a:pPr rtl="1" algn="ctr"/>
            <a:r>
              <a:rPr sz="950" b="0" lang="fa-IR">
                <a:solidFill>
                  <a:srgbClr val="86857F"/>
                </a:solidFill>
                <a:latin typeface="Tahoma"/>
                <a:cs typeface="Tahoma"/>
                <a:ea typeface="Tahoma"/>
              </a:rPr>
              <a:t>۳۹ ویژگی از حساب خودش</a:t>
            </a:r>
          </a:p>
        </p:txBody>
      </p:sp>
      <p:sp>
        <p:nvSpPr>
          <p:cNvPr id="9" name="Rounded Rectangle 8"/>
          <p:cNvSpPr/>
          <p:nvPr/>
        </p:nvSpPr>
        <p:spPr>
          <a:xfrm>
            <a:off x="5250180" y="1163320"/>
            <a:ext cx="2255520" cy="1165352"/>
          </a:xfrm>
          <a:prstGeom prst="roundRect">
            <a:avLst>
              <a:gd name="adj" fmla="val 7000"/>
            </a:avLst>
          </a:prstGeom>
          <a:solidFill>
            <a:srgbClr val="DBE6F2"/>
          </a:solidFill>
          <a:ln w="9525">
            <a:solidFill>
              <a:srgbClr val="2A78D6"/>
            </a:solidFill>
          </a:ln>
          <a:effectLst/>
        </p:spPr>
        <p:txBody>
          <a:bodyPr rtlCol="0" anchor="ctr" wrap="none"/>
          <a:lstStyle/>
          <a:p>
            <a:pPr algn="ctr"/>
          </a:p>
        </p:txBody>
      </p:sp>
      <p:sp>
        <p:nvSpPr>
          <p:cNvPr id="10" name="TextBox 9"/>
          <p:cNvSpPr txBox="1"/>
          <p:nvPr/>
        </p:nvSpPr>
        <p:spPr>
          <a:xfrm>
            <a:off x="5250180" y="1163320"/>
            <a:ext cx="2255520" cy="1165352"/>
          </a:xfrm>
          <a:prstGeom prst="rect">
            <a:avLst/>
          </a:prstGeom>
          <a:noFill/>
        </p:spPr>
        <p:txBody>
          <a:bodyPr wrap="none" lIns="0" rIns="0" tIns="0" bIns="0" anchor="ctr">
            <a:noAutofit/>
          </a:bodyPr>
          <a:lstStyle/>
          <a:p>
            <a:pPr rtl="1" algn="ctr"/>
            <a:r>
              <a:rPr sz="1300" b="1" lang="fa-IR">
                <a:solidFill>
                  <a:srgbClr val="2A78D6"/>
                </a:solidFill>
                <a:latin typeface="Tahoma"/>
                <a:cs typeface="Tahoma"/>
                <a:ea typeface="Tahoma"/>
              </a:rPr>
              <a:t>آموزش مدل</a:t>
            </a:r>
          </a:p>
          <a:p>
            <a:pPr rtl="1" algn="ctr"/>
            <a:r>
              <a:rPr sz="950" b="0" lang="fa-IR">
                <a:solidFill>
                  <a:srgbClr val="86857F"/>
                </a:solidFill>
                <a:latin typeface="Tahoma"/>
                <a:cs typeface="Tahoma"/>
                <a:ea typeface="Tahoma"/>
              </a:rPr>
              <a:t>روی همین دوره</a:t>
            </a:r>
          </a:p>
        </p:txBody>
      </p:sp>
      <p:sp>
        <p:nvSpPr>
          <p:cNvPr id="11" name="Rounded Rectangle 10"/>
          <p:cNvSpPr/>
          <p:nvPr/>
        </p:nvSpPr>
        <p:spPr>
          <a:xfrm>
            <a:off x="457200" y="1163320"/>
            <a:ext cx="3571240" cy="1165352"/>
          </a:xfrm>
          <a:prstGeom prst="roundRect">
            <a:avLst>
              <a:gd name="adj" fmla="val 7000"/>
            </a:avLst>
          </a:prstGeom>
          <a:solidFill>
            <a:srgbClr val="F6F6F3"/>
          </a:solidFill>
          <a:ln w="9525">
            <a:solidFill>
              <a:srgbClr val="E2E1DB"/>
            </a:solidFill>
          </a:ln>
          <a:effectLst/>
        </p:spPr>
        <p:txBody>
          <a:bodyPr rtlCol="0" anchor="ctr" wrap="none"/>
          <a:lstStyle/>
          <a:p>
            <a:pPr algn="ctr"/>
          </a:p>
        </p:txBody>
      </p:sp>
      <p:sp>
        <p:nvSpPr>
          <p:cNvPr id="12" name="TextBox 11"/>
          <p:cNvSpPr txBox="1"/>
          <p:nvPr/>
        </p:nvSpPr>
        <p:spPr>
          <a:xfrm>
            <a:off x="457200" y="1163320"/>
            <a:ext cx="3571240" cy="1165352"/>
          </a:xfrm>
          <a:prstGeom prst="rect">
            <a:avLst/>
          </a:prstGeom>
          <a:noFill/>
        </p:spPr>
        <p:txBody>
          <a:bodyPr wrap="none" lIns="0" rIns="0" tIns="0" bIns="0" anchor="ctr">
            <a:noAutofit/>
          </a:bodyPr>
          <a:lstStyle/>
          <a:p>
            <a:pPr rtl="1" algn="ctr"/>
            <a:r>
              <a:rPr sz="1300" b="1" lang="fa-IR">
                <a:solidFill>
                  <a:srgbClr val="0B0B0B"/>
                </a:solidFill>
                <a:latin typeface="Tahoma"/>
                <a:cs typeface="Tahoma"/>
                <a:ea typeface="Tahoma"/>
              </a:rPr>
              <a:t>نتیجهٔ ۶ ماه بعد</a:t>
            </a:r>
          </a:p>
          <a:p>
            <a:pPr rtl="1" algn="ctr"/>
            <a:r>
              <a:rPr sz="1050" b="0" lang="fa-IR">
                <a:solidFill>
                  <a:srgbClr val="4E4D4A"/>
                </a:solidFill>
                <a:latin typeface="Tahoma"/>
                <a:cs typeface="Tahoma"/>
                <a:ea typeface="Tahoma"/>
              </a:rPr>
              <a:t>فروردین تا شهریور ۱۴۰۵</a:t>
            </a:r>
          </a:p>
          <a:p>
            <a:pPr rtl="1" algn="ctr"/>
            <a:r>
              <a:rPr sz="950" b="0" lang="fa-IR">
                <a:solidFill>
                  <a:srgbClr val="86857F"/>
                </a:solidFill>
                <a:latin typeface="Tahoma"/>
                <a:cs typeface="Tahoma"/>
                <a:ea typeface="Tahoma"/>
              </a:rPr>
              <a:t>بد = مشترکی که به قطع دوطرفه رسید</a:t>
            </a:r>
          </a:p>
        </p:txBody>
      </p:sp>
      <p:cxnSp>
        <p:nvCxnSpPr>
          <p:cNvPr id="13" name="Connector 12"/>
          <p:cNvCxnSpPr/>
          <p:nvPr/>
        </p:nvCxnSpPr>
        <p:spPr>
          <a:xfrm flipH="1">
            <a:off x="7543292" y="1745996"/>
            <a:ext cx="1146556" cy="0"/>
          </a:xfrm>
          <a:prstGeom prst="line">
            <a:avLst/>
          </a:prstGeom>
          <a:ln w="13970">
            <a:solidFill>
              <a:srgbClr val="4E4D4A"/>
            </a:solidFill>
            <a:tailEnd type="triangle" w="med" len="med"/>
          </a:ln>
          <a:effectLst/>
        </p:spPr>
      </p:cxnSp>
      <p:sp>
        <p:nvSpPr>
          <p:cNvPr id="14" name="TextBox 13"/>
          <p:cNvSpPr txBox="1"/>
          <p:nvPr/>
        </p:nvSpPr>
        <p:spPr>
          <a:xfrm>
            <a:off x="7965440" y="1520444"/>
            <a:ext cx="1524000" cy="1524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ویژگی‌ها</a:t>
            </a:r>
          </a:p>
        </p:txBody>
      </p:sp>
      <p:cxnSp>
        <p:nvCxnSpPr>
          <p:cNvPr id="15" name="Connector 14"/>
          <p:cNvCxnSpPr/>
          <p:nvPr/>
        </p:nvCxnSpPr>
        <p:spPr>
          <a:xfrm>
            <a:off x="4066032" y="1745996"/>
            <a:ext cx="1146556" cy="0"/>
          </a:xfrm>
          <a:prstGeom prst="line">
            <a:avLst/>
          </a:prstGeom>
          <a:ln w="13970">
            <a:solidFill>
              <a:srgbClr val="4E4D4A"/>
            </a:solidFill>
            <a:tailEnd type="triangle" w="med" len="med"/>
          </a:ln>
          <a:effectLst/>
        </p:spPr>
      </p:cxnSp>
      <p:sp>
        <p:nvSpPr>
          <p:cNvPr id="16" name="TextBox 15"/>
          <p:cNvSpPr txBox="1"/>
          <p:nvPr/>
        </p:nvSpPr>
        <p:spPr>
          <a:xfrm>
            <a:off x="3266440" y="1520444"/>
            <a:ext cx="1524000" cy="1524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جوابِ درست</a:t>
            </a:r>
          </a:p>
        </p:txBody>
      </p:sp>
      <p:sp>
        <p:nvSpPr>
          <p:cNvPr id="17" name="TextBox 16"/>
          <p:cNvSpPr txBox="1"/>
          <p:nvPr/>
        </p:nvSpPr>
        <p:spPr>
          <a:xfrm>
            <a:off x="2885440" y="2403856"/>
            <a:ext cx="3556000" cy="1778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در این دوره جواب معلوم است — مدل همین را یاد می‌گیرد</a:t>
            </a:r>
          </a:p>
        </p:txBody>
      </p:sp>
      <p:sp>
        <p:nvSpPr>
          <p:cNvPr id="18" name="TextBox 17"/>
          <p:cNvSpPr txBox="1"/>
          <p:nvPr/>
        </p:nvSpPr>
        <p:spPr>
          <a:xfrm>
            <a:off x="7924800" y="2658872"/>
            <a:ext cx="3810000" cy="177800"/>
          </a:xfrm>
          <a:prstGeom prst="rect">
            <a:avLst/>
          </a:prstGeom>
          <a:noFill/>
        </p:spPr>
        <p:txBody>
          <a:bodyPr wrap="none" lIns="0" rIns="0" tIns="0" bIns="0" anchor="ctr">
            <a:noAutofit/>
          </a:bodyPr>
          <a:lstStyle/>
          <a:p>
            <a:pPr rtl="1" algn="r"/>
            <a:r>
              <a:rPr sz="1000" b="1" lang="fa-IR">
                <a:solidFill>
                  <a:srgbClr val="86857F"/>
                </a:solidFill>
                <a:latin typeface="Tahoma"/>
                <a:cs typeface="Tahoma"/>
                <a:ea typeface="Tahoma"/>
              </a:rPr>
              <a:t>۲   امروز چطور کار می‌کند</a:t>
            </a:r>
          </a:p>
        </p:txBody>
      </p:sp>
      <p:cxnSp>
        <p:nvCxnSpPr>
          <p:cNvPr id="19" name="Connector 18"/>
          <p:cNvCxnSpPr/>
          <p:nvPr/>
        </p:nvCxnSpPr>
        <p:spPr>
          <a:xfrm>
            <a:off x="457200" y="2892552"/>
            <a:ext cx="11277600" cy="0"/>
          </a:xfrm>
          <a:prstGeom prst="line">
            <a:avLst/>
          </a:prstGeom>
          <a:ln w="9525">
            <a:solidFill>
              <a:srgbClr val="E2E1DB"/>
            </a:solidFill>
          </a:ln>
          <a:effectLst/>
        </p:spPr>
      </p:cxnSp>
      <p:sp>
        <p:nvSpPr>
          <p:cNvPr id="20" name="Rounded Rectangle 19"/>
          <p:cNvSpPr/>
          <p:nvPr/>
        </p:nvSpPr>
        <p:spPr>
          <a:xfrm>
            <a:off x="8727440" y="3005328"/>
            <a:ext cx="3007360" cy="1165352"/>
          </a:xfrm>
          <a:prstGeom prst="roundRect">
            <a:avLst>
              <a:gd name="adj" fmla="val 7000"/>
            </a:avLst>
          </a:prstGeom>
          <a:solidFill>
            <a:srgbClr val="F6F6F3"/>
          </a:solidFill>
          <a:ln w="9525">
            <a:solidFill>
              <a:srgbClr val="E2E1DB"/>
            </a:solidFill>
          </a:ln>
          <a:effectLst/>
        </p:spPr>
        <p:txBody>
          <a:bodyPr rtlCol="0" anchor="ctr" wrap="none"/>
          <a:lstStyle/>
          <a:p>
            <a:pPr algn="ctr"/>
          </a:p>
        </p:txBody>
      </p:sp>
      <p:sp>
        <p:nvSpPr>
          <p:cNvPr id="21" name="TextBox 20"/>
          <p:cNvSpPr txBox="1"/>
          <p:nvPr/>
        </p:nvSpPr>
        <p:spPr>
          <a:xfrm>
            <a:off x="8727440" y="3005328"/>
            <a:ext cx="3007360" cy="1165352"/>
          </a:xfrm>
          <a:prstGeom prst="rect">
            <a:avLst/>
          </a:prstGeom>
          <a:noFill/>
        </p:spPr>
        <p:txBody>
          <a:bodyPr wrap="none" lIns="0" rIns="0" tIns="0" bIns="0" anchor="ctr">
            <a:noAutofit/>
          </a:bodyPr>
          <a:lstStyle/>
          <a:p>
            <a:pPr rtl="1" algn="ctr"/>
            <a:r>
              <a:rPr sz="1300" b="1" lang="fa-IR">
                <a:solidFill>
                  <a:srgbClr val="0B0B0B"/>
                </a:solidFill>
                <a:latin typeface="Tahoma"/>
                <a:cs typeface="Tahoma"/>
                <a:ea typeface="Tahoma"/>
              </a:rPr>
              <a:t>رفتار ۶ ماههٔ مشترک</a:t>
            </a:r>
          </a:p>
          <a:p>
            <a:pPr rtl="1" algn="ctr"/>
            <a:r>
              <a:rPr sz="1050" b="0" lang="fa-IR">
                <a:solidFill>
                  <a:srgbClr val="4E4D4A"/>
                </a:solidFill>
                <a:latin typeface="Tahoma"/>
                <a:cs typeface="Tahoma"/>
                <a:ea typeface="Tahoma"/>
              </a:rPr>
              <a:t>فروردین تا شهریور ۱۴۰۵</a:t>
            </a:r>
          </a:p>
          <a:p>
            <a:pPr rtl="1" algn="ctr"/>
            <a:r>
              <a:rPr sz="950" b="0" lang="fa-IR">
                <a:solidFill>
                  <a:srgbClr val="86857F"/>
                </a:solidFill>
                <a:latin typeface="Tahoma"/>
                <a:cs typeface="Tahoma"/>
                <a:ea typeface="Tahoma"/>
              </a:rPr>
              <a:t>همان ۳۹ ویژگی</a:t>
            </a:r>
          </a:p>
        </p:txBody>
      </p:sp>
      <p:sp>
        <p:nvSpPr>
          <p:cNvPr id="22" name="Rounded Rectangle 21"/>
          <p:cNvSpPr/>
          <p:nvPr/>
        </p:nvSpPr>
        <p:spPr>
          <a:xfrm>
            <a:off x="5250180" y="3005328"/>
            <a:ext cx="2255520" cy="1165352"/>
          </a:xfrm>
          <a:prstGeom prst="roundRect">
            <a:avLst>
              <a:gd name="adj" fmla="val 7000"/>
            </a:avLst>
          </a:prstGeom>
          <a:solidFill>
            <a:srgbClr val="DBE6F2"/>
          </a:solidFill>
          <a:ln w="9525">
            <a:solidFill>
              <a:srgbClr val="2A78D6"/>
            </a:solidFill>
          </a:ln>
          <a:effectLst/>
        </p:spPr>
        <p:txBody>
          <a:bodyPr rtlCol="0" anchor="ctr" wrap="none"/>
          <a:lstStyle/>
          <a:p>
            <a:pPr algn="ctr"/>
          </a:p>
        </p:txBody>
      </p:sp>
      <p:sp>
        <p:nvSpPr>
          <p:cNvPr id="23" name="TextBox 22"/>
          <p:cNvSpPr txBox="1"/>
          <p:nvPr/>
        </p:nvSpPr>
        <p:spPr>
          <a:xfrm>
            <a:off x="5250180" y="3005328"/>
            <a:ext cx="2255520" cy="1165352"/>
          </a:xfrm>
          <a:prstGeom prst="rect">
            <a:avLst/>
          </a:prstGeom>
          <a:noFill/>
        </p:spPr>
        <p:txBody>
          <a:bodyPr wrap="none" lIns="0" rIns="0" tIns="0" bIns="0" anchor="ctr">
            <a:noAutofit/>
          </a:bodyPr>
          <a:lstStyle/>
          <a:p>
            <a:pPr rtl="1" algn="ctr"/>
            <a:r>
              <a:rPr sz="1300" b="1" lang="fa-IR">
                <a:solidFill>
                  <a:srgbClr val="2A78D6"/>
                </a:solidFill>
                <a:latin typeface="Tahoma"/>
                <a:cs typeface="Tahoma"/>
                <a:ea typeface="Tahoma"/>
              </a:rPr>
              <a:t>همان مدل</a:t>
            </a:r>
          </a:p>
          <a:p>
            <a:pPr rtl="1" algn="ctr"/>
            <a:r>
              <a:rPr sz="950" b="0" lang="fa-IR">
                <a:solidFill>
                  <a:srgbClr val="86857F"/>
                </a:solidFill>
                <a:latin typeface="Tahoma"/>
                <a:cs typeface="Tahoma"/>
                <a:ea typeface="Tahoma"/>
              </a:rPr>
              <a:t>بدون تغییر</a:t>
            </a:r>
          </a:p>
        </p:txBody>
      </p:sp>
      <p:sp>
        <p:nvSpPr>
          <p:cNvPr id="24" name="Rounded Rectangle 23"/>
          <p:cNvSpPr/>
          <p:nvPr/>
        </p:nvSpPr>
        <p:spPr>
          <a:xfrm>
            <a:off x="457200" y="3005328"/>
            <a:ext cx="3571240" cy="1165352"/>
          </a:xfrm>
          <a:prstGeom prst="roundRect">
            <a:avLst>
              <a:gd name="adj" fmla="val 7000"/>
            </a:avLst>
          </a:prstGeom>
          <a:solidFill>
            <a:srgbClr val="E4EBF3"/>
          </a:solidFill>
          <a:ln w="9525">
            <a:solidFill>
              <a:srgbClr val="8FB2D9"/>
            </a:solidFill>
          </a:ln>
          <a:effectLst/>
        </p:spPr>
        <p:txBody>
          <a:bodyPr rtlCol="0" anchor="ctr" wrap="none"/>
          <a:lstStyle/>
          <a:p>
            <a:pPr algn="ctr"/>
          </a:p>
        </p:txBody>
      </p:sp>
      <p:sp>
        <p:nvSpPr>
          <p:cNvPr id="25" name="TextBox 24"/>
          <p:cNvSpPr txBox="1"/>
          <p:nvPr/>
        </p:nvSpPr>
        <p:spPr>
          <a:xfrm>
            <a:off x="457200" y="3005328"/>
            <a:ext cx="3571240" cy="1165352"/>
          </a:xfrm>
          <a:prstGeom prst="rect">
            <a:avLst/>
          </a:prstGeom>
          <a:noFill/>
        </p:spPr>
        <p:txBody>
          <a:bodyPr wrap="none" lIns="0" rIns="0" tIns="0" bIns="0" anchor="ctr">
            <a:noAutofit/>
          </a:bodyPr>
          <a:lstStyle/>
          <a:p>
            <a:pPr rtl="1" algn="ctr"/>
            <a:r>
              <a:rPr sz="1300" b="1" lang="fa-IR">
                <a:solidFill>
                  <a:srgbClr val="0B0B0B"/>
                </a:solidFill>
                <a:latin typeface="Tahoma"/>
                <a:cs typeface="Tahoma"/>
                <a:ea typeface="Tahoma"/>
              </a:rPr>
              <a:t>احتمال نکول هر مشترک</a:t>
            </a:r>
          </a:p>
          <a:p>
            <a:pPr rtl="1" algn="ctr"/>
            <a:r>
              <a:rPr sz="1050" b="0" lang="fa-IR">
                <a:solidFill>
                  <a:srgbClr val="4E4D4A"/>
                </a:solidFill>
                <a:latin typeface="Tahoma"/>
                <a:cs typeface="Tahoma"/>
                <a:ea typeface="Tahoma"/>
              </a:rPr>
              <a:t>برای هر یک از ۹٬۳۴۴٬۷۲۳ مشترک</a:t>
            </a:r>
          </a:p>
          <a:p>
            <a:pPr rtl="1" algn="ctr"/>
            <a:r>
              <a:rPr sz="950" b="0" lang="fa-IR">
                <a:solidFill>
                  <a:srgbClr val="86857F"/>
                </a:solidFill>
                <a:latin typeface="Tahoma"/>
                <a:cs typeface="Tahoma"/>
                <a:ea typeface="Tahoma"/>
              </a:rPr>
              <a:t>از ۴۱٫۳ میلیون مشترک دائمی، پس از غربال</a:t>
            </a:r>
          </a:p>
        </p:txBody>
      </p:sp>
      <p:cxnSp>
        <p:nvCxnSpPr>
          <p:cNvPr id="26" name="Connector 25"/>
          <p:cNvCxnSpPr/>
          <p:nvPr/>
        </p:nvCxnSpPr>
        <p:spPr>
          <a:xfrm flipH="1">
            <a:off x="7543292" y="3588004"/>
            <a:ext cx="1146556" cy="0"/>
          </a:xfrm>
          <a:prstGeom prst="line">
            <a:avLst/>
          </a:prstGeom>
          <a:ln w="13970">
            <a:solidFill>
              <a:srgbClr val="4E4D4A"/>
            </a:solidFill>
            <a:tailEnd type="triangle" w="med" len="med"/>
          </a:ln>
          <a:effectLst/>
        </p:spPr>
      </p:cxnSp>
      <p:sp>
        <p:nvSpPr>
          <p:cNvPr id="27" name="TextBox 26"/>
          <p:cNvSpPr txBox="1"/>
          <p:nvPr/>
        </p:nvSpPr>
        <p:spPr>
          <a:xfrm>
            <a:off x="7965440" y="3362452"/>
            <a:ext cx="1524000" cy="1524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ویژگی‌ها</a:t>
            </a:r>
          </a:p>
        </p:txBody>
      </p:sp>
      <p:cxnSp>
        <p:nvCxnSpPr>
          <p:cNvPr id="28" name="Connector 27"/>
          <p:cNvCxnSpPr/>
          <p:nvPr/>
        </p:nvCxnSpPr>
        <p:spPr>
          <a:xfrm flipH="1">
            <a:off x="4066032" y="3588004"/>
            <a:ext cx="1146556" cy="0"/>
          </a:xfrm>
          <a:prstGeom prst="line">
            <a:avLst/>
          </a:prstGeom>
          <a:ln w="13970">
            <a:solidFill>
              <a:srgbClr val="4E4D4A"/>
            </a:solidFill>
            <a:tailEnd type="triangle" w="med" len="med"/>
          </a:ln>
          <a:effectLst/>
        </p:spPr>
      </p:cxnSp>
      <p:sp>
        <p:nvSpPr>
          <p:cNvPr id="29" name="TextBox 28"/>
          <p:cNvSpPr txBox="1"/>
          <p:nvPr/>
        </p:nvSpPr>
        <p:spPr>
          <a:xfrm>
            <a:off x="3266440" y="3362452"/>
            <a:ext cx="1524000" cy="1524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پیش‌بینی</a:t>
            </a:r>
          </a:p>
        </p:txBody>
      </p:sp>
      <p:sp>
        <p:nvSpPr>
          <p:cNvPr id="30" name="TextBox 29"/>
          <p:cNvSpPr txBox="1"/>
          <p:nvPr/>
        </p:nvSpPr>
        <p:spPr>
          <a:xfrm>
            <a:off x="2885440" y="4245864"/>
            <a:ext cx="3556000" cy="1778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در این دوره جواب معلوم نیست — مدل آن را می‌گوید</a:t>
            </a:r>
          </a:p>
        </p:txBody>
      </p:sp>
      <p:cxnSp>
        <p:nvCxnSpPr>
          <p:cNvPr id="31" name="Connector 30"/>
          <p:cNvCxnSpPr/>
          <p:nvPr/>
        </p:nvCxnSpPr>
        <p:spPr>
          <a:xfrm>
            <a:off x="6377940" y="2328672"/>
            <a:ext cx="0" cy="639064"/>
          </a:xfrm>
          <a:prstGeom prst="line">
            <a:avLst/>
          </a:prstGeom>
          <a:ln w="13970">
            <a:solidFill>
              <a:srgbClr val="2A78D6"/>
            </a:solidFill>
            <a:prstDash val="dash"/>
            <a:tailEnd type="triangle" w="med" len="med"/>
          </a:ln>
          <a:effectLst/>
        </p:spPr>
      </p:cxnSp>
      <p:sp>
        <p:nvSpPr>
          <p:cNvPr id="32" name="TextBox 31"/>
          <p:cNvSpPr txBox="1"/>
          <p:nvPr/>
        </p:nvSpPr>
        <p:spPr>
          <a:xfrm>
            <a:off x="7924800" y="4519676"/>
            <a:ext cx="3810000" cy="177800"/>
          </a:xfrm>
          <a:prstGeom prst="rect">
            <a:avLst/>
          </a:prstGeom>
          <a:noFill/>
        </p:spPr>
        <p:txBody>
          <a:bodyPr wrap="none" lIns="0" rIns="0" tIns="0" bIns="0" anchor="ctr">
            <a:noAutofit/>
          </a:bodyPr>
          <a:lstStyle/>
          <a:p>
            <a:pPr rtl="1" algn="r"/>
            <a:r>
              <a:rPr sz="1000" b="1" lang="fa-IR">
                <a:solidFill>
                  <a:srgbClr val="86857F"/>
                </a:solidFill>
                <a:latin typeface="Tahoma"/>
                <a:cs typeface="Tahoma"/>
                <a:ea typeface="Tahoma"/>
              </a:rPr>
              <a:t>۳   امتیاز چطور به تصمیم تبدیل می‌شود</a:t>
            </a:r>
          </a:p>
        </p:txBody>
      </p:sp>
      <p:cxnSp>
        <p:nvCxnSpPr>
          <p:cNvPr id="33" name="Connector 32"/>
          <p:cNvCxnSpPr/>
          <p:nvPr/>
        </p:nvCxnSpPr>
        <p:spPr>
          <a:xfrm>
            <a:off x="457200" y="4753356"/>
            <a:ext cx="11277600" cy="0"/>
          </a:xfrm>
          <a:prstGeom prst="line">
            <a:avLst/>
          </a:prstGeom>
          <a:ln w="9525">
            <a:solidFill>
              <a:srgbClr val="E2E1DB"/>
            </a:solidFill>
          </a:ln>
          <a:effectLst/>
        </p:spPr>
      </p:cxnSp>
      <p:sp>
        <p:nvSpPr>
          <p:cNvPr id="34" name="Rounded Rectangle 33"/>
          <p:cNvSpPr/>
          <p:nvPr/>
        </p:nvSpPr>
        <p:spPr>
          <a:xfrm>
            <a:off x="7787640" y="4866132"/>
            <a:ext cx="3947160" cy="1014984"/>
          </a:xfrm>
          <a:prstGeom prst="roundRect">
            <a:avLst>
              <a:gd name="adj" fmla="val 7000"/>
            </a:avLst>
          </a:prstGeom>
          <a:solidFill>
            <a:srgbClr val="F6F6F3"/>
          </a:solidFill>
          <a:ln w="9525">
            <a:solidFill>
              <a:srgbClr val="E2E1DB"/>
            </a:solidFill>
          </a:ln>
          <a:effectLst/>
        </p:spPr>
        <p:txBody>
          <a:bodyPr rtlCol="0" anchor="ctr" wrap="none"/>
          <a:lstStyle/>
          <a:p>
            <a:pPr algn="ctr"/>
          </a:p>
        </p:txBody>
      </p:sp>
      <p:sp>
        <p:nvSpPr>
          <p:cNvPr id="35" name="TextBox 34"/>
          <p:cNvSpPr txBox="1"/>
          <p:nvPr/>
        </p:nvSpPr>
        <p:spPr>
          <a:xfrm>
            <a:off x="7787640" y="4866132"/>
            <a:ext cx="3947160" cy="1014984"/>
          </a:xfrm>
          <a:prstGeom prst="rect">
            <a:avLst/>
          </a:prstGeom>
          <a:noFill/>
        </p:spPr>
        <p:txBody>
          <a:bodyPr wrap="none" lIns="0" rIns="0" tIns="0" bIns="0" anchor="ctr">
            <a:noAutofit/>
          </a:bodyPr>
          <a:lstStyle/>
          <a:p>
            <a:pPr rtl="1" algn="ctr"/>
            <a:r>
              <a:rPr sz="1300" b="1" lang="fa-IR">
                <a:solidFill>
                  <a:srgbClr val="0B0B0B"/>
                </a:solidFill>
                <a:latin typeface="Tahoma"/>
                <a:cs typeface="Tahoma"/>
                <a:ea typeface="Tahoma"/>
              </a:rPr>
              <a:t>۱۰ دهک، از کم‌ریسک به پرریسک</a:t>
            </a:r>
          </a:p>
          <a:p>
            <a:pPr rtl="1" algn="ctr"/>
            <a:r>
              <a:rPr sz="1050" b="0" lang="fa-IR">
                <a:solidFill>
                  <a:srgbClr val="4E4D4A"/>
                </a:solidFill>
                <a:latin typeface="Tahoma"/>
                <a:cs typeface="Tahoma"/>
                <a:ea typeface="Tahoma"/>
              </a:rPr>
              <a:t>هر دهک ۹۳۴٬۴۷۲ مشترک</a:t>
            </a:r>
          </a:p>
        </p:txBody>
      </p:sp>
      <p:cxnSp>
        <p:nvCxnSpPr>
          <p:cNvPr id="36" name="Connector 35"/>
          <p:cNvCxnSpPr/>
          <p:nvPr/>
        </p:nvCxnSpPr>
        <p:spPr>
          <a:xfrm flipH="1">
            <a:off x="4441952" y="5373624"/>
            <a:ext cx="3308096" cy="0"/>
          </a:xfrm>
          <a:prstGeom prst="line">
            <a:avLst/>
          </a:prstGeom>
          <a:ln w="13970">
            <a:solidFill>
              <a:srgbClr val="4E4D4A"/>
            </a:solidFill>
            <a:tailEnd type="triangle" w="med" len="med"/>
          </a:ln>
          <a:effectLst/>
        </p:spPr>
      </p:cxnSp>
      <p:sp>
        <p:nvSpPr>
          <p:cNvPr id="37" name="TextBox 36"/>
          <p:cNvSpPr txBox="1"/>
          <p:nvPr/>
        </p:nvSpPr>
        <p:spPr>
          <a:xfrm>
            <a:off x="5210048" y="5129276"/>
            <a:ext cx="2540000" cy="1524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قاعدهٔ سقف</a:t>
            </a:r>
          </a:p>
        </p:txBody>
      </p:sp>
      <p:sp>
        <p:nvSpPr>
          <p:cNvPr id="38" name="TextBox 37"/>
          <p:cNvSpPr txBox="1"/>
          <p:nvPr/>
        </p:nvSpPr>
        <p:spPr>
          <a:xfrm>
            <a:off x="4956048" y="5448808"/>
            <a:ext cx="2794000" cy="152400"/>
          </a:xfrm>
          <a:prstGeom prst="rect">
            <a:avLst/>
          </a:prstGeom>
          <a:noFill/>
        </p:spPr>
        <p:txBody>
          <a:bodyPr wrap="none" lIns="0" rIns="0" tIns="0" bIns="0" anchor="ctr">
            <a:noAutofit/>
          </a:bodyPr>
          <a:lstStyle/>
          <a:p>
            <a:pPr rtl="1" algn="ctr"/>
            <a:r>
              <a:rPr sz="950" b="0" lang="fa-IR">
                <a:solidFill>
                  <a:srgbClr val="86857F"/>
                </a:solidFill>
                <a:latin typeface="Tahoma"/>
                <a:cs typeface="Tahoma"/>
                <a:ea typeface="Tahoma"/>
              </a:rPr>
              <a:t>وام هر نفر کمتر از قبض یک ماهش</a:t>
            </a:r>
          </a:p>
        </p:txBody>
      </p:sp>
      <p:sp>
        <p:nvSpPr>
          <p:cNvPr id="39" name="Rounded Rectangle 38"/>
          <p:cNvSpPr/>
          <p:nvPr/>
        </p:nvSpPr>
        <p:spPr>
          <a:xfrm>
            <a:off x="457200" y="4866132"/>
            <a:ext cx="3947160" cy="1014984"/>
          </a:xfrm>
          <a:prstGeom prst="roundRect">
            <a:avLst>
              <a:gd name="adj" fmla="val 7000"/>
            </a:avLst>
          </a:prstGeom>
          <a:solidFill>
            <a:srgbClr val="E4EBF3"/>
          </a:solidFill>
          <a:ln w="9525">
            <a:solidFill>
              <a:srgbClr val="8FB2D9"/>
            </a:solidFill>
          </a:ln>
          <a:effectLst/>
        </p:spPr>
        <p:txBody>
          <a:bodyPr rtlCol="0" anchor="ctr" wrap="none"/>
          <a:lstStyle/>
          <a:p>
            <a:pPr algn="ctr"/>
          </a:p>
        </p:txBody>
      </p:sp>
      <p:sp>
        <p:nvSpPr>
          <p:cNvPr id="40" name="TextBox 39"/>
          <p:cNvSpPr txBox="1"/>
          <p:nvPr/>
        </p:nvSpPr>
        <p:spPr>
          <a:xfrm>
            <a:off x="457200" y="4866132"/>
            <a:ext cx="3947160" cy="1014984"/>
          </a:xfrm>
          <a:prstGeom prst="rect">
            <a:avLst/>
          </a:prstGeom>
          <a:noFill/>
        </p:spPr>
        <p:txBody>
          <a:bodyPr wrap="none" lIns="0" rIns="0" tIns="0" bIns="0" anchor="ctr">
            <a:noAutofit/>
          </a:bodyPr>
          <a:lstStyle/>
          <a:p>
            <a:pPr rtl="1" algn="ctr"/>
            <a:r>
              <a:rPr sz="2200" b="1" lang="fa-IR">
                <a:solidFill>
                  <a:srgbClr val="2A78D6"/>
                </a:solidFill>
                <a:latin typeface="Tahoma"/>
                <a:cs typeface="Tahoma"/>
                <a:ea typeface="Tahoma"/>
              </a:rPr>
              <a:t>۸٬۸۰۱٬۷۷۲</a:t>
            </a:r>
          </a:p>
          <a:p>
            <a:pPr rtl="1" algn="ctr"/>
            <a:r>
              <a:rPr sz="1050" b="0" lang="fa-IR">
                <a:solidFill>
                  <a:srgbClr val="4E4D4A"/>
                </a:solidFill>
                <a:latin typeface="Tahoma"/>
                <a:cs typeface="Tahoma"/>
                <a:ea typeface="Tahoma"/>
              </a:rPr>
              <a:t>مشترک تأییدشده — سقف ۱۰۰ هزار تا ۱ میلیون تومان</a:t>
            </a:r>
          </a:p>
        </p:txBody>
      </p:sp>
      <p:cxnSp>
        <p:nvCxnSpPr>
          <p:cNvPr id="41" name="Connector 40"/>
          <p:cNvCxnSpPr/>
          <p:nvPr/>
        </p:nvCxnSpPr>
        <p:spPr>
          <a:xfrm>
            <a:off x="457200" y="6070600"/>
            <a:ext cx="11277600" cy="0"/>
          </a:xfrm>
          <a:prstGeom prst="line">
            <a:avLst/>
          </a:prstGeom>
          <a:ln w="9525">
            <a:solidFill>
              <a:srgbClr val="E8E8E4"/>
            </a:solidFill>
          </a:ln>
          <a:effectLst/>
        </p:spPr>
      </p:cxnSp>
      <p:sp>
        <p:nvSpPr>
          <p:cNvPr id="42" name="TextBox 41"/>
          <p:cNvSpPr txBox="1"/>
          <p:nvPr/>
        </p:nvSpPr>
        <p:spPr>
          <a:xfrm>
            <a:off x="457200" y="6134100"/>
            <a:ext cx="11277600" cy="304800"/>
          </a:xfrm>
          <a:prstGeom prst="rect">
            <a:avLst/>
          </a:prstGeom>
          <a:noFill/>
        </p:spPr>
        <p:txBody>
          <a:bodyPr wrap="square" lIns="0" rIns="0" tIns="0" bIns="0" anchor="t">
            <a:noAutofit/>
          </a:bodyPr>
          <a:lstStyle/>
          <a:p>
            <a:pPr rtl="1" algn="r">
              <a:lnSpc>
                <a:spcPct val="140000"/>
              </a:lnSpc>
            </a:pPr>
            <a:r>
              <a:rPr sz="850" b="0" lang="fa-IR">
                <a:solidFill>
                  <a:srgbClr val="4E4D4A"/>
                </a:solidFill>
                <a:latin typeface="Tahoma"/>
                <a:cs typeface="Tahoma"/>
                <a:ea typeface="Tahoma"/>
              </a:rPr>
              <a:t>تفاوت ساختاری دو ردیف بالا فقط در جهت یک فلش است: در آموزش، نتیجه وارد مدل می‌شود؛ در امتیازدهی، پیش‌بینی از مدل بیرون می‌آید. ورودی هر دو ردیف یکی است — ۶ ماه رفتار حساب و همان ۳۹ ویژگی. دقت مدل روی دادهٔ کنارگذاشته ۰٫۸۳ است.</a:t>
            </a:r>
          </a:p>
        </p:txBody>
      </p:sp>
      <p:sp>
        <p:nvSpPr>
          <p:cNvPr id="43" name="TextBox 42"/>
          <p:cNvSpPr txBox="1"/>
          <p:nvPr/>
        </p:nvSpPr>
        <p:spPr>
          <a:xfrm>
            <a:off x="457200" y="6464300"/>
            <a:ext cx="11277600" cy="381000"/>
          </a:xfrm>
          <a:prstGeom prst="rect">
            <a:avLst/>
          </a:prstGeom>
          <a:noFill/>
        </p:spPr>
        <p:txBody>
          <a:bodyPr wrap="square" lIns="0" rIns="0" tIns="0" bIns="0" anchor="t">
            <a:noAutofit/>
          </a:bodyPr>
          <a:lstStyle/>
          <a:p>
            <a:pPr rtl="1" algn="r">
              <a:lnSpc>
                <a:spcPct val="140000"/>
              </a:lnSpc>
            </a:pPr>
            <a:r>
              <a:rPr sz="750" b="0" lang="fa-IR">
                <a:solidFill>
                  <a:srgbClr val="86857F"/>
                </a:solidFill>
                <a:latin typeface="Tahoma"/>
                <a:cs typeface="Tahoma"/>
                <a:ea typeface="Tahoma"/>
              </a:rPr>
              <a:t>۳۹ ویژگی، همه از رفتار حساب خود مشترک — هیچ داده شخصی، مکانی یا جمعیتی در مدل نیست؛ پنجرهٔ نتیجه ۶ ماه است: ۴ قبضی که اقساط رویشان می‌نشیند، به‌علاوهٔ ۲ ماه مهلت تا قسط آخر هم دیده شود؛ «قطع دوطرفه» حدود سه ماه بعد از شروع عدم پرداخت رخ می‌دهد، پس نشانهٔ دیررسی است و نرخ بد را کمتر از واقع برآورد می‌کند.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622800" y="228600"/>
            <a:ext cx="7112000" cy="381000"/>
          </a:xfrm>
          <a:prstGeom prst="rect">
            <a:avLst/>
          </a:prstGeom>
          <a:noFill/>
        </p:spPr>
        <p:txBody>
          <a:bodyPr wrap="none" lIns="0" rIns="0" tIns="0" bIns="0" anchor="ctr">
            <a:noAutofit/>
          </a:bodyPr>
          <a:lstStyle/>
          <a:p>
            <a:pPr rtl="1" algn="r"/>
            <a:r>
              <a:rPr sz="2000" b="1" lang="fa-IR">
                <a:solidFill>
                  <a:srgbClr val="0B0B0B"/>
                </a:solidFill>
                <a:latin typeface="Tahoma"/>
                <a:cs typeface="Tahoma"/>
                <a:ea typeface="Tahoma"/>
              </a:rPr>
              <a:t>سه گزینه اعطای اعتبار</a:t>
            </a:r>
          </a:p>
        </p:txBody>
      </p:sp>
      <p:sp>
        <p:nvSpPr>
          <p:cNvPr id="3" name="TextBox 2"/>
          <p:cNvSpPr txBox="1"/>
          <p:nvPr/>
        </p:nvSpPr>
        <p:spPr>
          <a:xfrm>
            <a:off x="457200" y="279400"/>
            <a:ext cx="3810000" cy="254000"/>
          </a:xfrm>
          <a:prstGeom prst="rect">
            <a:avLst/>
          </a:prstGeom>
          <a:noFill/>
        </p:spPr>
        <p:txBody>
          <a:bodyPr wrap="none" lIns="0" rIns="0" tIns="0" bIns="0" anchor="ctr">
            <a:noAutofit/>
          </a:bodyPr>
          <a:lstStyle/>
          <a:p>
            <a:pPr rtl="1" algn="l"/>
            <a:r>
              <a:rPr sz="900" b="0" lang="fa-IR">
                <a:solidFill>
                  <a:srgbClr val="86857F"/>
                </a:solidFill>
                <a:latin typeface="Tahoma"/>
                <a:cs typeface="Tahoma"/>
                <a:ea typeface="Tahoma"/>
              </a:rPr>
              <a:t>اعتبار روی قبض، یک‌ماهه، مهر ۱۴۰۵</a:t>
            </a:r>
          </a:p>
        </p:txBody>
      </p:sp>
      <p:cxnSp>
        <p:nvCxnSpPr>
          <p:cNvPr id="4" name="Connector 3"/>
          <p:cNvCxnSpPr/>
          <p:nvPr/>
        </p:nvCxnSpPr>
        <p:spPr>
          <a:xfrm>
            <a:off x="457200" y="685800"/>
            <a:ext cx="11277600" cy="0"/>
          </a:xfrm>
          <a:prstGeom prst="line">
            <a:avLst/>
          </a:prstGeom>
          <a:ln w="17780">
            <a:solidFill>
              <a:srgbClr val="0B0B0B"/>
            </a:solidFill>
          </a:ln>
          <a:effectLst/>
        </p:spPr>
      </p:cxnSp>
      <p:sp>
        <p:nvSpPr>
          <p:cNvPr id="5" name="Rounded Rectangle 4"/>
          <p:cNvSpPr/>
          <p:nvPr/>
        </p:nvSpPr>
        <p:spPr>
          <a:xfrm>
            <a:off x="8991600" y="762000"/>
            <a:ext cx="2743200" cy="508000"/>
          </a:xfrm>
          <a:prstGeom prst="roundRect">
            <a:avLst>
              <a:gd name="adj" fmla="val 7000"/>
            </a:avLst>
          </a:prstGeom>
          <a:solidFill>
            <a:srgbClr val="F6F6F3"/>
          </a:solidFill>
          <a:ln w="9525">
            <a:solidFill>
              <a:srgbClr val="E2E1DB"/>
            </a:solidFill>
          </a:ln>
          <a:effectLst/>
        </p:spPr>
        <p:txBody>
          <a:bodyPr rtlCol="0" anchor="ctr" wrap="none"/>
          <a:lstStyle/>
          <a:p>
            <a:pPr algn="ctr"/>
          </a:p>
        </p:txBody>
      </p:sp>
      <p:sp>
        <p:nvSpPr>
          <p:cNvPr id="6" name="TextBox 5"/>
          <p:cNvSpPr txBox="1"/>
          <p:nvPr/>
        </p:nvSpPr>
        <p:spPr>
          <a:xfrm>
            <a:off x="9093200" y="812800"/>
            <a:ext cx="2540000" cy="241300"/>
          </a:xfrm>
          <a:prstGeom prst="rect">
            <a:avLst/>
          </a:prstGeom>
          <a:noFill/>
        </p:spPr>
        <p:txBody>
          <a:bodyPr wrap="none" lIns="0" rIns="0" tIns="0" bIns="0" anchor="ctr">
            <a:noAutofit/>
          </a:bodyPr>
          <a:lstStyle/>
          <a:p>
            <a:pPr rtl="1" algn="r"/>
            <a:r>
              <a:rPr sz="1500" b="1" lang="fa-IR">
                <a:solidFill>
                  <a:srgbClr val="0B0B0B"/>
                </a:solidFill>
                <a:latin typeface="Tahoma"/>
                <a:cs typeface="Tahoma"/>
                <a:ea typeface="Tahoma"/>
              </a:rPr>
              <a:t>۴۱٫۳ میلیون</a:t>
            </a:r>
          </a:p>
        </p:txBody>
      </p:sp>
      <p:sp>
        <p:nvSpPr>
          <p:cNvPr id="7" name="TextBox 6"/>
          <p:cNvSpPr txBox="1"/>
          <p:nvPr/>
        </p:nvSpPr>
        <p:spPr>
          <a:xfrm>
            <a:off x="9093200" y="1054100"/>
            <a:ext cx="2540000" cy="1651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مشترک دائمی</a:t>
            </a:r>
          </a:p>
        </p:txBody>
      </p:sp>
      <p:sp>
        <p:nvSpPr>
          <p:cNvPr id="8" name="Rounded Rectangle 7"/>
          <p:cNvSpPr/>
          <p:nvPr/>
        </p:nvSpPr>
        <p:spPr>
          <a:xfrm>
            <a:off x="6146800" y="762000"/>
            <a:ext cx="2743200" cy="508000"/>
          </a:xfrm>
          <a:prstGeom prst="roundRect">
            <a:avLst>
              <a:gd name="adj" fmla="val 7000"/>
            </a:avLst>
          </a:prstGeom>
          <a:solidFill>
            <a:srgbClr val="F6F6F3"/>
          </a:solidFill>
          <a:ln w="9525">
            <a:solidFill>
              <a:srgbClr val="E2E1DB"/>
            </a:solidFill>
          </a:ln>
          <a:effectLst/>
        </p:spPr>
        <p:txBody>
          <a:bodyPr rtlCol="0" anchor="ctr" wrap="none"/>
          <a:lstStyle/>
          <a:p>
            <a:pPr algn="ctr"/>
          </a:p>
        </p:txBody>
      </p:sp>
      <p:sp>
        <p:nvSpPr>
          <p:cNvPr id="9" name="TextBox 8"/>
          <p:cNvSpPr txBox="1"/>
          <p:nvPr/>
        </p:nvSpPr>
        <p:spPr>
          <a:xfrm>
            <a:off x="6248400" y="812800"/>
            <a:ext cx="2540000" cy="241300"/>
          </a:xfrm>
          <a:prstGeom prst="rect">
            <a:avLst/>
          </a:prstGeom>
          <a:noFill/>
        </p:spPr>
        <p:txBody>
          <a:bodyPr wrap="none" lIns="0" rIns="0" tIns="0" bIns="0" anchor="ctr">
            <a:noAutofit/>
          </a:bodyPr>
          <a:lstStyle/>
          <a:p>
            <a:pPr rtl="1" algn="r"/>
            <a:r>
              <a:rPr sz="1500" b="1" lang="fa-IR">
                <a:solidFill>
                  <a:srgbClr val="0B0B0B"/>
                </a:solidFill>
                <a:latin typeface="Tahoma"/>
                <a:cs typeface="Tahoma"/>
                <a:ea typeface="Tahoma"/>
              </a:rPr>
              <a:t>۹٫۳ میلیون</a:t>
            </a:r>
          </a:p>
        </p:txBody>
      </p:sp>
      <p:sp>
        <p:nvSpPr>
          <p:cNvPr id="10" name="TextBox 9"/>
          <p:cNvSpPr txBox="1"/>
          <p:nvPr/>
        </p:nvSpPr>
        <p:spPr>
          <a:xfrm>
            <a:off x="6248400" y="1054100"/>
            <a:ext cx="2540000" cy="1651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پس از غربال درآمد و سابقه قطعی</a:t>
            </a:r>
          </a:p>
        </p:txBody>
      </p:sp>
      <p:sp>
        <p:nvSpPr>
          <p:cNvPr id="11" name="Rounded Rectangle 10"/>
          <p:cNvSpPr/>
          <p:nvPr/>
        </p:nvSpPr>
        <p:spPr>
          <a:xfrm>
            <a:off x="3302000" y="762000"/>
            <a:ext cx="2743200" cy="508000"/>
          </a:xfrm>
          <a:prstGeom prst="roundRect">
            <a:avLst>
              <a:gd name="adj" fmla="val 7000"/>
            </a:avLst>
          </a:prstGeom>
          <a:solidFill>
            <a:srgbClr val="F6F6F3"/>
          </a:solidFill>
          <a:ln w="9525">
            <a:solidFill>
              <a:srgbClr val="E2E1DB"/>
            </a:solidFill>
          </a:ln>
          <a:effectLst/>
        </p:spPr>
        <p:txBody>
          <a:bodyPr rtlCol="0" anchor="ctr" wrap="none"/>
          <a:lstStyle/>
          <a:p>
            <a:pPr algn="ctr"/>
          </a:p>
        </p:txBody>
      </p:sp>
      <p:sp>
        <p:nvSpPr>
          <p:cNvPr id="12" name="TextBox 11"/>
          <p:cNvSpPr txBox="1"/>
          <p:nvPr/>
        </p:nvSpPr>
        <p:spPr>
          <a:xfrm>
            <a:off x="3403600" y="812800"/>
            <a:ext cx="2540000" cy="241300"/>
          </a:xfrm>
          <a:prstGeom prst="rect">
            <a:avLst/>
          </a:prstGeom>
          <a:noFill/>
        </p:spPr>
        <p:txBody>
          <a:bodyPr wrap="none" lIns="0" rIns="0" tIns="0" bIns="0" anchor="ctr">
            <a:noAutofit/>
          </a:bodyPr>
          <a:lstStyle/>
          <a:p>
            <a:pPr rtl="1" algn="r"/>
            <a:r>
              <a:rPr sz="1500" b="1" lang="fa-IR">
                <a:solidFill>
                  <a:srgbClr val="0B0B0B"/>
                </a:solidFill>
                <a:latin typeface="Tahoma"/>
                <a:cs typeface="Tahoma"/>
                <a:ea typeface="Tahoma"/>
              </a:rPr>
              <a:t>امتیازدهی</a:t>
            </a:r>
          </a:p>
        </p:txBody>
      </p:sp>
      <p:sp>
        <p:nvSpPr>
          <p:cNvPr id="13" name="TextBox 12"/>
          <p:cNvSpPr txBox="1"/>
          <p:nvPr/>
        </p:nvSpPr>
        <p:spPr>
          <a:xfrm>
            <a:off x="3403600" y="1054100"/>
            <a:ext cx="2540000" cy="1651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۳۹ ویژگی در ۵ خانواده، شرح زیر</a:t>
            </a:r>
          </a:p>
        </p:txBody>
      </p:sp>
      <p:sp>
        <p:nvSpPr>
          <p:cNvPr id="14" name="Rounded Rectangle 13"/>
          <p:cNvSpPr/>
          <p:nvPr/>
        </p:nvSpPr>
        <p:spPr>
          <a:xfrm>
            <a:off x="457200" y="762000"/>
            <a:ext cx="2743200" cy="508000"/>
          </a:xfrm>
          <a:prstGeom prst="roundRect">
            <a:avLst>
              <a:gd name="adj" fmla="val 7000"/>
            </a:avLst>
          </a:prstGeom>
          <a:solidFill>
            <a:srgbClr val="DBE6F2"/>
          </a:solidFill>
          <a:ln w="9525">
            <a:solidFill>
              <a:srgbClr val="2A78D6"/>
            </a:solidFill>
          </a:ln>
          <a:effectLst/>
        </p:spPr>
        <p:txBody>
          <a:bodyPr rtlCol="0" anchor="ctr" wrap="none"/>
          <a:lstStyle/>
          <a:p>
            <a:pPr algn="ctr"/>
          </a:p>
        </p:txBody>
      </p:sp>
      <p:sp>
        <p:nvSpPr>
          <p:cNvPr id="15" name="TextBox 14"/>
          <p:cNvSpPr txBox="1"/>
          <p:nvPr/>
        </p:nvSpPr>
        <p:spPr>
          <a:xfrm>
            <a:off x="558800" y="812800"/>
            <a:ext cx="2540000" cy="241300"/>
          </a:xfrm>
          <a:prstGeom prst="rect">
            <a:avLst/>
          </a:prstGeom>
          <a:noFill/>
        </p:spPr>
        <p:txBody>
          <a:bodyPr wrap="none" lIns="0" rIns="0" tIns="0" bIns="0" anchor="ctr">
            <a:noAutofit/>
          </a:bodyPr>
          <a:lstStyle/>
          <a:p>
            <a:pPr rtl="1" algn="r"/>
            <a:r>
              <a:rPr sz="1500" b="1" lang="fa-IR">
                <a:solidFill>
                  <a:srgbClr val="0B0B0B"/>
                </a:solidFill>
                <a:latin typeface="Tahoma"/>
                <a:cs typeface="Tahoma"/>
                <a:ea typeface="Tahoma"/>
              </a:rPr>
              <a:t>۸٬۸۰۱٬۷۷۲</a:t>
            </a:r>
          </a:p>
        </p:txBody>
      </p:sp>
      <p:sp>
        <p:nvSpPr>
          <p:cNvPr id="16" name="TextBox 15"/>
          <p:cNvSpPr txBox="1"/>
          <p:nvPr/>
        </p:nvSpPr>
        <p:spPr>
          <a:xfrm>
            <a:off x="558800" y="1054100"/>
            <a:ext cx="2540000" cy="1651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تأییدشده برای اعطای اعتبار</a:t>
            </a:r>
          </a:p>
        </p:txBody>
      </p:sp>
      <p:cxnSp>
        <p:nvCxnSpPr>
          <p:cNvPr id="17" name="Connector 16"/>
          <p:cNvCxnSpPr/>
          <p:nvPr/>
        </p:nvCxnSpPr>
        <p:spPr>
          <a:xfrm>
            <a:off x="9540240" y="1371600"/>
            <a:ext cx="2194560" cy="0"/>
          </a:xfrm>
          <a:prstGeom prst="line">
            <a:avLst/>
          </a:prstGeom>
          <a:ln w="17780">
            <a:solidFill>
              <a:srgbClr val="2A78D6"/>
            </a:solidFill>
          </a:ln>
          <a:effectLst/>
        </p:spPr>
      </p:cxnSp>
      <p:sp>
        <p:nvSpPr>
          <p:cNvPr id="18" name="TextBox 17"/>
          <p:cNvSpPr txBox="1"/>
          <p:nvPr/>
        </p:nvSpPr>
        <p:spPr>
          <a:xfrm>
            <a:off x="9540240" y="1422400"/>
            <a:ext cx="2194560" cy="152400"/>
          </a:xfrm>
          <a:prstGeom prst="rect">
            <a:avLst/>
          </a:prstGeom>
          <a:noFill/>
        </p:spPr>
        <p:txBody>
          <a:bodyPr wrap="none" lIns="0" rIns="0" tIns="0" bIns="0" anchor="ctr">
            <a:noAutofit/>
          </a:bodyPr>
          <a:lstStyle/>
          <a:p>
            <a:pPr rtl="1" algn="r"/>
            <a:r>
              <a:rPr sz="950" b="1" lang="fa-IR">
                <a:solidFill>
                  <a:srgbClr val="0B0B0B"/>
                </a:solidFill>
                <a:latin typeface="Tahoma"/>
                <a:cs typeface="Tahoma"/>
                <a:ea typeface="Tahoma"/>
              </a:rPr>
              <a:t>مصرف و درآمد</a:t>
            </a:r>
          </a:p>
        </p:txBody>
      </p:sp>
      <p:sp>
        <p:nvSpPr>
          <p:cNvPr id="19" name="TextBox 18"/>
          <p:cNvSpPr txBox="1"/>
          <p:nvPr/>
        </p:nvSpPr>
        <p:spPr>
          <a:xfrm>
            <a:off x="9540240" y="1587500"/>
            <a:ext cx="2194560" cy="152400"/>
          </a:xfrm>
          <a:prstGeom prst="rect">
            <a:avLst/>
          </a:prstGeom>
          <a:noFill/>
        </p:spPr>
        <p:txBody>
          <a:bodyPr wrap="none" lIns="0" rIns="0" tIns="0" bIns="0" anchor="ctr">
            <a:noAutofit/>
          </a:bodyPr>
          <a:lstStyle/>
          <a:p>
            <a:pPr rtl="1" algn="r"/>
            <a:r>
              <a:rPr sz="800" b="0" lang="fa-IR">
                <a:solidFill>
                  <a:srgbClr val="86857F"/>
                </a:solidFill>
                <a:latin typeface="Tahoma"/>
                <a:cs typeface="Tahoma"/>
                <a:ea typeface="Tahoma"/>
              </a:rPr>
              <a:t>درآمد هر ماه، روند، ماه‌های بدون مصرف</a:t>
            </a:r>
          </a:p>
        </p:txBody>
      </p:sp>
      <p:cxnSp>
        <p:nvCxnSpPr>
          <p:cNvPr id="20" name="Connector 19"/>
          <p:cNvCxnSpPr/>
          <p:nvPr/>
        </p:nvCxnSpPr>
        <p:spPr>
          <a:xfrm>
            <a:off x="7269480" y="1371600"/>
            <a:ext cx="2194560" cy="0"/>
          </a:xfrm>
          <a:prstGeom prst="line">
            <a:avLst/>
          </a:prstGeom>
          <a:ln w="17780">
            <a:solidFill>
              <a:srgbClr val="2A78D6"/>
            </a:solidFill>
          </a:ln>
          <a:effectLst/>
        </p:spPr>
      </p:cxnSp>
      <p:sp>
        <p:nvSpPr>
          <p:cNvPr id="21" name="TextBox 20"/>
          <p:cNvSpPr txBox="1"/>
          <p:nvPr/>
        </p:nvSpPr>
        <p:spPr>
          <a:xfrm>
            <a:off x="7269480" y="1422400"/>
            <a:ext cx="2194560" cy="152400"/>
          </a:xfrm>
          <a:prstGeom prst="rect">
            <a:avLst/>
          </a:prstGeom>
          <a:noFill/>
        </p:spPr>
        <p:txBody>
          <a:bodyPr wrap="none" lIns="0" rIns="0" tIns="0" bIns="0" anchor="ctr">
            <a:noAutofit/>
          </a:bodyPr>
          <a:lstStyle/>
          <a:p>
            <a:pPr rtl="1" algn="r"/>
            <a:r>
              <a:rPr sz="950" b="1" lang="fa-IR">
                <a:solidFill>
                  <a:srgbClr val="0B0B0B"/>
                </a:solidFill>
                <a:latin typeface="Tahoma"/>
                <a:cs typeface="Tahoma"/>
                <a:ea typeface="Tahoma"/>
              </a:rPr>
              <a:t>رفتار پرداخت</a:t>
            </a:r>
          </a:p>
        </p:txBody>
      </p:sp>
      <p:sp>
        <p:nvSpPr>
          <p:cNvPr id="22" name="TextBox 21"/>
          <p:cNvSpPr txBox="1"/>
          <p:nvPr/>
        </p:nvSpPr>
        <p:spPr>
          <a:xfrm>
            <a:off x="7269480" y="1587500"/>
            <a:ext cx="2194560" cy="152400"/>
          </a:xfrm>
          <a:prstGeom prst="rect">
            <a:avLst/>
          </a:prstGeom>
          <a:noFill/>
        </p:spPr>
        <p:txBody>
          <a:bodyPr wrap="none" lIns="0" rIns="0" tIns="0" bIns="0" anchor="ctr">
            <a:noAutofit/>
          </a:bodyPr>
          <a:lstStyle/>
          <a:p>
            <a:pPr rtl="1" algn="r"/>
            <a:r>
              <a:rPr sz="800" b="0" lang="fa-IR">
                <a:solidFill>
                  <a:srgbClr val="86857F"/>
                </a:solidFill>
                <a:latin typeface="Tahoma"/>
                <a:cs typeface="Tahoma"/>
                <a:ea typeface="Tahoma"/>
              </a:rPr>
              <a:t>مجموع پرداختی و تعداد ماه‌های پرداخت</a:t>
            </a:r>
          </a:p>
        </p:txBody>
      </p:sp>
      <p:cxnSp>
        <p:nvCxnSpPr>
          <p:cNvPr id="23" name="Connector 22"/>
          <p:cNvCxnSpPr/>
          <p:nvPr/>
        </p:nvCxnSpPr>
        <p:spPr>
          <a:xfrm>
            <a:off x="4998720" y="1371600"/>
            <a:ext cx="2194560" cy="0"/>
          </a:xfrm>
          <a:prstGeom prst="line">
            <a:avLst/>
          </a:prstGeom>
          <a:ln w="17780">
            <a:solidFill>
              <a:srgbClr val="2A78D6"/>
            </a:solidFill>
          </a:ln>
          <a:effectLst/>
        </p:spPr>
      </p:cxnSp>
      <p:sp>
        <p:nvSpPr>
          <p:cNvPr id="24" name="TextBox 23"/>
          <p:cNvSpPr txBox="1"/>
          <p:nvPr/>
        </p:nvSpPr>
        <p:spPr>
          <a:xfrm>
            <a:off x="4998720" y="1422400"/>
            <a:ext cx="2194560" cy="152400"/>
          </a:xfrm>
          <a:prstGeom prst="rect">
            <a:avLst/>
          </a:prstGeom>
          <a:noFill/>
        </p:spPr>
        <p:txBody>
          <a:bodyPr wrap="none" lIns="0" rIns="0" tIns="0" bIns="0" anchor="ctr">
            <a:noAutofit/>
          </a:bodyPr>
          <a:lstStyle/>
          <a:p>
            <a:pPr rtl="1" algn="r"/>
            <a:r>
              <a:rPr sz="950" b="1" lang="fa-IR">
                <a:solidFill>
                  <a:srgbClr val="0B0B0B"/>
                </a:solidFill>
                <a:latin typeface="Tahoma"/>
                <a:cs typeface="Tahoma"/>
                <a:ea typeface="Tahoma"/>
              </a:rPr>
              <a:t>بدهی و اعتبار باز</a:t>
            </a:r>
          </a:p>
        </p:txBody>
      </p:sp>
      <p:sp>
        <p:nvSpPr>
          <p:cNvPr id="25" name="TextBox 24"/>
          <p:cNvSpPr txBox="1"/>
          <p:nvPr/>
        </p:nvSpPr>
        <p:spPr>
          <a:xfrm>
            <a:off x="4998720" y="1587500"/>
            <a:ext cx="2194560" cy="152400"/>
          </a:xfrm>
          <a:prstGeom prst="rect">
            <a:avLst/>
          </a:prstGeom>
          <a:noFill/>
        </p:spPr>
        <p:txBody>
          <a:bodyPr wrap="none" lIns="0" rIns="0" tIns="0" bIns="0" anchor="ctr">
            <a:noAutofit/>
          </a:bodyPr>
          <a:lstStyle/>
          <a:p>
            <a:pPr rtl="1" algn="r"/>
            <a:r>
              <a:rPr sz="800" b="0" lang="fa-IR">
                <a:solidFill>
                  <a:srgbClr val="86857F"/>
                </a:solidFill>
                <a:latin typeface="Tahoma"/>
                <a:cs typeface="Tahoma"/>
                <a:ea typeface="Tahoma"/>
              </a:rPr>
              <a:t>مانده بدهی و اعتبار در دسترس</a:t>
            </a:r>
          </a:p>
        </p:txBody>
      </p:sp>
      <p:cxnSp>
        <p:nvCxnSpPr>
          <p:cNvPr id="26" name="Connector 25"/>
          <p:cNvCxnSpPr/>
          <p:nvPr/>
        </p:nvCxnSpPr>
        <p:spPr>
          <a:xfrm>
            <a:off x="2727960" y="1371600"/>
            <a:ext cx="2194560" cy="0"/>
          </a:xfrm>
          <a:prstGeom prst="line">
            <a:avLst/>
          </a:prstGeom>
          <a:ln w="17780">
            <a:solidFill>
              <a:srgbClr val="2A78D6"/>
            </a:solidFill>
          </a:ln>
          <a:effectLst/>
        </p:spPr>
      </p:cxnSp>
      <p:sp>
        <p:nvSpPr>
          <p:cNvPr id="27" name="TextBox 26"/>
          <p:cNvSpPr txBox="1"/>
          <p:nvPr/>
        </p:nvSpPr>
        <p:spPr>
          <a:xfrm>
            <a:off x="2727960" y="1422400"/>
            <a:ext cx="2194560" cy="152400"/>
          </a:xfrm>
          <a:prstGeom prst="rect">
            <a:avLst/>
          </a:prstGeom>
          <a:noFill/>
        </p:spPr>
        <p:txBody>
          <a:bodyPr wrap="none" lIns="0" rIns="0" tIns="0" bIns="0" anchor="ctr">
            <a:noAutofit/>
          </a:bodyPr>
          <a:lstStyle/>
          <a:p>
            <a:pPr rtl="1" algn="r"/>
            <a:r>
              <a:rPr sz="950" b="1" lang="fa-IR">
                <a:solidFill>
                  <a:srgbClr val="0B0B0B"/>
                </a:solidFill>
                <a:latin typeface="Tahoma"/>
                <a:cs typeface="Tahoma"/>
                <a:ea typeface="Tahoma"/>
              </a:rPr>
              <a:t>سابقه قطع سرویس</a:t>
            </a:r>
          </a:p>
        </p:txBody>
      </p:sp>
      <p:sp>
        <p:nvSpPr>
          <p:cNvPr id="28" name="TextBox 27"/>
          <p:cNvSpPr txBox="1"/>
          <p:nvPr/>
        </p:nvSpPr>
        <p:spPr>
          <a:xfrm>
            <a:off x="2727960" y="1587500"/>
            <a:ext cx="2194560" cy="152400"/>
          </a:xfrm>
          <a:prstGeom prst="rect">
            <a:avLst/>
          </a:prstGeom>
          <a:noFill/>
        </p:spPr>
        <p:txBody>
          <a:bodyPr wrap="none" lIns="0" rIns="0" tIns="0" bIns="0" anchor="ctr">
            <a:noAutofit/>
          </a:bodyPr>
          <a:lstStyle/>
          <a:p>
            <a:pPr rtl="1" algn="r"/>
            <a:r>
              <a:rPr sz="800" b="0" lang="fa-IR">
                <a:solidFill>
                  <a:srgbClr val="86857F"/>
                </a:solidFill>
                <a:latin typeface="Tahoma"/>
                <a:cs typeface="Tahoma"/>
                <a:ea typeface="Tahoma"/>
              </a:rPr>
              <a:t>قطع یک‌طرفه و دوطرفه در سال قبل</a:t>
            </a:r>
          </a:p>
        </p:txBody>
      </p:sp>
      <p:cxnSp>
        <p:nvCxnSpPr>
          <p:cNvPr id="29" name="Connector 28"/>
          <p:cNvCxnSpPr/>
          <p:nvPr/>
        </p:nvCxnSpPr>
        <p:spPr>
          <a:xfrm>
            <a:off x="457200" y="1371600"/>
            <a:ext cx="2194560" cy="0"/>
          </a:xfrm>
          <a:prstGeom prst="line">
            <a:avLst/>
          </a:prstGeom>
          <a:ln w="17780">
            <a:solidFill>
              <a:srgbClr val="2A78D6"/>
            </a:solidFill>
          </a:ln>
          <a:effectLst/>
        </p:spPr>
      </p:cxnSp>
      <p:sp>
        <p:nvSpPr>
          <p:cNvPr id="30" name="TextBox 29"/>
          <p:cNvSpPr txBox="1"/>
          <p:nvPr/>
        </p:nvSpPr>
        <p:spPr>
          <a:xfrm>
            <a:off x="457200" y="1422400"/>
            <a:ext cx="2194560" cy="152400"/>
          </a:xfrm>
          <a:prstGeom prst="rect">
            <a:avLst/>
          </a:prstGeom>
          <a:noFill/>
        </p:spPr>
        <p:txBody>
          <a:bodyPr wrap="none" lIns="0" rIns="0" tIns="0" bIns="0" anchor="ctr">
            <a:noAutofit/>
          </a:bodyPr>
          <a:lstStyle/>
          <a:p>
            <a:pPr rtl="1" algn="r"/>
            <a:r>
              <a:rPr sz="950" b="1" lang="fa-IR">
                <a:solidFill>
                  <a:srgbClr val="0B0B0B"/>
                </a:solidFill>
                <a:latin typeface="Tahoma"/>
                <a:cs typeface="Tahoma"/>
                <a:ea typeface="Tahoma"/>
              </a:rPr>
              <a:t>قدمت خط</a:t>
            </a:r>
          </a:p>
        </p:txBody>
      </p:sp>
      <p:sp>
        <p:nvSpPr>
          <p:cNvPr id="31" name="TextBox 30"/>
          <p:cNvSpPr txBox="1"/>
          <p:nvPr/>
        </p:nvSpPr>
        <p:spPr>
          <a:xfrm>
            <a:off x="457200" y="1587500"/>
            <a:ext cx="2194560" cy="152400"/>
          </a:xfrm>
          <a:prstGeom prst="rect">
            <a:avLst/>
          </a:prstGeom>
          <a:noFill/>
        </p:spPr>
        <p:txBody>
          <a:bodyPr wrap="none" lIns="0" rIns="0" tIns="0" bIns="0" anchor="ctr">
            <a:noAutofit/>
          </a:bodyPr>
          <a:lstStyle/>
          <a:p>
            <a:pPr rtl="1" algn="r"/>
            <a:r>
              <a:rPr sz="800" b="0" lang="fa-IR">
                <a:solidFill>
                  <a:srgbClr val="86857F"/>
                </a:solidFill>
                <a:latin typeface="Tahoma"/>
                <a:cs typeface="Tahoma"/>
                <a:ea typeface="Tahoma"/>
              </a:rPr>
              <a:t>سن خط و ماه‌هایی که فعال بوده</a:t>
            </a:r>
          </a:p>
        </p:txBody>
      </p:sp>
      <p:sp>
        <p:nvSpPr>
          <p:cNvPr id="32" name="TextBox 31"/>
          <p:cNvSpPr txBox="1"/>
          <p:nvPr/>
        </p:nvSpPr>
        <p:spPr>
          <a:xfrm>
            <a:off x="457200" y="1803400"/>
            <a:ext cx="11277600" cy="1524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۳۹ ویژگی، همه از رفتار حساب خود مشترک — هیچ داده شخصی، مکانی یا جمعیتی در مدل نیست. دقت روی داده آزمون ۰٫۸۳. سابقه قطع سرویس سال قبل به‌تنهایی ۹۲ درصد بهبود مدل را می‌دهد.</a:t>
            </a:r>
          </a:p>
        </p:txBody>
      </p:sp>
      <p:graphicFrame>
        <p:nvGraphicFramePr>
          <p:cNvPr id="33" name="Table 32"/>
          <p:cNvGraphicFramePr>
            <a:graphicFrameLocks noGrp="1"/>
          </p:cNvGraphicFramePr>
          <p:nvPr/>
        </p:nvGraphicFramePr>
        <p:xfrm>
          <a:off x="457200" y="2006600"/>
          <a:ext cx="11277600" cy="2489200"/>
        </p:xfrm>
        <a:graphic>
          <a:graphicData uri="http://schemas.openxmlformats.org/drawingml/2006/table">
            <a:tbl>
              <a:tblPr/>
              <a:tblGrid>
                <a:gridCol w="711200"/>
                <a:gridCol w="1384300"/>
                <a:gridCol w="939800"/>
                <a:gridCol w="812800"/>
                <a:gridCol w="1016000"/>
                <a:gridCol w="1066800"/>
                <a:gridCol w="1219200"/>
                <a:gridCol w="1041400"/>
                <a:gridCol w="1117600"/>
                <a:gridCol w="1968500"/>
              </a:tblGrid>
              <a:tr h="254000">
                <a:tc gridSpan="3">
                  <a:txBody>
                    <a:bodyPr wrap="none">
                      <a:noAutofit/>
                    </a:bodyPr>
                    <a:lstStyle/>
                    <a:p>
                      <a:pPr rtl="1" algn="ctr"/>
                      <a:r>
                        <a:rPr sz="850" b="1" lang="fa-IR">
                          <a:solidFill>
                            <a:srgbClr val="4E4D4A"/>
                          </a:solidFill>
                          <a:latin typeface="Tahoma"/>
                          <a:cs typeface="Tahoma"/>
                          <a:ea typeface="Tahoma"/>
                        </a:rPr>
                        <a:t>در یک سال — ۳ بار</a:t>
                      </a:r>
                    </a:p>
                  </a:txBody>
                  <a:tcPr marT="25400" marR="38100" marB="25400" marL="38100" anchor="ctr">
                    <a:lnL w="9525" cap="flat" cmpd="sng" algn="ctr">
                      <a:noFill/>
                    </a:lnL>
                    <a:lnR w="9525" cap="flat" cmpd="sng" algn="ctr">
                      <a:noFill/>
                    </a:lnR>
                    <a:lnT w="9525" cap="flat" cmpd="sng" algn="ctr">
                      <a:noFill/>
                    </a:lnT>
                    <a:lnB w="9525" cap="flat" cmpd="sng" algn="ctr">
                      <a:solidFill>
                        <a:srgbClr val="E2E1DB"/>
                      </a:solidFill>
                    </a:lnB>
                    <a:noFill/>
                  </a:tcPr>
                </a:tc>
                <a:tc hMerge="1">
                  <a:txBody>
                    <a:bodyPr/>
                    <a:lstStyle/>
                    <a:p/>
                  </a:txBody>
                  <a:tcPr>
                    <a:lnL w="9525" cap="flat" cmpd="sng" algn="ctr">
                      <a:noFill/>
                    </a:lnL>
                    <a:lnR w="9525" cap="flat" cmpd="sng" algn="ctr">
                      <a:noFill/>
                    </a:lnR>
                    <a:lnT w="9525" cap="flat" cmpd="sng" algn="ctr">
                      <a:noFill/>
                    </a:lnT>
                    <a:lnB w="9525" cap="flat" cmpd="sng" algn="ctr">
                      <a:noFill/>
                    </a:lnB>
                    <a:noFill/>
                  </a:tcPr>
                </a:tc>
                <a:tc hMerge="1">
                  <a:txBody>
                    <a:bodyPr/>
                    <a:lstStyle/>
                    <a:p/>
                  </a:txBody>
                  <a:tcPr>
                    <a:lnL w="9525" cap="flat" cmpd="sng" algn="ctr">
                      <a:noFill/>
                    </a:lnL>
                    <a:lnR w="9525" cap="flat" cmpd="sng" algn="ctr">
                      <a:noFill/>
                    </a:lnR>
                    <a:lnT w="9525" cap="flat" cmpd="sng" algn="ctr">
                      <a:noFill/>
                    </a:lnT>
                    <a:lnB w="9525" cap="flat" cmpd="sng" algn="ctr">
                      <a:noFill/>
                    </a:lnB>
                    <a:noFill/>
                  </a:tcPr>
                </a:tc>
                <a:tc gridSpan="3">
                  <a:txBody>
                    <a:bodyPr wrap="none">
                      <a:noAutofit/>
                    </a:bodyPr>
                    <a:lstStyle/>
                    <a:p>
                      <a:pPr rtl="1" algn="ctr"/>
                      <a:r>
                        <a:rPr sz="850" b="1" lang="fa-IR">
                          <a:solidFill>
                            <a:srgbClr val="4E4D4A"/>
                          </a:solidFill>
                          <a:latin typeface="Tahoma"/>
                          <a:cs typeface="Tahoma"/>
                          <a:ea typeface="Tahoma"/>
                        </a:rPr>
                        <a:t>در هر بار اعطا</a:t>
                      </a:r>
                    </a:p>
                  </a:txBody>
                  <a:tcPr marT="25400" marR="38100" marB="25400" marL="38100" anchor="ctr">
                    <a:lnL w="9525" cap="flat" cmpd="sng" algn="ctr">
                      <a:noFill/>
                    </a:lnL>
                    <a:lnR w="9525" cap="flat" cmpd="sng" algn="ctr">
                      <a:noFill/>
                    </a:lnR>
                    <a:lnT w="9525" cap="flat" cmpd="sng" algn="ctr">
                      <a:noFill/>
                    </a:lnT>
                    <a:lnB w="9525" cap="flat" cmpd="sng" algn="ctr">
                      <a:solidFill>
                        <a:srgbClr val="E2E1DB"/>
                      </a:solidFill>
                    </a:lnB>
                    <a:noFill/>
                  </a:tcPr>
                </a:tc>
                <a:tc hMerge="1">
                  <a:txBody>
                    <a:bodyPr/>
                    <a:lstStyle/>
                    <a:p/>
                  </a:txBody>
                  <a:tcPr>
                    <a:lnL w="9525" cap="flat" cmpd="sng" algn="ctr">
                      <a:noFill/>
                    </a:lnL>
                    <a:lnR w="9525" cap="flat" cmpd="sng" algn="ctr">
                      <a:noFill/>
                    </a:lnR>
                    <a:lnT w="9525" cap="flat" cmpd="sng" algn="ctr">
                      <a:noFill/>
                    </a:lnT>
                    <a:lnB w="9525" cap="flat" cmpd="sng" algn="ctr">
                      <a:noFill/>
                    </a:lnB>
                    <a:noFill/>
                  </a:tcPr>
                </a:tc>
                <a:tc hMerge="1">
                  <a:txBody>
                    <a:bodyPr/>
                    <a:lstStyle/>
                    <a:p/>
                  </a:txBody>
                  <a:tcPr>
                    <a:lnL w="9525" cap="flat" cmpd="sng" algn="ctr">
                      <a:noFill/>
                    </a:lnL>
                    <a:lnR w="9525" cap="flat" cmpd="sng" algn="ctr">
                      <a:noFill/>
                    </a:lnR>
                    <a:lnT w="9525" cap="flat" cmpd="sng" algn="ctr">
                      <a:noFill/>
                    </a:lnT>
                    <a:lnB w="9525" cap="flat" cmpd="sng" algn="ctr">
                      <a:noFill/>
                    </a:lnB>
                    <a:noFill/>
                  </a:tcPr>
                </a:tc>
                <a:tc gridSpan="3">
                  <a:txBody>
                    <a:bodyPr wrap="none">
                      <a:noAutofit/>
                    </a:bodyPr>
                    <a:lstStyle/>
                    <a:p>
                      <a:pPr rtl="1" algn="ctr"/>
                      <a:r>
                        <a:rPr sz="850" b="1" lang="fa-IR">
                          <a:solidFill>
                            <a:srgbClr val="4E4D4A"/>
                          </a:solidFill>
                          <a:latin typeface="Tahoma"/>
                          <a:cs typeface="Tahoma"/>
                          <a:ea typeface="Tahoma"/>
                        </a:rPr>
                        <a:t>مشترکین تأییدشده و ضریب نفوذ هر باند</a:t>
                      </a:r>
                    </a:p>
                  </a:txBody>
                  <a:tcPr marT="25400" marR="38100" marB="25400" marL="38100" anchor="ctr">
                    <a:lnL w="9525" cap="flat" cmpd="sng" algn="ctr">
                      <a:noFill/>
                    </a:lnL>
                    <a:lnR w="9525" cap="flat" cmpd="sng" algn="ctr">
                      <a:noFill/>
                    </a:lnR>
                    <a:lnT w="9525" cap="flat" cmpd="sng" algn="ctr">
                      <a:noFill/>
                    </a:lnT>
                    <a:lnB w="9525" cap="flat" cmpd="sng" algn="ctr">
                      <a:solidFill>
                        <a:srgbClr val="E2E1DB"/>
                      </a:solidFill>
                    </a:lnB>
                    <a:noFill/>
                  </a:tcPr>
                </a:tc>
                <a:tc hMerge="1">
                  <a:txBody>
                    <a:bodyPr/>
                    <a:lstStyle/>
                    <a:p/>
                  </a:txBody>
                  <a:tcPr>
                    <a:lnL w="9525" cap="flat" cmpd="sng" algn="ctr">
                      <a:noFill/>
                    </a:lnL>
                    <a:lnR w="9525" cap="flat" cmpd="sng" algn="ctr">
                      <a:noFill/>
                    </a:lnR>
                    <a:lnT w="9525" cap="flat" cmpd="sng" algn="ctr">
                      <a:noFill/>
                    </a:lnT>
                    <a:lnB w="9525" cap="flat" cmpd="sng" algn="ctr">
                      <a:noFill/>
                    </a:lnB>
                    <a:noFill/>
                  </a:tcPr>
                </a:tc>
                <a:tc hMerge="1">
                  <a:txBody>
                    <a:bodyPr/>
                    <a:lstStyle/>
                    <a:p/>
                  </a:txBody>
                  <a:tcPr>
                    <a:lnL w="9525" cap="flat" cmpd="sng" algn="ctr">
                      <a:noFill/>
                    </a:lnL>
                    <a:lnR w="9525" cap="flat" cmpd="sng" algn="ctr">
                      <a:noFill/>
                    </a:lnR>
                    <a:lnT w="9525" cap="flat" cmpd="sng" algn="ctr">
                      <a:noFill/>
                    </a:lnT>
                    <a:lnB w="9525" cap="flat" cmpd="sng" algn="ctr">
                      <a:noFill/>
                    </a:lnB>
                    <a:noFill/>
                  </a:tcPr>
                </a:tc>
                <a:tc rowSpan="2">
                  <a:txBody>
                    <a:bodyPr wrap="none">
                      <a:noAutofit/>
                    </a:bodyPr>
                    <a:lstStyle/>
                    <a:p>
                      <a:pPr rtl="1" algn="r"/>
                      <a:r>
                        <a:rPr sz="900" b="1" lang="fa-IR">
                          <a:solidFill>
                            <a:srgbClr val="86857F"/>
                          </a:solidFill>
                          <a:latin typeface="Tahoma"/>
                          <a:cs typeface="Tahoma"/>
                          <a:ea typeface="Tahoma"/>
                        </a:rPr>
                        <a:t>گزینه</a:t>
                      </a:r>
                    </a:p>
                  </a:txBody>
                  <a:tcPr marT="25400" marR="0" marB="25400" marL="76200" anchor="ctr">
                    <a:lnL w="9525" cap="flat" cmpd="sng" algn="ctr">
                      <a:noFill/>
                    </a:lnL>
                    <a:lnR w="9525" cap="flat" cmpd="sng" algn="ctr">
                      <a:noFill/>
                    </a:lnR>
                    <a:lnT w="9525" cap="flat" cmpd="sng" algn="ctr">
                      <a:noFill/>
                    </a:lnT>
                    <a:lnB w="9525" cap="flat" cmpd="sng" algn="ctr">
                      <a:solidFill>
                        <a:srgbClr val="86857F"/>
                      </a:solidFill>
                    </a:lnB>
                    <a:noFill/>
                  </a:tcPr>
                </a:tc>
              </a:tr>
              <a:tr h="482600">
                <a:tc>
                  <a:txBody>
                    <a:bodyPr wrap="none">
                      <a:noAutofit/>
                    </a:bodyPr>
                    <a:lstStyle/>
                    <a:p>
                      <a:pPr rtl="1" algn="ctr"/>
                      <a:r>
                        <a:rPr sz="800" b="0" lang="fa-IR">
                          <a:solidFill>
                            <a:srgbClr val="86857F"/>
                          </a:solidFill>
                          <a:latin typeface="Tahoma"/>
                          <a:cs typeface="Tahoma"/>
                          <a:ea typeface="Tahoma"/>
                        </a:rPr>
                        <a:t>زیان</a:t>
                      </a:r>
                    </a:p>
                    <a:p>
                      <a:pPr rtl="1" algn="ctr"/>
                      <a:r>
                        <a:rPr sz="700" b="0" lang="fa-IR">
                          <a:solidFill>
                            <a:srgbClr val="86857F"/>
                          </a:solidFill>
                          <a:latin typeface="Tahoma"/>
                          <a:cs typeface="Tahoma"/>
                          <a:ea typeface="Tahoma"/>
                        </a:rPr>
                        <a:t>میلیارد</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نرخ نکول</a:t>
                      </a:r>
                    </a:p>
                    <a:p>
                      <a:pPr rtl="1" algn="ctr"/>
                      <a:r>
                        <a:rPr sz="700" b="0" lang="fa-IR">
                          <a:solidFill>
                            <a:srgbClr val="86857F"/>
                          </a:solidFill>
                          <a:latin typeface="Tahoma"/>
                          <a:cs typeface="Tahoma"/>
                          <a:ea typeface="Tahoma"/>
                        </a:rPr>
                        <a:t>وزن‌دار بر مبلغ</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اعطایی</a:t>
                      </a:r>
                    </a:p>
                    <a:p>
                      <a:pPr rtl="1" algn="ctr"/>
                      <a:r>
                        <a:rPr sz="700" b="0" lang="fa-IR">
                          <a:solidFill>
                            <a:srgbClr val="86857F"/>
                          </a:solidFill>
                          <a:latin typeface="Tahoma"/>
                          <a:cs typeface="Tahoma"/>
                          <a:ea typeface="Tahoma"/>
                        </a:rPr>
                        <a:t>میلیارد</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مبلغ کل</a:t>
                      </a:r>
                    </a:p>
                    <a:p>
                      <a:pPr rtl="1" algn="ctr"/>
                      <a:r>
                        <a:rPr sz="700" b="0" lang="fa-IR">
                          <a:solidFill>
                            <a:srgbClr val="86857F"/>
                          </a:solidFill>
                          <a:latin typeface="Tahoma"/>
                          <a:cs typeface="Tahoma"/>
                          <a:ea typeface="Tahoma"/>
                        </a:rPr>
                        <a:t>میلیارد</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میانگین وام</a:t>
                      </a:r>
                    </a:p>
                    <a:p>
                      <a:pPr rtl="1" algn="ctr"/>
                      <a:r>
                        <a:rPr sz="700" b="0" lang="fa-IR">
                          <a:solidFill>
                            <a:srgbClr val="86857F"/>
                          </a:solidFill>
                          <a:latin typeface="Tahoma"/>
                          <a:cs typeface="Tahoma"/>
                          <a:ea typeface="Tahoma"/>
                        </a:rPr>
                        <a:t>تومان</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وام‌گیرنده</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۵۰۰ هزار تا ۱ میلیون</a:t>
                      </a:r>
                    </a:p>
                    <a:p>
                      <a:pPr rtl="1" algn="ctr"/>
                      <a:r>
                        <a:rPr sz="700" b="0" lang="fa-IR">
                          <a:solidFill>
                            <a:srgbClr val="86857F"/>
                          </a:solidFill>
                          <a:latin typeface="Tahoma"/>
                          <a:cs typeface="Tahoma"/>
                          <a:ea typeface="Tahoma"/>
                        </a:rPr>
                        <a:t>نفوذ ۱۰ درصد</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۳۰۰ تا ۵۰۰ هزار</a:t>
                      </a:r>
                    </a:p>
                    <a:p>
                      <a:pPr rtl="1" algn="ctr"/>
                      <a:r>
                        <a:rPr sz="700" b="0" lang="fa-IR">
                          <a:solidFill>
                            <a:srgbClr val="86857F"/>
                          </a:solidFill>
                          <a:latin typeface="Tahoma"/>
                          <a:cs typeface="Tahoma"/>
                          <a:ea typeface="Tahoma"/>
                        </a:rPr>
                        <a:t>نفوذ ۱۳ درصد</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a:txBody>
                    <a:bodyPr wrap="none">
                      <a:noAutofit/>
                    </a:bodyPr>
                    <a:lstStyle/>
                    <a:p>
                      <a:pPr rtl="1" algn="ctr"/>
                      <a:r>
                        <a:rPr sz="800" b="0" lang="fa-IR">
                          <a:solidFill>
                            <a:srgbClr val="86857F"/>
                          </a:solidFill>
                          <a:latin typeface="Tahoma"/>
                          <a:cs typeface="Tahoma"/>
                          <a:ea typeface="Tahoma"/>
                        </a:rPr>
                        <a:t>۱۰۰ تا ۳۰۰ هزار</a:t>
                      </a:r>
                    </a:p>
                    <a:p>
                      <a:pPr rtl="1" algn="ctr"/>
                      <a:r>
                        <a:rPr sz="700" b="0" lang="fa-IR">
                          <a:solidFill>
                            <a:srgbClr val="86857F"/>
                          </a:solidFill>
                          <a:latin typeface="Tahoma"/>
                          <a:cs typeface="Tahoma"/>
                          <a:ea typeface="Tahoma"/>
                        </a:rPr>
                        <a:t>نفوذ ۱۵ درصد</a:t>
                      </a:r>
                    </a:p>
                  </a:txBody>
                  <a:tcPr marT="25400" marR="38100" marB="25400" marL="38100" anchor="ctr">
                    <a:lnL w="9525" cap="flat" cmpd="sng" algn="ctr">
                      <a:noFill/>
                    </a:lnL>
                    <a:lnR w="9525" cap="flat" cmpd="sng" algn="ctr">
                      <a:noFill/>
                    </a:lnR>
                    <a:lnT w="9525" cap="flat" cmpd="sng" algn="ctr">
                      <a:noFill/>
                    </a:lnT>
                    <a:lnB w="9525" cap="flat" cmpd="sng" algn="ctr">
                      <a:solidFill>
                        <a:srgbClr val="86857F"/>
                      </a:solidFill>
                    </a:lnB>
                    <a:noFill/>
                  </a:tcPr>
                </a:tc>
                <a:tc vMerge="1">
                  <a:txBody>
                    <a:bodyPr/>
                    <a:lstStyle/>
                    <a:p/>
                  </a:txBody>
                  <a:tcPr>
                    <a:lnL w="9525" cap="flat" cmpd="sng" algn="ctr">
                      <a:noFill/>
                    </a:lnL>
                    <a:lnR w="9525" cap="flat" cmpd="sng" algn="ctr">
                      <a:noFill/>
                    </a:lnR>
                    <a:lnT w="9525" cap="flat" cmpd="sng" algn="ctr">
                      <a:noFill/>
                    </a:lnT>
                    <a:lnB w="9525" cap="flat" cmpd="sng" algn="ctr">
                      <a:noFill/>
                    </a:lnB>
                    <a:noFill/>
                  </a:tcPr>
                </a:tc>
              </a:tr>
              <a:tr h="584200">
                <a:tc>
                  <a:txBody>
                    <a:bodyPr wrap="none">
                      <a:noAutofit/>
                    </a:bodyPr>
                    <a:lstStyle/>
                    <a:p>
                      <a:pPr rtl="1" algn="ctr"/>
                      <a:r>
                        <a:rPr sz="900" b="0" lang="fa-IR">
                          <a:solidFill>
                            <a:srgbClr val="4E4D4A"/>
                          </a:solidFill>
                          <a:latin typeface="Tahoma"/>
                          <a:cs typeface="Tahoma"/>
                          <a:ea typeface="Tahoma"/>
                        </a:rPr>
                        <a:t>۱٫۱</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۰٫۱۱۷ درصد</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1100" b="1" lang="fa-IR">
                          <a:solidFill>
                            <a:srgbClr val="0B0B0B"/>
                          </a:solidFill>
                          <a:latin typeface="Tahoma"/>
                          <a:cs typeface="Tahoma"/>
                          <a:ea typeface="Tahoma"/>
                        </a:rPr>
                        <a:t>۹۱۶</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۳۰۵</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۲۳۷٬۸۷۷</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۱٬۲۸۲٬۸۸۷</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۱٬۸۶۸٬۹۴۴</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۶٬۹۳۲٬۸۲۸</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square">
                      <a:noAutofit/>
                    </a:bodyPr>
                    <a:lstStyle/>
                    <a:p>
                      <a:pPr rtl="1" algn="r"/>
                      <a:r>
                        <a:rPr sz="1100" b="1" lang="fa-IR">
                          <a:solidFill>
                            <a:srgbClr val="0B0B0B"/>
                          </a:solidFill>
                          <a:latin typeface="Tahoma"/>
                          <a:cs typeface="Tahoma"/>
                          <a:ea typeface="Tahoma"/>
                        </a:rPr>
                        <a:t>کم‌ریسک</a:t>
                      </a:r>
                    </a:p>
                    <a:p>
                      <a:pPr rtl="1" algn="r"/>
                      <a:r>
                        <a:rPr sz="800" b="0" lang="fa-IR">
                          <a:solidFill>
                            <a:srgbClr val="86857F"/>
                          </a:solidFill>
                          <a:latin typeface="Tahoma"/>
                          <a:cs typeface="Tahoma"/>
                          <a:ea typeface="Tahoma"/>
                        </a:rPr>
                        <a:t>سقف‌ها پایین، تمرکز روی باند اول</a:t>
                      </a:r>
                    </a:p>
                  </a:txBody>
                  <a:tcPr marT="38100" marR="0" marB="38100" marL="76200" anchor="ctr">
                    <a:lnL w="9525" cap="flat" cmpd="sng" algn="ctr">
                      <a:noFill/>
                    </a:lnL>
                    <a:lnR w="9525" cap="flat" cmpd="sng" algn="ctr">
                      <a:noFill/>
                    </a:lnR>
                    <a:lnT w="9525" cap="flat" cmpd="sng" algn="ctr">
                      <a:noFill/>
                    </a:lnT>
                    <a:lnB w="9525" cap="flat" cmpd="sng" algn="ctr">
                      <a:solidFill>
                        <a:srgbClr val="D4D3CC"/>
                      </a:solidFill>
                    </a:lnB>
                    <a:noFill/>
                  </a:tcPr>
                </a:tc>
              </a:tr>
              <a:tr h="584200">
                <a:tc>
                  <a:txBody>
                    <a:bodyPr wrap="none">
                      <a:noAutofit/>
                    </a:bodyPr>
                    <a:lstStyle/>
                    <a:p>
                      <a:pPr rtl="1" algn="ctr"/>
                      <a:r>
                        <a:rPr sz="900" b="0" lang="fa-IR">
                          <a:solidFill>
                            <a:srgbClr val="4E4D4A"/>
                          </a:solidFill>
                          <a:latin typeface="Tahoma"/>
                          <a:cs typeface="Tahoma"/>
                          <a:ea typeface="Tahoma"/>
                        </a:rPr>
                        <a:t>۱٫۲</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۰٫۱۰۶ درصد</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1100" b="1" lang="fa-IR">
                          <a:solidFill>
                            <a:srgbClr val="0B0B0B"/>
                          </a:solidFill>
                          <a:latin typeface="Tahoma"/>
                          <a:cs typeface="Tahoma"/>
                          <a:ea typeface="Tahoma"/>
                        </a:rPr>
                        <a:t>۱٬۱۰۳</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۳۶۸</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۳۰۲٬۰۸۴</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۱٬۲۱۷٬۴۷۴</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۹۳۴٬۴۷۲</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solidFill>
                      <a:srgbClr val="FBEDED"/>
                    </a:solidFill>
                  </a:tcPr>
                </a:tc>
                <a:tc>
                  <a:txBody>
                    <a:bodyPr wrap="none">
                      <a:noAutofit/>
                    </a:bodyPr>
                    <a:lstStyle/>
                    <a:p>
                      <a:pPr rtl="1" algn="ctr"/>
                      <a:r>
                        <a:rPr sz="900" b="0" lang="fa-IR">
                          <a:solidFill>
                            <a:srgbClr val="4E4D4A"/>
                          </a:solidFill>
                          <a:latin typeface="Tahoma"/>
                          <a:cs typeface="Tahoma"/>
                          <a:ea typeface="Tahoma"/>
                        </a:rPr>
                        <a:t>۲٬۸۰۳٬۴۱۷</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none">
                      <a:noAutofit/>
                    </a:bodyPr>
                    <a:lstStyle/>
                    <a:p>
                      <a:pPr rtl="1" algn="ctr"/>
                      <a:r>
                        <a:rPr sz="900" b="0" lang="fa-IR">
                          <a:solidFill>
                            <a:srgbClr val="4E4D4A"/>
                          </a:solidFill>
                          <a:latin typeface="Tahoma"/>
                          <a:cs typeface="Tahoma"/>
                          <a:ea typeface="Tahoma"/>
                        </a:rPr>
                        <a:t>۵٬۰۶۳٬۸۸۳</a:t>
                      </a:r>
                    </a:p>
                  </a:txBody>
                  <a:tcPr marT="25400" marR="38100" marB="25400" marL="38100" anchor="ctr">
                    <a:lnL w="9525" cap="flat" cmpd="sng" algn="ctr">
                      <a:noFill/>
                    </a:lnL>
                    <a:lnR w="9525" cap="flat" cmpd="sng" algn="ctr">
                      <a:noFill/>
                    </a:lnR>
                    <a:lnT w="9525" cap="flat" cmpd="sng" algn="ctr">
                      <a:noFill/>
                    </a:lnT>
                    <a:lnB w="9525" cap="flat" cmpd="sng" algn="ctr">
                      <a:solidFill>
                        <a:srgbClr val="D4D3CC"/>
                      </a:solidFill>
                    </a:lnB>
                    <a:noFill/>
                  </a:tcPr>
                </a:tc>
                <a:tc>
                  <a:txBody>
                    <a:bodyPr wrap="square">
                      <a:noAutofit/>
                    </a:bodyPr>
                    <a:lstStyle/>
                    <a:p>
                      <a:pPr rtl="1" algn="r"/>
                      <a:r>
                        <a:rPr sz="1100" b="1" lang="fa-IR">
                          <a:solidFill>
                            <a:srgbClr val="0B0B0B"/>
                          </a:solidFill>
                          <a:latin typeface="Tahoma"/>
                          <a:cs typeface="Tahoma"/>
                          <a:ea typeface="Tahoma"/>
                        </a:rPr>
                        <a:t>محتاطانه</a:t>
                      </a:r>
                    </a:p>
                    <a:p>
                      <a:pPr rtl="1" algn="r"/>
                      <a:r>
                        <a:rPr sz="800" b="0" lang="fa-IR">
                          <a:solidFill>
                            <a:srgbClr val="86857F"/>
                          </a:solidFill>
                          <a:latin typeface="Tahoma"/>
                          <a:cs typeface="Tahoma"/>
                          <a:ea typeface="Tahoma"/>
                        </a:rPr>
                        <a:t>یک دهک در باند بالا</a:t>
                      </a:r>
                    </a:p>
                  </a:txBody>
                  <a:tcPr marT="38100" marR="0" marB="38100" marL="76200" anchor="ctr">
                    <a:lnL w="9525" cap="flat" cmpd="sng" algn="ctr">
                      <a:noFill/>
                    </a:lnL>
                    <a:lnR w="9525" cap="flat" cmpd="sng" algn="ctr">
                      <a:noFill/>
                    </a:lnR>
                    <a:lnT w="9525" cap="flat" cmpd="sng" algn="ctr">
                      <a:noFill/>
                    </a:lnT>
                    <a:lnB w="9525" cap="flat" cmpd="sng" algn="ctr">
                      <a:solidFill>
                        <a:srgbClr val="D4D3CC"/>
                      </a:solidFill>
                    </a:lnB>
                    <a:noFill/>
                  </a:tcPr>
                </a:tc>
              </a:tr>
              <a:tr h="584200">
                <a:tc>
                  <a:txBody>
                    <a:bodyPr wrap="none">
                      <a:noAutofit/>
                    </a:bodyPr>
                    <a:lstStyle/>
                    <a:p>
                      <a:pPr rtl="1" algn="ctr"/>
                      <a:r>
                        <a:rPr sz="900" b="0" lang="fa-IR">
                          <a:solidFill>
                            <a:srgbClr val="4E4D4A"/>
                          </a:solidFill>
                          <a:latin typeface="Tahoma"/>
                          <a:cs typeface="Tahoma"/>
                          <a:ea typeface="Tahoma"/>
                        </a:rPr>
                        <a:t>۱٫۴</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none">
                      <a:noAutofit/>
                    </a:bodyPr>
                    <a:lstStyle/>
                    <a:p>
                      <a:pPr rtl="1" algn="ctr"/>
                      <a:r>
                        <a:rPr sz="900" b="0" lang="fa-IR">
                          <a:solidFill>
                            <a:srgbClr val="4E4D4A"/>
                          </a:solidFill>
                          <a:latin typeface="Tahoma"/>
                          <a:cs typeface="Tahoma"/>
                          <a:ea typeface="Tahoma"/>
                        </a:rPr>
                        <a:t>۰٫۱۰۱ درصد</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none">
                      <a:noAutofit/>
                    </a:bodyPr>
                    <a:lstStyle/>
                    <a:p>
                      <a:pPr rtl="1" algn="ctr"/>
                      <a:r>
                        <a:rPr sz="1100" b="1" lang="fa-IR">
                          <a:solidFill>
                            <a:srgbClr val="0B0B0B"/>
                          </a:solidFill>
                          <a:latin typeface="Tahoma"/>
                          <a:cs typeface="Tahoma"/>
                          <a:ea typeface="Tahoma"/>
                        </a:rPr>
                        <a:t>۱٬۴۱۷</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none">
                      <a:noAutofit/>
                    </a:bodyPr>
                    <a:lstStyle/>
                    <a:p>
                      <a:pPr rtl="1" algn="ctr"/>
                      <a:r>
                        <a:rPr sz="900" b="0" lang="fa-IR">
                          <a:solidFill>
                            <a:srgbClr val="4E4D4A"/>
                          </a:solidFill>
                          <a:latin typeface="Tahoma"/>
                          <a:cs typeface="Tahoma"/>
                          <a:ea typeface="Tahoma"/>
                        </a:rPr>
                        <a:t>۴۷۲</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none">
                      <a:noAutofit/>
                    </a:bodyPr>
                    <a:lstStyle/>
                    <a:p>
                      <a:pPr rtl="1" algn="ctr"/>
                      <a:r>
                        <a:rPr sz="900" b="0" lang="fa-IR">
                          <a:solidFill>
                            <a:srgbClr val="4E4D4A"/>
                          </a:solidFill>
                          <a:latin typeface="Tahoma"/>
                          <a:cs typeface="Tahoma"/>
                          <a:ea typeface="Tahoma"/>
                        </a:rPr>
                        <a:t>۴۲۷٬۴۱۷</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none">
                      <a:noAutofit/>
                    </a:bodyPr>
                    <a:lstStyle/>
                    <a:p>
                      <a:pPr rtl="1" algn="ctr"/>
                      <a:r>
                        <a:rPr sz="900" b="0" lang="fa-IR">
                          <a:solidFill>
                            <a:srgbClr val="4E4D4A"/>
                          </a:solidFill>
                          <a:latin typeface="Tahoma"/>
                          <a:cs typeface="Tahoma"/>
                          <a:ea typeface="Tahoma"/>
                        </a:rPr>
                        <a:t>۱٬۱۰۵٬۳۳۷</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none">
                      <a:noAutofit/>
                    </a:bodyPr>
                    <a:lstStyle/>
                    <a:p>
                      <a:pPr rtl="1" algn="ctr"/>
                      <a:r>
                        <a:rPr sz="900" b="0" lang="fa-IR">
                          <a:solidFill>
                            <a:srgbClr val="4E4D4A"/>
                          </a:solidFill>
                          <a:latin typeface="Tahoma"/>
                          <a:cs typeface="Tahoma"/>
                          <a:ea typeface="Tahoma"/>
                        </a:rPr>
                        <a:t>۲٬۸۰۳٬۴۱۶</a:t>
                      </a:r>
                    </a:p>
                  </a:txBody>
                  <a:tcPr marT="25400" marR="38100" marB="25400" marL="38100" anchor="ctr">
                    <a:lnL w="9525" cap="flat" cmpd="sng" algn="ctr">
                      <a:noFill/>
                    </a:lnL>
                    <a:lnR w="9525" cap="flat" cmpd="sng" algn="ctr">
                      <a:noFill/>
                    </a:lnR>
                    <a:lnT w="9525" cap="flat" cmpd="sng" algn="ctr">
                      <a:noFill/>
                    </a:lnT>
                    <a:lnB w="9525" cap="flat" cmpd="sng" algn="ctr">
                      <a:noFill/>
                    </a:lnB>
                    <a:solidFill>
                      <a:srgbClr val="FBEDED"/>
                    </a:solidFill>
                  </a:tcPr>
                </a:tc>
                <a:tc>
                  <a:txBody>
                    <a:bodyPr wrap="none">
                      <a:noAutofit/>
                    </a:bodyPr>
                    <a:lstStyle/>
                    <a:p>
                      <a:pPr rtl="1" algn="ctr"/>
                      <a:r>
                        <a:rPr sz="900" b="0" lang="fa-IR">
                          <a:solidFill>
                            <a:srgbClr val="4E4D4A"/>
                          </a:solidFill>
                          <a:latin typeface="Tahoma"/>
                          <a:cs typeface="Tahoma"/>
                          <a:ea typeface="Tahoma"/>
                        </a:rPr>
                        <a:t>۳٬۷۳۷٬۸۹۰</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none">
                      <a:noAutofit/>
                    </a:bodyPr>
                    <a:lstStyle/>
                    <a:p>
                      <a:pPr rtl="1" algn="ctr"/>
                      <a:r>
                        <a:rPr sz="900" b="0" lang="fa-IR">
                          <a:solidFill>
                            <a:srgbClr val="4E4D4A"/>
                          </a:solidFill>
                          <a:latin typeface="Tahoma"/>
                          <a:cs typeface="Tahoma"/>
                          <a:ea typeface="Tahoma"/>
                        </a:rPr>
                        <a:t>۲٬۲۶۰٬۴۶۶</a:t>
                      </a:r>
                    </a:p>
                  </a:txBody>
                  <a:tcPr marT="25400" marR="38100" marB="25400" marL="38100" anchor="ctr">
                    <a:lnL w="9525" cap="flat" cmpd="sng" algn="ctr">
                      <a:noFill/>
                    </a:lnL>
                    <a:lnR w="9525" cap="flat" cmpd="sng" algn="ctr">
                      <a:noFill/>
                    </a:lnR>
                    <a:lnT w="9525" cap="flat" cmpd="sng" algn="ctr">
                      <a:noFill/>
                    </a:lnT>
                    <a:lnB w="9525" cap="flat" cmpd="sng" algn="ctr">
                      <a:noFill/>
                    </a:lnB>
                    <a:noFill/>
                  </a:tcPr>
                </a:tc>
                <a:tc>
                  <a:txBody>
                    <a:bodyPr wrap="square">
                      <a:noAutofit/>
                    </a:bodyPr>
                    <a:lstStyle/>
                    <a:p>
                      <a:pPr rtl="1" algn="r"/>
                      <a:r>
                        <a:rPr sz="1100" b="1" lang="fa-IR">
                          <a:solidFill>
                            <a:srgbClr val="0B0B0B"/>
                          </a:solidFill>
                          <a:latin typeface="Tahoma"/>
                          <a:cs typeface="Tahoma"/>
                          <a:ea typeface="Tahoma"/>
                        </a:rPr>
                        <a:t>گسترده</a:t>
                      </a:r>
                    </a:p>
                    <a:p>
                      <a:pPr rtl="1" algn="r"/>
                      <a:r>
                        <a:rPr sz="800" b="0" lang="fa-IR">
                          <a:solidFill>
                            <a:srgbClr val="86857F"/>
                          </a:solidFill>
                          <a:latin typeface="Tahoma"/>
                          <a:cs typeface="Tahoma"/>
                          <a:ea typeface="Tahoma"/>
                        </a:rPr>
                        <a:t>سه دهک در باند بالا</a:t>
                      </a:r>
                    </a:p>
                  </a:txBody>
                  <a:tcPr marT="38100" marR="0" marB="38100" marL="76200" anchor="ctr">
                    <a:lnL w="9525" cap="flat" cmpd="sng" algn="ctr">
                      <a:noFill/>
                    </a:lnL>
                    <a:lnR w="9525" cap="flat" cmpd="sng" algn="ctr">
                      <a:noFill/>
                    </a:lnR>
                    <a:lnT w="9525" cap="flat" cmpd="sng" algn="ctr">
                      <a:noFill/>
                    </a:lnT>
                    <a:lnB w="9525" cap="flat" cmpd="sng" algn="ctr">
                      <a:noFill/>
                    </a:lnB>
                    <a:noFill/>
                  </a:tcPr>
                </a:tc>
              </a:tr>
            </a:tbl>
          </a:graphicData>
        </a:graphic>
      </p:graphicFrame>
      <p:sp>
        <p:nvSpPr>
          <p:cNvPr id="34" name="TextBox 33"/>
          <p:cNvSpPr txBox="1"/>
          <p:nvPr/>
        </p:nvSpPr>
        <p:spPr>
          <a:xfrm>
            <a:off x="457200" y="4597400"/>
            <a:ext cx="11277600" cy="482600"/>
          </a:xfrm>
          <a:prstGeom prst="rect">
            <a:avLst/>
          </a:prstGeom>
          <a:noFill/>
        </p:spPr>
        <p:txBody>
          <a:bodyPr wrap="square" lIns="0" rIns="0" tIns="0" bIns="0" anchor="t">
            <a:noAutofit/>
          </a:bodyPr>
          <a:lstStyle/>
          <a:p>
            <a:pPr rtl="1" algn="r">
              <a:lnSpc>
                <a:spcPct val="140000"/>
              </a:lnSpc>
            </a:pPr>
            <a:r>
              <a:rPr sz="850" b="0" lang="fa-IR">
                <a:solidFill>
                  <a:srgbClr val="4E4D4A"/>
                </a:solidFill>
                <a:latin typeface="Tahoma"/>
                <a:cs typeface="Tahoma"/>
                <a:ea typeface="Tahoma"/>
              </a:rPr>
              <a:t>وام بزرگ‌تر، نفوذ کمتر. برای همین گزینه گسترده کمترین وام‌گیرنده را دارد (۱٬۱۰۵٬۳۳۷ در برابر ۱٬۲۸۲٬۸۸۷ در کم‌ریسک) و با این حال بیشترین مبلغ را می‌دهد. نرخ نکول وزن‌دار بر حسب مبلغ است، نه تعداد نفرات، پس در گسترده پایین‌تر می‌آید چون پول بیشتری به دست کم‌ریسک‌ترین دهک‌ها می‌رسد؛ زیان مطلق با این حال بالاتر می‌رود.</a:t>
            </a:r>
          </a:p>
        </p:txBody>
      </p:sp>
      <p:sp>
        <p:nvSpPr>
          <p:cNvPr id="35" name="TextBox 34"/>
          <p:cNvSpPr txBox="1"/>
          <p:nvPr/>
        </p:nvSpPr>
        <p:spPr>
          <a:xfrm>
            <a:off x="457200" y="5130800"/>
            <a:ext cx="11277600" cy="203200"/>
          </a:xfrm>
          <a:prstGeom prst="rect">
            <a:avLst/>
          </a:prstGeom>
          <a:noFill/>
        </p:spPr>
        <p:txBody>
          <a:bodyPr wrap="none" lIns="0" rIns="0" tIns="0" bIns="0" anchor="ctr">
            <a:noAutofit/>
          </a:bodyPr>
          <a:lstStyle/>
          <a:p>
            <a:pPr rtl="1" algn="r"/>
            <a:r>
              <a:rPr sz="850" b="1" lang="fa-IR">
                <a:solidFill>
                  <a:srgbClr val="0B0B0B"/>
                </a:solidFill>
                <a:latin typeface="Tahoma"/>
                <a:cs typeface="Tahoma"/>
                <a:ea typeface="Tahoma"/>
              </a:rPr>
              <a:t>با این ضرایب، حتی گزینه گسترده فقط ۹ درصد هدف ۱۵٬۰۰۰ میلیاردی را پوشش می‌دهد — این فاصله با سقف اعتبار پر نمی‌شود، با نفوذ و دفعات وام پر می‌شود.</a:t>
            </a:r>
          </a:p>
        </p:txBody>
      </p:sp>
      <p:sp>
        <p:nvSpPr>
          <p:cNvPr id="36" name="Rounded Rectangle 35"/>
          <p:cNvSpPr/>
          <p:nvPr/>
        </p:nvSpPr>
        <p:spPr>
          <a:xfrm>
            <a:off x="7416800" y="5410200"/>
            <a:ext cx="4318000" cy="1016000"/>
          </a:xfrm>
          <a:prstGeom prst="roundRect">
            <a:avLst>
              <a:gd name="adj" fmla="val 7000"/>
            </a:avLst>
          </a:prstGeom>
          <a:solidFill>
            <a:srgbClr val="F6F6F3"/>
          </a:solidFill>
          <a:ln w="9525">
            <a:solidFill>
              <a:srgbClr val="E8E8E4"/>
            </a:solidFill>
          </a:ln>
          <a:effectLst/>
        </p:spPr>
        <p:txBody>
          <a:bodyPr rtlCol="0" anchor="ctr" wrap="none"/>
          <a:lstStyle/>
          <a:p>
            <a:pPr algn="ctr"/>
          </a:p>
        </p:txBody>
      </p:sp>
      <p:sp>
        <p:nvSpPr>
          <p:cNvPr id="37" name="TextBox 36"/>
          <p:cNvSpPr txBox="1"/>
          <p:nvPr/>
        </p:nvSpPr>
        <p:spPr>
          <a:xfrm>
            <a:off x="7569200" y="5511800"/>
            <a:ext cx="4013200" cy="152400"/>
          </a:xfrm>
          <a:prstGeom prst="rect">
            <a:avLst/>
          </a:prstGeom>
          <a:noFill/>
        </p:spPr>
        <p:txBody>
          <a:bodyPr wrap="none" lIns="0" rIns="0" tIns="0" bIns="0" anchor="ctr">
            <a:noAutofit/>
          </a:bodyPr>
          <a:lstStyle/>
          <a:p>
            <a:pPr rtl="1" algn="r"/>
            <a:r>
              <a:rPr sz="950" b="1" lang="fa-IR">
                <a:solidFill>
                  <a:srgbClr val="4E4D4A"/>
                </a:solidFill>
                <a:latin typeface="Tahoma"/>
                <a:cs typeface="Tahoma"/>
                <a:ea typeface="Tahoma"/>
              </a:rPr>
              <a:t>چطور حساب شده</a:t>
            </a:r>
          </a:p>
        </p:txBody>
      </p:sp>
      <p:sp>
        <p:nvSpPr>
          <p:cNvPr id="38" name="TextBox 37"/>
          <p:cNvSpPr txBox="1"/>
          <p:nvPr/>
        </p:nvSpPr>
        <p:spPr>
          <a:xfrm>
            <a:off x="9347200" y="5740400"/>
            <a:ext cx="2235200" cy="1524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ضریب نفوذ، از باند پایین به بالا</a:t>
            </a:r>
          </a:p>
        </p:txBody>
      </p:sp>
      <p:sp>
        <p:nvSpPr>
          <p:cNvPr id="39" name="TextBox 38"/>
          <p:cNvSpPr txBox="1"/>
          <p:nvPr/>
        </p:nvSpPr>
        <p:spPr>
          <a:xfrm>
            <a:off x="7569200" y="5740400"/>
            <a:ext cx="1651000" cy="152400"/>
          </a:xfrm>
          <a:prstGeom prst="rect">
            <a:avLst/>
          </a:prstGeom>
          <a:noFill/>
        </p:spPr>
        <p:txBody>
          <a:bodyPr wrap="none" lIns="0" rIns="0" tIns="0" bIns="0" anchor="ctr">
            <a:noAutofit/>
          </a:bodyPr>
          <a:lstStyle/>
          <a:p>
            <a:pPr rtl="1" algn="l"/>
            <a:r>
              <a:rPr sz="850" b="1" lang="fa-IR">
                <a:solidFill>
                  <a:srgbClr val="0B0B0B"/>
                </a:solidFill>
                <a:latin typeface="Tahoma"/>
                <a:cs typeface="Tahoma"/>
                <a:ea typeface="Tahoma"/>
              </a:rPr>
              <a:t>۱۵، ۱۳ و ۱۰ درصد</a:t>
            </a:r>
          </a:p>
        </p:txBody>
      </p:sp>
      <p:cxnSp>
        <p:nvCxnSpPr>
          <p:cNvPr id="40" name="Connector 39"/>
          <p:cNvCxnSpPr/>
          <p:nvPr/>
        </p:nvCxnSpPr>
        <p:spPr>
          <a:xfrm>
            <a:off x="7569200" y="5918200"/>
            <a:ext cx="4013200" cy="0"/>
          </a:xfrm>
          <a:prstGeom prst="line">
            <a:avLst/>
          </a:prstGeom>
          <a:ln w="6350">
            <a:solidFill>
              <a:srgbClr val="E2E1DB"/>
            </a:solidFill>
          </a:ln>
          <a:effectLst/>
        </p:spPr>
      </p:cxnSp>
      <p:sp>
        <p:nvSpPr>
          <p:cNvPr id="41" name="TextBox 40"/>
          <p:cNvSpPr txBox="1"/>
          <p:nvPr/>
        </p:nvSpPr>
        <p:spPr>
          <a:xfrm>
            <a:off x="9347200" y="5956300"/>
            <a:ext cx="2235200" cy="1524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دفعات وام در سال</a:t>
            </a:r>
          </a:p>
        </p:txBody>
      </p:sp>
      <p:sp>
        <p:nvSpPr>
          <p:cNvPr id="42" name="TextBox 41"/>
          <p:cNvSpPr txBox="1"/>
          <p:nvPr/>
        </p:nvSpPr>
        <p:spPr>
          <a:xfrm>
            <a:off x="7569200" y="5956300"/>
            <a:ext cx="1651000" cy="152400"/>
          </a:xfrm>
          <a:prstGeom prst="rect">
            <a:avLst/>
          </a:prstGeom>
          <a:noFill/>
        </p:spPr>
        <p:txBody>
          <a:bodyPr wrap="none" lIns="0" rIns="0" tIns="0" bIns="0" anchor="ctr">
            <a:noAutofit/>
          </a:bodyPr>
          <a:lstStyle/>
          <a:p>
            <a:pPr rtl="1" algn="l"/>
            <a:r>
              <a:rPr sz="850" b="1" lang="fa-IR">
                <a:solidFill>
                  <a:srgbClr val="0B0B0B"/>
                </a:solidFill>
                <a:latin typeface="Tahoma"/>
                <a:cs typeface="Tahoma"/>
                <a:ea typeface="Tahoma"/>
              </a:rPr>
              <a:t>۳ بار</a:t>
            </a:r>
          </a:p>
        </p:txBody>
      </p:sp>
      <p:cxnSp>
        <p:nvCxnSpPr>
          <p:cNvPr id="43" name="Connector 42"/>
          <p:cNvCxnSpPr/>
          <p:nvPr/>
        </p:nvCxnSpPr>
        <p:spPr>
          <a:xfrm>
            <a:off x="7569200" y="6134100"/>
            <a:ext cx="4013200" cy="0"/>
          </a:xfrm>
          <a:prstGeom prst="line">
            <a:avLst/>
          </a:prstGeom>
          <a:ln w="6350">
            <a:solidFill>
              <a:srgbClr val="E2E1DB"/>
            </a:solidFill>
          </a:ln>
          <a:effectLst/>
        </p:spPr>
      </p:cxnSp>
      <p:sp>
        <p:nvSpPr>
          <p:cNvPr id="44" name="TextBox 43"/>
          <p:cNvSpPr txBox="1"/>
          <p:nvPr/>
        </p:nvSpPr>
        <p:spPr>
          <a:xfrm>
            <a:off x="9347200" y="6172200"/>
            <a:ext cx="2235200" cy="152400"/>
          </a:xfrm>
          <a:prstGeom prst="rect">
            <a:avLst/>
          </a:prstGeom>
          <a:noFill/>
        </p:spPr>
        <p:txBody>
          <a:bodyPr wrap="none" lIns="0" rIns="0" tIns="0" bIns="0" anchor="ctr">
            <a:noAutofit/>
          </a:bodyPr>
          <a:lstStyle/>
          <a:p>
            <a:pPr rtl="1" algn="r"/>
            <a:r>
              <a:rPr sz="850" b="0" lang="fa-IR">
                <a:solidFill>
                  <a:srgbClr val="4E4D4A"/>
                </a:solidFill>
                <a:latin typeface="Tahoma"/>
                <a:cs typeface="Tahoma"/>
                <a:ea typeface="Tahoma"/>
              </a:rPr>
              <a:t>سقف میانی هر باند</a:t>
            </a:r>
          </a:p>
        </p:txBody>
      </p:sp>
      <p:sp>
        <p:nvSpPr>
          <p:cNvPr id="45" name="TextBox 44"/>
          <p:cNvSpPr txBox="1"/>
          <p:nvPr/>
        </p:nvSpPr>
        <p:spPr>
          <a:xfrm>
            <a:off x="7569200" y="6172200"/>
            <a:ext cx="1651000" cy="152400"/>
          </a:xfrm>
          <a:prstGeom prst="rect">
            <a:avLst/>
          </a:prstGeom>
          <a:noFill/>
        </p:spPr>
        <p:txBody>
          <a:bodyPr wrap="none" lIns="0" rIns="0" tIns="0" bIns="0" anchor="ctr">
            <a:noAutofit/>
          </a:bodyPr>
          <a:lstStyle/>
          <a:p>
            <a:pPr rtl="1" algn="l"/>
            <a:r>
              <a:rPr sz="850" b="1" lang="fa-IR">
                <a:solidFill>
                  <a:srgbClr val="0B0B0B"/>
                </a:solidFill>
                <a:latin typeface="Tahoma"/>
                <a:cs typeface="Tahoma"/>
                <a:ea typeface="Tahoma"/>
              </a:rPr>
              <a:t>۲۰۰، ۴۰۰ و ۷۵۰ هزار</a:t>
            </a:r>
          </a:p>
        </p:txBody>
      </p:sp>
      <p:sp>
        <p:nvSpPr>
          <p:cNvPr id="46" name="Rounded Rectangle 45"/>
          <p:cNvSpPr/>
          <p:nvPr/>
        </p:nvSpPr>
        <p:spPr>
          <a:xfrm>
            <a:off x="457200" y="5410200"/>
            <a:ext cx="6756400" cy="1016000"/>
          </a:xfrm>
          <a:prstGeom prst="roundRect">
            <a:avLst>
              <a:gd name="adj" fmla="val 7000"/>
            </a:avLst>
          </a:prstGeom>
          <a:solidFill>
            <a:srgbClr val="F6F6F3"/>
          </a:solidFill>
          <a:ln w="9525">
            <a:solidFill>
              <a:srgbClr val="E8E8E4"/>
            </a:solidFill>
          </a:ln>
          <a:effectLst/>
        </p:spPr>
        <p:txBody>
          <a:bodyPr rtlCol="0" anchor="ctr" wrap="none"/>
          <a:lstStyle/>
          <a:p>
            <a:pPr algn="ctr"/>
          </a:p>
        </p:txBody>
      </p:sp>
      <p:cxnSp>
        <p:nvCxnSpPr>
          <p:cNvPr id="47" name="Connector 46"/>
          <p:cNvCxnSpPr/>
          <p:nvPr/>
        </p:nvCxnSpPr>
        <p:spPr>
          <a:xfrm>
            <a:off x="7213600" y="5410200"/>
            <a:ext cx="0" cy="1016000"/>
          </a:xfrm>
          <a:prstGeom prst="line">
            <a:avLst/>
          </a:prstGeom>
          <a:ln w="31750">
            <a:solidFill>
              <a:srgbClr val="D03B3B"/>
            </a:solidFill>
          </a:ln>
          <a:effectLst/>
        </p:spPr>
      </p:cxnSp>
      <p:sp>
        <p:nvSpPr>
          <p:cNvPr id="48" name="TextBox 47"/>
          <p:cNvSpPr txBox="1"/>
          <p:nvPr/>
        </p:nvSpPr>
        <p:spPr>
          <a:xfrm>
            <a:off x="609600" y="5511800"/>
            <a:ext cx="6451600" cy="152400"/>
          </a:xfrm>
          <a:prstGeom prst="rect">
            <a:avLst/>
          </a:prstGeom>
          <a:noFill/>
        </p:spPr>
        <p:txBody>
          <a:bodyPr wrap="none" lIns="0" rIns="0" tIns="0" bIns="0" anchor="ctr">
            <a:noAutofit/>
          </a:bodyPr>
          <a:lstStyle/>
          <a:p>
            <a:pPr rtl="1" algn="r"/>
            <a:r>
              <a:rPr sz="950" b="1" lang="fa-IR">
                <a:solidFill>
                  <a:srgbClr val="D03B3B"/>
                </a:solidFill>
                <a:latin typeface="Tahoma"/>
                <a:cs typeface="Tahoma"/>
                <a:ea typeface="Tahoma"/>
              </a:rPr>
              <a:t>یک هشدار پیش از انتخاب</a:t>
            </a:r>
          </a:p>
        </p:txBody>
      </p:sp>
      <p:sp>
        <p:nvSpPr>
          <p:cNvPr id="49" name="TextBox 48"/>
          <p:cNvSpPr txBox="1"/>
          <p:nvPr/>
        </p:nvSpPr>
        <p:spPr>
          <a:xfrm>
            <a:off x="609600" y="5715000"/>
            <a:ext cx="6451600" cy="685800"/>
          </a:xfrm>
          <a:prstGeom prst="rect">
            <a:avLst/>
          </a:prstGeom>
          <a:noFill/>
        </p:spPr>
        <p:txBody>
          <a:bodyPr wrap="square" lIns="0" rIns="0" tIns="0" bIns="0" anchor="t">
            <a:noAutofit/>
          </a:bodyPr>
          <a:lstStyle/>
          <a:p>
            <a:pPr rtl="1" algn="r">
              <a:lnSpc>
                <a:spcPct val="145000"/>
              </a:lnSpc>
            </a:pPr>
            <a:r>
              <a:rPr sz="900" b="0" lang="fa-IR">
                <a:solidFill>
                  <a:srgbClr val="4E4D4A"/>
                </a:solidFill>
                <a:latin typeface="Tahoma"/>
                <a:cs typeface="Tahoma"/>
                <a:ea typeface="Tahoma"/>
              </a:rPr>
              <a:t>قاعده سقف می‌گوید وام باید از قبض یک ماه مشترک کمتر بماند، وگرنه احتمال نکول نزدیک دو برابر می‌شود. ولی فقط ۳۶۹٬۶۷۷ مشترک قبض بالای ۵۰۰ هزار تومان دارند. گزینه محتاطانه ۹۳۴٬۴۷۲ نفر و گزینه گسترده ۲٬۸۰۳٬۴۱۶ نفر را در باند ۵۰۰ هزار تا ۱ میلیون می‌گذارد.</a:t>
            </a:r>
          </a:p>
        </p:txBody>
      </p:sp>
      <p:cxnSp>
        <p:nvCxnSpPr>
          <p:cNvPr id="50" name="Connector 49"/>
          <p:cNvCxnSpPr/>
          <p:nvPr/>
        </p:nvCxnSpPr>
        <p:spPr>
          <a:xfrm>
            <a:off x="457200" y="6426200"/>
            <a:ext cx="11277600" cy="0"/>
          </a:xfrm>
          <a:prstGeom prst="line">
            <a:avLst/>
          </a:prstGeom>
          <a:ln w="9525">
            <a:solidFill>
              <a:srgbClr val="E8E8E4"/>
            </a:solidFill>
          </a:ln>
          <a:effectLst/>
        </p:spPr>
      </p:cxnSp>
      <p:sp>
        <p:nvSpPr>
          <p:cNvPr id="51" name="TextBox 50"/>
          <p:cNvSpPr txBox="1"/>
          <p:nvPr/>
        </p:nvSpPr>
        <p:spPr>
          <a:xfrm>
            <a:off x="457200" y="6502400"/>
            <a:ext cx="11277600" cy="279400"/>
          </a:xfrm>
          <a:prstGeom prst="rect">
            <a:avLst/>
          </a:prstGeom>
          <a:noFill/>
        </p:spPr>
        <p:txBody>
          <a:bodyPr wrap="square" lIns="0" rIns="0" tIns="0" bIns="0" anchor="t">
            <a:noAutofit/>
          </a:bodyPr>
          <a:lstStyle/>
          <a:p>
            <a:pPr rtl="1" algn="r"/>
            <a:r>
              <a:rPr sz="750" b="0" lang="fa-IR">
                <a:solidFill>
                  <a:srgbClr val="86857F"/>
                </a:solidFill>
                <a:latin typeface="Tahoma"/>
                <a:cs typeface="Tahoma"/>
                <a:ea typeface="Tahoma"/>
              </a:rPr>
              <a:t>تعداد مشترکین از صورتحساب ۱۴۰۵۰۱ تا ۱۴۰۵۰۶؛ امتیاز و ترتیب ریسک از مدل بازآموزی‌شده ۱۴۰۵/۰۷/۱۴؛ هر مقدار ریالی به‌صورت نسبت به میانه جمعیت هم وارد مدل می‌شود تا تورم امتیاز را جابه‌جا نکند؛ هر بار وام یک ماهه است؛ ضریب نفوذ و دفعات وام در سال، فرض است و اندازه‌گیری نشده.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